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6" r:id="rId1"/>
  </p:sldMasterIdLst>
  <p:notesMasterIdLst>
    <p:notesMasterId r:id="rId47"/>
  </p:notesMasterIdLst>
  <p:sldIdLst>
    <p:sldId id="538" r:id="rId2"/>
    <p:sldId id="257" r:id="rId3"/>
    <p:sldId id="657" r:id="rId4"/>
    <p:sldId id="658" r:id="rId5"/>
    <p:sldId id="616" r:id="rId6"/>
    <p:sldId id="507" r:id="rId7"/>
    <p:sldId id="598" r:id="rId8"/>
    <p:sldId id="599" r:id="rId9"/>
    <p:sldId id="600" r:id="rId10"/>
    <p:sldId id="601" r:id="rId11"/>
    <p:sldId id="662" r:id="rId12"/>
    <p:sldId id="602" r:id="rId13"/>
    <p:sldId id="582" r:id="rId14"/>
    <p:sldId id="603" r:id="rId15"/>
    <p:sldId id="604" r:id="rId16"/>
    <p:sldId id="605" r:id="rId17"/>
    <p:sldId id="606" r:id="rId18"/>
    <p:sldId id="583" r:id="rId19"/>
    <p:sldId id="607" r:id="rId20"/>
    <p:sldId id="608" r:id="rId21"/>
    <p:sldId id="609" r:id="rId22"/>
    <p:sldId id="664" r:id="rId23"/>
    <p:sldId id="256" r:id="rId24"/>
    <p:sldId id="610" r:id="rId25"/>
    <p:sldId id="611" r:id="rId26"/>
    <p:sldId id="673" r:id="rId27"/>
    <p:sldId id="612" r:id="rId28"/>
    <p:sldId id="663" r:id="rId29"/>
    <p:sldId id="672" r:id="rId30"/>
    <p:sldId id="584" r:id="rId31"/>
    <p:sldId id="613" r:id="rId32"/>
    <p:sldId id="667" r:id="rId33"/>
    <p:sldId id="665" r:id="rId34"/>
    <p:sldId id="666" r:id="rId35"/>
    <p:sldId id="615" r:id="rId36"/>
    <p:sldId id="614" r:id="rId37"/>
    <p:sldId id="522" r:id="rId38"/>
    <p:sldId id="523" r:id="rId39"/>
    <p:sldId id="524" r:id="rId40"/>
    <p:sldId id="525" r:id="rId41"/>
    <p:sldId id="526" r:id="rId42"/>
    <p:sldId id="668" r:id="rId43"/>
    <p:sldId id="669" r:id="rId44"/>
    <p:sldId id="670" r:id="rId45"/>
    <p:sldId id="67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63"/>
    <p:restoredTop sz="94675"/>
  </p:normalViewPr>
  <p:slideViewPr>
    <p:cSldViewPr snapToGrid="0" snapToObjects="1">
      <p:cViewPr varScale="1">
        <p:scale>
          <a:sx n="94" d="100"/>
          <a:sy n="94" d="100"/>
        </p:scale>
        <p:origin x="208" y="728"/>
      </p:cViewPr>
      <p:guideLst/>
    </p:cSldViewPr>
  </p:slideViewPr>
  <p:outlineViewPr>
    <p:cViewPr>
      <p:scale>
        <a:sx n="33" d="100"/>
        <a:sy n="33" d="100"/>
      </p:scale>
      <p:origin x="0" y="-2237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389AFE-C161-B945-8CA2-707B9C142F75}" type="datetimeFigureOut">
              <a:rPr lang="en-US" smtClean="0"/>
              <a:t>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032559-BF91-C949-AEF0-A2D5D4F5F039}" type="slidenum">
              <a:rPr lang="en-US" smtClean="0"/>
              <a:t>‹#›</a:t>
            </a:fld>
            <a:endParaRPr lang="en-US"/>
          </a:p>
        </p:txBody>
      </p:sp>
    </p:spTree>
    <p:extLst>
      <p:ext uri="{BB962C8B-B14F-4D97-AF65-F5344CB8AC3E}">
        <p14:creationId xmlns:p14="http://schemas.microsoft.com/office/powerpoint/2010/main" val="684109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032559-BF91-C949-AEF0-A2D5D4F5F039}" type="slidenum">
              <a:rPr lang="en-US" smtClean="0"/>
              <a:t>5</a:t>
            </a:fld>
            <a:endParaRPr lang="en-US"/>
          </a:p>
        </p:txBody>
      </p:sp>
    </p:spTree>
    <p:extLst>
      <p:ext uri="{BB962C8B-B14F-4D97-AF65-F5344CB8AC3E}">
        <p14:creationId xmlns:p14="http://schemas.microsoft.com/office/powerpoint/2010/main" val="3605724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1505" name="Shape 80">
            <a:extLst>
              <a:ext uri="{FF2B5EF4-FFF2-40B4-BE49-F238E27FC236}">
                <a16:creationId xmlns:a16="http://schemas.microsoft.com/office/drawing/2014/main" id="{0026D77C-A8FA-434D-82F7-6B68363951F0}"/>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 name="T15" fmla="*/ 0 w 120000"/>
              <a:gd name="T16" fmla="*/ 0 h 120000"/>
              <a:gd name="T17" fmla="*/ 120000 w 120000"/>
              <a:gd name="T18" fmla="*/ 120000 h 120000"/>
            </a:gdLst>
            <a:ahLst/>
            <a:cxnLst>
              <a:cxn ang="T10">
                <a:pos x="T0" y="T1"/>
              </a:cxn>
              <a:cxn ang="T11">
                <a:pos x="T2" y="T3"/>
              </a:cxn>
              <a:cxn ang="T12">
                <a:pos x="T4" y="T5"/>
              </a:cxn>
              <a:cxn ang="T13">
                <a:pos x="T6" y="T7"/>
              </a:cxn>
              <a:cxn ang="T14">
                <a:pos x="T8" y="T9"/>
              </a:cxn>
            </a:cxnLst>
            <a:rect l="T15" t="T16" r="T17" b="T18"/>
            <a:pathLst>
              <a:path w="120000" h="120000" extrusionOk="0">
                <a:moveTo>
                  <a:pt x="0" y="0"/>
                </a:moveTo>
                <a:lnTo>
                  <a:pt x="120000" y="0"/>
                </a:lnTo>
                <a:lnTo>
                  <a:pt x="120000" y="120000"/>
                </a:lnTo>
                <a:lnTo>
                  <a:pt x="0" y="120000"/>
                </a:lnTo>
                <a:lnTo>
                  <a:pt x="0" y="0"/>
                </a:lnTo>
                <a:close/>
              </a:path>
            </a:pathLst>
          </a:custGeom>
          <a:noFill/>
          <a:ln cap="flat">
            <a:round/>
            <a:headEnd type="none" w="med" len="med"/>
            <a:tailEnd type="none" w="med" len="med"/>
          </a:ln>
        </p:spPr>
      </p:sp>
      <p:sp>
        <p:nvSpPr>
          <p:cNvPr id="21506" name="Shape 81">
            <a:extLst>
              <a:ext uri="{FF2B5EF4-FFF2-40B4-BE49-F238E27FC236}">
                <a16:creationId xmlns:a16="http://schemas.microsoft.com/office/drawing/2014/main" id="{99F50D12-D37E-394C-9392-8590A768F57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45" tIns="96645" rIns="96645" bIns="96645"/>
          <a:lstStyle/>
          <a:p>
            <a:pPr>
              <a:spcBef>
                <a:spcPct val="0"/>
              </a:spcBef>
            </a:pPr>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340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032559-BF91-C949-AEF0-A2D5D4F5F039}" type="slidenum">
              <a:rPr lang="en-US" smtClean="0"/>
              <a:t>10</a:t>
            </a:fld>
            <a:endParaRPr lang="en-US"/>
          </a:p>
        </p:txBody>
      </p:sp>
    </p:spTree>
    <p:extLst>
      <p:ext uri="{BB962C8B-B14F-4D97-AF65-F5344CB8AC3E}">
        <p14:creationId xmlns:p14="http://schemas.microsoft.com/office/powerpoint/2010/main" val="26925952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745" name="Shape 80">
            <a:extLst>
              <a:ext uri="{FF2B5EF4-FFF2-40B4-BE49-F238E27FC236}">
                <a16:creationId xmlns:a16="http://schemas.microsoft.com/office/drawing/2014/main" id="{70C3D21B-8C66-8342-BF5A-EDB78E29653E}"/>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 name="T15" fmla="*/ 0 w 120000"/>
              <a:gd name="T16" fmla="*/ 0 h 120000"/>
              <a:gd name="T17" fmla="*/ 120000 w 120000"/>
              <a:gd name="T18" fmla="*/ 120000 h 120000"/>
            </a:gdLst>
            <a:ahLst/>
            <a:cxnLst>
              <a:cxn ang="T10">
                <a:pos x="T0" y="T1"/>
              </a:cxn>
              <a:cxn ang="T11">
                <a:pos x="T2" y="T3"/>
              </a:cxn>
              <a:cxn ang="T12">
                <a:pos x="T4" y="T5"/>
              </a:cxn>
              <a:cxn ang="T13">
                <a:pos x="T6" y="T7"/>
              </a:cxn>
              <a:cxn ang="T14">
                <a:pos x="T8" y="T9"/>
              </a:cxn>
            </a:cxnLst>
            <a:rect l="T15" t="T16" r="T17" b="T18"/>
            <a:pathLst>
              <a:path w="120000" h="120000" extrusionOk="0">
                <a:moveTo>
                  <a:pt x="0" y="0"/>
                </a:moveTo>
                <a:lnTo>
                  <a:pt x="120000" y="0"/>
                </a:lnTo>
                <a:lnTo>
                  <a:pt x="120000" y="120000"/>
                </a:lnTo>
                <a:lnTo>
                  <a:pt x="0" y="120000"/>
                </a:lnTo>
                <a:lnTo>
                  <a:pt x="0" y="0"/>
                </a:lnTo>
                <a:close/>
              </a:path>
            </a:pathLst>
          </a:custGeom>
          <a:noFill/>
          <a:ln cap="flat">
            <a:round/>
            <a:headEnd type="none" w="med" len="med"/>
            <a:tailEnd type="none" w="med" len="med"/>
          </a:ln>
        </p:spPr>
      </p:sp>
      <p:sp>
        <p:nvSpPr>
          <p:cNvPr id="31746" name="Shape 81">
            <a:extLst>
              <a:ext uri="{FF2B5EF4-FFF2-40B4-BE49-F238E27FC236}">
                <a16:creationId xmlns:a16="http://schemas.microsoft.com/office/drawing/2014/main" id="{A22E6921-C050-5C46-AE9A-D5F3D6F087B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45" tIns="96645" rIns="96645" bIns="96645"/>
          <a:lstStyle/>
          <a:p>
            <a:pPr>
              <a:spcBef>
                <a:spcPct val="0"/>
              </a:spcBef>
            </a:pPr>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2270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9937" name="Shape 80">
            <a:extLst>
              <a:ext uri="{FF2B5EF4-FFF2-40B4-BE49-F238E27FC236}">
                <a16:creationId xmlns:a16="http://schemas.microsoft.com/office/drawing/2014/main" id="{09783559-28D5-1F45-B82B-0D630BCDC1E5}"/>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 name="T15" fmla="*/ 0 w 120000"/>
              <a:gd name="T16" fmla="*/ 0 h 120000"/>
              <a:gd name="T17" fmla="*/ 120000 w 120000"/>
              <a:gd name="T18" fmla="*/ 120000 h 120000"/>
            </a:gdLst>
            <a:ahLst/>
            <a:cxnLst>
              <a:cxn ang="T10">
                <a:pos x="T0" y="T1"/>
              </a:cxn>
              <a:cxn ang="T11">
                <a:pos x="T2" y="T3"/>
              </a:cxn>
              <a:cxn ang="T12">
                <a:pos x="T4" y="T5"/>
              </a:cxn>
              <a:cxn ang="T13">
                <a:pos x="T6" y="T7"/>
              </a:cxn>
              <a:cxn ang="T14">
                <a:pos x="T8" y="T9"/>
              </a:cxn>
            </a:cxnLst>
            <a:rect l="T15" t="T16" r="T17" b="T18"/>
            <a:pathLst>
              <a:path w="120000" h="120000" extrusionOk="0">
                <a:moveTo>
                  <a:pt x="0" y="0"/>
                </a:moveTo>
                <a:lnTo>
                  <a:pt x="120000" y="0"/>
                </a:lnTo>
                <a:lnTo>
                  <a:pt x="120000" y="120000"/>
                </a:lnTo>
                <a:lnTo>
                  <a:pt x="0" y="120000"/>
                </a:lnTo>
                <a:lnTo>
                  <a:pt x="0" y="0"/>
                </a:lnTo>
                <a:close/>
              </a:path>
            </a:pathLst>
          </a:custGeom>
          <a:noFill/>
          <a:ln cap="flat">
            <a:round/>
            <a:headEnd type="none" w="med" len="med"/>
            <a:tailEnd type="none" w="med" len="med"/>
          </a:ln>
        </p:spPr>
      </p:sp>
      <p:sp>
        <p:nvSpPr>
          <p:cNvPr id="39938" name="Shape 81">
            <a:extLst>
              <a:ext uri="{FF2B5EF4-FFF2-40B4-BE49-F238E27FC236}">
                <a16:creationId xmlns:a16="http://schemas.microsoft.com/office/drawing/2014/main" id="{0113BF0B-3998-0F47-8CEF-1D26D2692C3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45" tIns="96645" rIns="96645" bIns="96645"/>
          <a:lstStyle/>
          <a:p>
            <a:pPr>
              <a:spcBef>
                <a:spcPct val="0"/>
              </a:spcBef>
            </a:pPr>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24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032559-BF91-C949-AEF0-A2D5D4F5F039}" type="slidenum">
              <a:rPr lang="en-US" smtClean="0"/>
              <a:t>25</a:t>
            </a:fld>
            <a:endParaRPr lang="en-US"/>
          </a:p>
        </p:txBody>
      </p:sp>
    </p:spTree>
    <p:extLst>
      <p:ext uri="{BB962C8B-B14F-4D97-AF65-F5344CB8AC3E}">
        <p14:creationId xmlns:p14="http://schemas.microsoft.com/office/powerpoint/2010/main" val="4105777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1201" name="Shape 80">
            <a:extLst>
              <a:ext uri="{FF2B5EF4-FFF2-40B4-BE49-F238E27FC236}">
                <a16:creationId xmlns:a16="http://schemas.microsoft.com/office/drawing/2014/main" id="{FD0CA13E-BF7B-774B-A9F9-DE392333D75B}"/>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 name="T15" fmla="*/ 0 w 120000"/>
              <a:gd name="T16" fmla="*/ 0 h 120000"/>
              <a:gd name="T17" fmla="*/ 120000 w 120000"/>
              <a:gd name="T18" fmla="*/ 120000 h 120000"/>
            </a:gdLst>
            <a:ahLst/>
            <a:cxnLst>
              <a:cxn ang="T10">
                <a:pos x="T0" y="T1"/>
              </a:cxn>
              <a:cxn ang="T11">
                <a:pos x="T2" y="T3"/>
              </a:cxn>
              <a:cxn ang="T12">
                <a:pos x="T4" y="T5"/>
              </a:cxn>
              <a:cxn ang="T13">
                <a:pos x="T6" y="T7"/>
              </a:cxn>
              <a:cxn ang="T14">
                <a:pos x="T8" y="T9"/>
              </a:cxn>
            </a:cxnLst>
            <a:rect l="T15" t="T16" r="T17" b="T18"/>
            <a:pathLst>
              <a:path w="120000" h="120000" extrusionOk="0">
                <a:moveTo>
                  <a:pt x="0" y="0"/>
                </a:moveTo>
                <a:lnTo>
                  <a:pt x="120000" y="0"/>
                </a:lnTo>
                <a:lnTo>
                  <a:pt x="120000" y="120000"/>
                </a:lnTo>
                <a:lnTo>
                  <a:pt x="0" y="120000"/>
                </a:lnTo>
                <a:lnTo>
                  <a:pt x="0" y="0"/>
                </a:lnTo>
                <a:close/>
              </a:path>
            </a:pathLst>
          </a:custGeom>
          <a:noFill/>
          <a:ln cap="flat">
            <a:round/>
            <a:headEnd type="none" w="med" len="med"/>
            <a:tailEnd type="none" w="med" len="med"/>
          </a:ln>
        </p:spPr>
      </p:sp>
      <p:sp>
        <p:nvSpPr>
          <p:cNvPr id="51202" name="Shape 81">
            <a:extLst>
              <a:ext uri="{FF2B5EF4-FFF2-40B4-BE49-F238E27FC236}">
                <a16:creationId xmlns:a16="http://schemas.microsoft.com/office/drawing/2014/main" id="{8191B13F-514B-A241-A575-0E07996283D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45" tIns="96645" rIns="96645" bIns="96645"/>
          <a:lstStyle/>
          <a:p>
            <a:pPr>
              <a:spcBef>
                <a:spcPct val="0"/>
              </a:spcBef>
            </a:pPr>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5899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1201" name="Shape 80">
            <a:extLst>
              <a:ext uri="{FF2B5EF4-FFF2-40B4-BE49-F238E27FC236}">
                <a16:creationId xmlns:a16="http://schemas.microsoft.com/office/drawing/2014/main" id="{FD0CA13E-BF7B-774B-A9F9-DE392333D75B}"/>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 name="T15" fmla="*/ 0 w 120000"/>
              <a:gd name="T16" fmla="*/ 0 h 120000"/>
              <a:gd name="T17" fmla="*/ 120000 w 120000"/>
              <a:gd name="T18" fmla="*/ 120000 h 120000"/>
            </a:gdLst>
            <a:ahLst/>
            <a:cxnLst>
              <a:cxn ang="T10">
                <a:pos x="T0" y="T1"/>
              </a:cxn>
              <a:cxn ang="T11">
                <a:pos x="T2" y="T3"/>
              </a:cxn>
              <a:cxn ang="T12">
                <a:pos x="T4" y="T5"/>
              </a:cxn>
              <a:cxn ang="T13">
                <a:pos x="T6" y="T7"/>
              </a:cxn>
              <a:cxn ang="T14">
                <a:pos x="T8" y="T9"/>
              </a:cxn>
            </a:cxnLst>
            <a:rect l="T15" t="T16" r="T17" b="T18"/>
            <a:pathLst>
              <a:path w="120000" h="120000" extrusionOk="0">
                <a:moveTo>
                  <a:pt x="0" y="0"/>
                </a:moveTo>
                <a:lnTo>
                  <a:pt x="120000" y="0"/>
                </a:lnTo>
                <a:lnTo>
                  <a:pt x="120000" y="120000"/>
                </a:lnTo>
                <a:lnTo>
                  <a:pt x="0" y="120000"/>
                </a:lnTo>
                <a:lnTo>
                  <a:pt x="0" y="0"/>
                </a:lnTo>
                <a:close/>
              </a:path>
            </a:pathLst>
          </a:custGeom>
          <a:noFill/>
          <a:ln cap="flat">
            <a:round/>
            <a:headEnd type="none" w="med" len="med"/>
            <a:tailEnd type="none" w="med" len="med"/>
          </a:ln>
        </p:spPr>
      </p:sp>
      <p:sp>
        <p:nvSpPr>
          <p:cNvPr id="51202" name="Shape 81">
            <a:extLst>
              <a:ext uri="{FF2B5EF4-FFF2-40B4-BE49-F238E27FC236}">
                <a16:creationId xmlns:a16="http://schemas.microsoft.com/office/drawing/2014/main" id="{8191B13F-514B-A241-A575-0E07996283D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45" tIns="96645" rIns="96645" bIns="96645"/>
          <a:lstStyle/>
          <a:p>
            <a:pPr>
              <a:spcBef>
                <a:spcPct val="0"/>
              </a:spcBef>
            </a:pPr>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0571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10/20/26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249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852468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10/20/26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44030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137279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62671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10/20/26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02470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10/20/26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645099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10/20/26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221965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10/20/26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12277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10/20/26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78661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10/20/26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155871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2"/>
        <p:cNvGrpSpPr/>
        <p:nvPr/>
      </p:nvGrpSpPr>
      <p:grpSpPr>
        <a:xfrm>
          <a:off x="0" y="0"/>
          <a:ext cx="0" cy="0"/>
          <a:chOff x="0" y="0"/>
          <a:chExt cx="0" cy="0"/>
        </a:xfrm>
      </p:grpSpPr>
      <p:sp>
        <p:nvSpPr>
          <p:cNvPr id="13" name="Shape 13"/>
          <p:cNvSpPr txBox="1">
            <a:spLocks noGrp="1"/>
          </p:cNvSpPr>
          <p:nvPr>
            <p:ph type="title"/>
          </p:nvPr>
        </p:nvSpPr>
        <p:spPr>
          <a:xfrm>
            <a:off x="609600" y="274637"/>
            <a:ext cx="10972800" cy="1143200"/>
          </a:xfrm>
          <a:prstGeom prst="rect">
            <a:avLst/>
          </a:prstGeom>
        </p:spPr>
        <p:txBody>
          <a:bodyPr lIns="91425" tIns="91425" rIns="91425" bIns="91425"/>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14" name="Shape 14"/>
          <p:cNvSpPr txBox="1">
            <a:spLocks noGrp="1"/>
          </p:cNvSpPr>
          <p:nvPr>
            <p:ph type="body" idx="1"/>
          </p:nvPr>
        </p:nvSpPr>
        <p:spPr>
          <a:xfrm>
            <a:off x="609600" y="1600202"/>
            <a:ext cx="10972800" cy="4967599"/>
          </a:xfrm>
          <a:prstGeom prst="rect">
            <a:avLst/>
          </a:prstGeom>
        </p:spPr>
        <p:txBody>
          <a:bodyPr lIns="91425" tIns="91425" rIns="91425" bIns="91425"/>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4" name="Shape 15">
            <a:extLst>
              <a:ext uri="{FF2B5EF4-FFF2-40B4-BE49-F238E27FC236}">
                <a16:creationId xmlns:a16="http://schemas.microsoft.com/office/drawing/2014/main" id="{C7060842-A748-F540-BAC1-A2FF9A316B46}"/>
              </a:ext>
            </a:extLst>
          </p:cNvPr>
          <p:cNvSpPr txBox="1">
            <a:spLocks noGrp="1"/>
          </p:cNvSpPr>
          <p:nvPr>
            <p:ph type="sldNum" idx="10"/>
          </p:nvPr>
        </p:nvSpPr>
        <p:spPr>
          <a:xfrm>
            <a:off x="11408834" y="6332538"/>
            <a:ext cx="732367" cy="525462"/>
          </a:xfrm>
        </p:spPr>
        <p:txBody>
          <a:bodyPr lIns="91425" tIns="91425" rIns="91425" bIns="91425">
            <a:noAutofit/>
          </a:bodyPr>
          <a:lstStyle>
            <a:lvl1pPr>
              <a:defRPr/>
            </a:lvl1pPr>
          </a:lstStyle>
          <a:p>
            <a:fld id="{8C37B192-452E-F143-9B28-DE910ACF515C}" type="slidenum">
              <a:rPr lang="en-US" altLang="en-US"/>
              <a:pPr/>
              <a:t>‹#›</a:t>
            </a:fld>
            <a:endParaRPr lang="en-US" altLang="en-US"/>
          </a:p>
        </p:txBody>
      </p:sp>
    </p:spTree>
    <p:extLst>
      <p:ext uri="{BB962C8B-B14F-4D97-AF65-F5344CB8AC3E}">
        <p14:creationId xmlns:p14="http://schemas.microsoft.com/office/powerpoint/2010/main" val="16768595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3950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10/20/26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2779121406"/>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5" r:id="rId6"/>
    <p:sldLayoutId id="2147483720" r:id="rId7"/>
    <p:sldLayoutId id="2147483721" r:id="rId8"/>
    <p:sldLayoutId id="2147483722" r:id="rId9"/>
    <p:sldLayoutId id="2147483724" r:id="rId10"/>
    <p:sldLayoutId id="2147483723" r:id="rId11"/>
    <p:sldLayoutId id="2147483727" r:id="rId12"/>
    <p:sldLayoutId id="2147483728"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www.win.tue.nl/~johanl/educ/2IMN15/IoT-08-CoAP.pdf" TargetMode="External"/><Relationship Id="rId2" Type="http://schemas.openxmlformats.org/officeDocument/2006/relationships/hyperlink" Target="http://www.eclipse.org/community/eclipse_newsletter/2014/february/article2.php"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8C6FA01-125D-F048-8508-3DDA50BE91CB}"/>
              </a:ext>
            </a:extLst>
          </p:cNvPr>
          <p:cNvSpPr/>
          <p:nvPr/>
        </p:nvSpPr>
        <p:spPr>
          <a:xfrm>
            <a:off x="0" y="14588"/>
            <a:ext cx="9030191" cy="6858000"/>
          </a:xfrm>
          <a:prstGeom prst="rect">
            <a:avLst/>
          </a:prstGeom>
          <a:solidFill>
            <a:schemeClr val="accent5">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94E0CA91-7AED-8144-8F04-CA5CA7117B24}"/>
              </a:ext>
            </a:extLst>
          </p:cNvPr>
          <p:cNvSpPr/>
          <p:nvPr/>
        </p:nvSpPr>
        <p:spPr>
          <a:xfrm>
            <a:off x="9030191" y="14588"/>
            <a:ext cx="3161809" cy="6858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itle 1">
            <a:extLst>
              <a:ext uri="{FF2B5EF4-FFF2-40B4-BE49-F238E27FC236}">
                <a16:creationId xmlns:a16="http://schemas.microsoft.com/office/drawing/2014/main" id="{0052DCF5-46DB-CC44-BB8C-144CAB018379}"/>
              </a:ext>
            </a:extLst>
          </p:cNvPr>
          <p:cNvSpPr>
            <a:spLocks noGrp="1"/>
          </p:cNvSpPr>
          <p:nvPr>
            <p:ph type="ctrTitle"/>
          </p:nvPr>
        </p:nvSpPr>
        <p:spPr>
          <a:xfrm>
            <a:off x="742787" y="848496"/>
            <a:ext cx="8327968" cy="2895490"/>
          </a:xfrm>
        </p:spPr>
        <p:txBody>
          <a:bodyPr anchor="b">
            <a:normAutofit fontScale="90000"/>
          </a:bodyPr>
          <a:lstStyle/>
          <a:p>
            <a:r>
              <a:rPr lang="en-US" sz="3100" b="1" dirty="0"/>
              <a:t>Module 7.5</a:t>
            </a:r>
            <a:br>
              <a:rPr lang="en-US" sz="3100" b="1" dirty="0"/>
            </a:br>
            <a:br>
              <a:rPr lang="en-US" sz="5400" dirty="0"/>
            </a:br>
            <a:r>
              <a:rPr lang="en-US" sz="5400" b="1" dirty="0"/>
              <a:t>IoT Interaction Protocols</a:t>
            </a:r>
            <a:br>
              <a:rPr lang="en-US" sz="5400" b="1" dirty="0"/>
            </a:br>
            <a:r>
              <a:rPr lang="en-US" sz="5400" b="1" dirty="0"/>
              <a:t>Part I</a:t>
            </a:r>
            <a:br>
              <a:rPr lang="en-US" sz="4800" b="1" dirty="0">
                <a:latin typeface="Arial" pitchFamily="-105" charset="0"/>
              </a:rPr>
            </a:br>
            <a:endParaRPr lang="en-US" sz="5400" dirty="0"/>
          </a:p>
        </p:txBody>
      </p:sp>
      <p:sp>
        <p:nvSpPr>
          <p:cNvPr id="20" name="Subtitle 2">
            <a:extLst>
              <a:ext uri="{FF2B5EF4-FFF2-40B4-BE49-F238E27FC236}">
                <a16:creationId xmlns:a16="http://schemas.microsoft.com/office/drawing/2014/main" id="{22F579A1-6045-1D44-8FF8-7EE734F68D33}"/>
              </a:ext>
            </a:extLst>
          </p:cNvPr>
          <p:cNvSpPr>
            <a:spLocks noGrp="1"/>
          </p:cNvSpPr>
          <p:nvPr>
            <p:ph type="subTitle" idx="1"/>
          </p:nvPr>
        </p:nvSpPr>
        <p:spPr>
          <a:xfrm>
            <a:off x="742787" y="3233583"/>
            <a:ext cx="8057902" cy="1439438"/>
          </a:xfrm>
        </p:spPr>
        <p:txBody>
          <a:bodyPr>
            <a:normAutofit fontScale="92500"/>
          </a:bodyPr>
          <a:lstStyle/>
          <a:p>
            <a:pPr algn="l"/>
            <a:r>
              <a:rPr lang="en-US" sz="2400" b="1" i="0" dirty="0">
                <a:effectLst/>
                <a:latin typeface="Merriweather" pitchFamily="2" charset="77"/>
              </a:rPr>
              <a:t>B8019 - PROGRAMMING THE INTERNET OF THINGS M</a:t>
            </a:r>
          </a:p>
          <a:p>
            <a:pPr algn="l"/>
            <a:r>
              <a:rPr lang="en-US" sz="2400" b="0" i="0" dirty="0">
                <a:solidFill>
                  <a:srgbClr val="333333"/>
                </a:solidFill>
                <a:effectLst/>
                <a:latin typeface="Merriweather" pitchFamily="2" charset="77"/>
              </a:rPr>
              <a:t>Academic Year 2026/2027</a:t>
            </a:r>
            <a:br>
              <a:rPr lang="en-US" sz="3200" dirty="0"/>
            </a:br>
            <a:r>
              <a:rPr lang="en-US" sz="2200" b="0" i="0" dirty="0">
                <a:solidFill>
                  <a:srgbClr val="333333"/>
                </a:solidFill>
                <a:effectLst/>
                <a:latin typeface="SourceSans"/>
              </a:rPr>
              <a:t>Second cycle degree </a:t>
            </a:r>
            <a:r>
              <a:rPr lang="en-US" sz="2200" b="0" i="0" dirty="0" err="1">
                <a:solidFill>
                  <a:srgbClr val="333333"/>
                </a:solidFill>
                <a:effectLst/>
                <a:latin typeface="SourceSans"/>
              </a:rPr>
              <a:t>programme</a:t>
            </a:r>
            <a:r>
              <a:rPr lang="en-US" sz="2200" b="0" i="0" dirty="0">
                <a:solidFill>
                  <a:srgbClr val="333333"/>
                </a:solidFill>
                <a:effectLst/>
                <a:latin typeface="SourceSans"/>
              </a:rPr>
              <a:t> (LM) in Computer Engineering (cod. 5826)</a:t>
            </a:r>
            <a:endParaRPr lang="en-US" sz="3200" dirty="0"/>
          </a:p>
        </p:txBody>
      </p:sp>
      <p:sp>
        <p:nvSpPr>
          <p:cNvPr id="21" name="Subtitle 2">
            <a:extLst>
              <a:ext uri="{FF2B5EF4-FFF2-40B4-BE49-F238E27FC236}">
                <a16:creationId xmlns:a16="http://schemas.microsoft.com/office/drawing/2014/main" id="{8080B198-14FF-264F-822A-BAFFB88690D8}"/>
              </a:ext>
            </a:extLst>
          </p:cNvPr>
          <p:cNvSpPr txBox="1">
            <a:spLocks/>
          </p:cNvSpPr>
          <p:nvPr/>
        </p:nvSpPr>
        <p:spPr>
          <a:xfrm>
            <a:off x="742787" y="4710397"/>
            <a:ext cx="3950623" cy="398016"/>
          </a:xfrm>
          <a:prstGeom prst="rect">
            <a:avLst/>
          </a:prstGeom>
        </p:spPr>
        <p:txBody>
          <a:bodyPr vert="horz" lIns="91440" tIns="45720" rIns="91440" bIns="45720" rtlCol="0">
            <a:normAutofit lnSpcReduction="10000"/>
          </a:bodyPr>
          <a:lstStyle>
            <a:lvl1pPr marL="0" indent="0" algn="l" defTabSz="914400" rtl="0" eaLnBrk="1" latinLnBrk="0" hangingPunct="1">
              <a:lnSpc>
                <a:spcPct val="11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dirty="0"/>
              <a:t>Prof. </a:t>
            </a:r>
            <a:r>
              <a:rPr lang="en-US" sz="2000" b="1" dirty="0" err="1"/>
              <a:t>Abdelsalam</a:t>
            </a:r>
            <a:r>
              <a:rPr lang="en-US" sz="2000" b="1" dirty="0"/>
              <a:t> </a:t>
            </a:r>
            <a:r>
              <a:rPr lang="en-US" sz="2000" b="1" dirty="0" err="1"/>
              <a:t>Helal</a:t>
            </a:r>
            <a:endParaRPr lang="en-US" sz="2000" b="1" dirty="0"/>
          </a:p>
        </p:txBody>
      </p:sp>
      <p:sp>
        <p:nvSpPr>
          <p:cNvPr id="23" name="TextBox 22">
            <a:extLst>
              <a:ext uri="{FF2B5EF4-FFF2-40B4-BE49-F238E27FC236}">
                <a16:creationId xmlns:a16="http://schemas.microsoft.com/office/drawing/2014/main" id="{CA5E07A0-7D72-F247-9978-8A2471B9FE9D}"/>
              </a:ext>
            </a:extLst>
          </p:cNvPr>
          <p:cNvSpPr txBox="1"/>
          <p:nvPr/>
        </p:nvSpPr>
        <p:spPr>
          <a:xfrm>
            <a:off x="9917240" y="6416798"/>
            <a:ext cx="1830950" cy="253916"/>
          </a:xfrm>
          <a:prstGeom prst="rect">
            <a:avLst/>
          </a:prstGeom>
          <a:noFill/>
        </p:spPr>
        <p:txBody>
          <a:bodyPr wrap="none" rtlCol="0">
            <a:spAutoFit/>
          </a:bodyPr>
          <a:lstStyle/>
          <a:p>
            <a:r>
              <a:rPr lang="en-US" sz="1050" b="1" dirty="0">
                <a:solidFill>
                  <a:schemeClr val="bg1"/>
                </a:solidFill>
              </a:rPr>
              <a:t>© 2020-2026  Sumi Helal</a:t>
            </a:r>
          </a:p>
        </p:txBody>
      </p:sp>
      <p:pic>
        <p:nvPicPr>
          <p:cNvPr id="3" name="Picture 2" descr="A black and white logo&#10;&#10;Description automatically generated">
            <a:extLst>
              <a:ext uri="{FF2B5EF4-FFF2-40B4-BE49-F238E27FC236}">
                <a16:creationId xmlns:a16="http://schemas.microsoft.com/office/drawing/2014/main" id="{CF717BCD-FBDE-5757-674E-5D148CC58AFE}"/>
              </a:ext>
            </a:extLst>
          </p:cNvPr>
          <p:cNvPicPr>
            <a:picLocks noChangeAspect="1"/>
          </p:cNvPicPr>
          <p:nvPr/>
        </p:nvPicPr>
        <p:blipFill>
          <a:blip r:embed="rId2"/>
          <a:stretch>
            <a:fillRect/>
          </a:stretch>
        </p:blipFill>
        <p:spPr>
          <a:xfrm>
            <a:off x="9259693" y="312526"/>
            <a:ext cx="2784943" cy="1074840"/>
          </a:xfrm>
          <a:prstGeom prst="rect">
            <a:avLst/>
          </a:prstGeom>
        </p:spPr>
      </p:pic>
    </p:spTree>
    <p:extLst>
      <p:ext uri="{BB962C8B-B14F-4D97-AF65-F5344CB8AC3E}">
        <p14:creationId xmlns:p14="http://schemas.microsoft.com/office/powerpoint/2010/main" val="4184947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95FB3-5DF6-A040-A4D2-98F3C32186CF}"/>
              </a:ext>
            </a:extLst>
          </p:cNvPr>
          <p:cNvSpPr>
            <a:spLocks noGrp="1"/>
          </p:cNvSpPr>
          <p:nvPr>
            <p:ph type="title"/>
          </p:nvPr>
        </p:nvSpPr>
        <p:spPr/>
        <p:txBody>
          <a:bodyPr/>
          <a:lstStyle/>
          <a:p>
            <a:r>
              <a:rPr lang="en-US" dirty="0"/>
              <a:t>Lecture Overview</a:t>
            </a:r>
          </a:p>
        </p:txBody>
      </p:sp>
      <p:sp>
        <p:nvSpPr>
          <p:cNvPr id="3" name="Content Placeholder 2">
            <a:extLst>
              <a:ext uri="{FF2B5EF4-FFF2-40B4-BE49-F238E27FC236}">
                <a16:creationId xmlns:a16="http://schemas.microsoft.com/office/drawing/2014/main" id="{FB30C1AD-172B-DB42-BD54-C0ECD6B65A58}"/>
              </a:ext>
            </a:extLst>
          </p:cNvPr>
          <p:cNvSpPr>
            <a:spLocks noGrp="1"/>
          </p:cNvSpPr>
          <p:nvPr>
            <p:ph idx="1"/>
          </p:nvPr>
        </p:nvSpPr>
        <p:spPr/>
        <p:txBody>
          <a:bodyPr>
            <a:normAutofit fontScale="92500" lnSpcReduction="10000"/>
          </a:bodyPr>
          <a:lstStyle/>
          <a:p>
            <a:r>
              <a:rPr lang="en-US" altLang="en-US" dirty="0">
                <a:ea typeface="MS PGothic" panose="020B0600070205080204" pitchFamily="34" charset="-128"/>
              </a:rPr>
              <a:t>Assessing the Value of an IoT </a:t>
            </a:r>
          </a:p>
          <a:p>
            <a:r>
              <a:rPr lang="en-US" altLang="en-US" dirty="0">
                <a:ea typeface="MS PGothic" panose="020B0600070205080204" pitchFamily="34" charset="-128"/>
              </a:rPr>
              <a:t>IoT Meaningful Interactions</a:t>
            </a:r>
          </a:p>
          <a:p>
            <a:r>
              <a:rPr lang="en-US" altLang="en-US" dirty="0">
                <a:ea typeface="MS PGothic" panose="020B0600070205080204" pitchFamily="34" charset="-128"/>
              </a:rPr>
              <a:t>RESTful API</a:t>
            </a:r>
          </a:p>
          <a:p>
            <a:r>
              <a:rPr lang="en-US" altLang="en-US" dirty="0" err="1">
                <a:ea typeface="MS PGothic" panose="020B0600070205080204" pitchFamily="34" charset="-128"/>
              </a:rPr>
              <a:t>CoAP</a:t>
            </a:r>
            <a:endParaRPr lang="en-US" altLang="en-US" dirty="0">
              <a:ea typeface="MS PGothic" panose="020B0600070205080204" pitchFamily="34" charset="-128"/>
            </a:endParaRPr>
          </a:p>
          <a:p>
            <a:r>
              <a:rPr lang="en-US" altLang="en-US" dirty="0">
                <a:ea typeface="MS PGothic" panose="020B0600070205080204" pitchFamily="34" charset="-128"/>
              </a:rPr>
              <a:t>MQTT</a:t>
            </a:r>
          </a:p>
          <a:p>
            <a:r>
              <a:rPr lang="en-US" altLang="en-US" dirty="0">
                <a:ea typeface="MS PGothic" panose="020B0600070205080204" pitchFamily="34" charset="-128"/>
              </a:rPr>
              <a:t>6LoWPAN</a:t>
            </a:r>
          </a:p>
          <a:p>
            <a:r>
              <a:rPr lang="en-US" altLang="en-US" dirty="0">
                <a:ea typeface="MS PGothic" panose="020B0600070205080204" pitchFamily="34" charset="-128"/>
              </a:rPr>
              <a:t>IoT Device Management (OMA-DM and LwM2M)</a:t>
            </a:r>
          </a:p>
        </p:txBody>
      </p:sp>
    </p:spTree>
    <p:extLst>
      <p:ext uri="{BB962C8B-B14F-4D97-AF65-F5344CB8AC3E}">
        <p14:creationId xmlns:p14="http://schemas.microsoft.com/office/powerpoint/2010/main" val="4278311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77ABE-D9D5-FF4A-AAEE-F6DFE1F27E63}"/>
              </a:ext>
            </a:extLst>
          </p:cNvPr>
          <p:cNvSpPr>
            <a:spLocks noGrp="1"/>
          </p:cNvSpPr>
          <p:nvPr>
            <p:ph type="title"/>
          </p:nvPr>
        </p:nvSpPr>
        <p:spPr/>
        <p:txBody>
          <a:bodyPr>
            <a:normAutofit/>
          </a:bodyPr>
          <a:lstStyle/>
          <a:p>
            <a:r>
              <a:rPr lang="en-US" dirty="0"/>
              <a:t>The Value of any Network</a:t>
            </a:r>
            <a:endParaRPr lang="en-US" dirty="0">
              <a:solidFill>
                <a:srgbClr val="C00000"/>
              </a:solidFill>
            </a:endParaRPr>
          </a:p>
        </p:txBody>
      </p:sp>
      <p:pic>
        <p:nvPicPr>
          <p:cNvPr id="5" name="Content Placeholder 4" descr="Chart, line chart&#10;&#10;Description automatically generated">
            <a:extLst>
              <a:ext uri="{FF2B5EF4-FFF2-40B4-BE49-F238E27FC236}">
                <a16:creationId xmlns:a16="http://schemas.microsoft.com/office/drawing/2014/main" id="{C298407D-DCC5-C64E-AF5F-1A6B28561159}"/>
              </a:ext>
            </a:extLst>
          </p:cNvPr>
          <p:cNvPicPr>
            <a:picLocks noGrp="1" noChangeAspect="1"/>
          </p:cNvPicPr>
          <p:nvPr>
            <p:ph idx="1"/>
          </p:nvPr>
        </p:nvPicPr>
        <p:blipFill>
          <a:blip r:embed="rId2"/>
          <a:stretch>
            <a:fillRect/>
          </a:stretch>
        </p:blipFill>
        <p:spPr>
          <a:xfrm>
            <a:off x="7028778" y="1902282"/>
            <a:ext cx="4991100" cy="3429000"/>
          </a:xfrm>
        </p:spPr>
      </p:pic>
      <p:sp>
        <p:nvSpPr>
          <p:cNvPr id="7" name="Content Placeholder 8">
            <a:extLst>
              <a:ext uri="{FF2B5EF4-FFF2-40B4-BE49-F238E27FC236}">
                <a16:creationId xmlns:a16="http://schemas.microsoft.com/office/drawing/2014/main" id="{9C3E89DA-B89E-2F44-899F-4BDF75765F27}"/>
              </a:ext>
            </a:extLst>
          </p:cNvPr>
          <p:cNvSpPr txBox="1">
            <a:spLocks/>
          </p:cNvSpPr>
          <p:nvPr/>
        </p:nvSpPr>
        <p:spPr>
          <a:xfrm>
            <a:off x="524821" y="2015446"/>
            <a:ext cx="6779622" cy="4041770"/>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Metcalfe’s Law, over 47 years ago: </a:t>
            </a:r>
          </a:p>
          <a:p>
            <a:pPr marL="457200" lvl="1" indent="0">
              <a:buNone/>
            </a:pPr>
            <a:r>
              <a:rPr lang="en-US" dirty="0"/>
              <a:t>V ≈ N*(N-1)</a:t>
            </a:r>
          </a:p>
          <a:p>
            <a:r>
              <a:rPr lang="en-US" dirty="0"/>
              <a:t>Andrew </a:t>
            </a:r>
            <a:r>
              <a:rPr lang="en-US" dirty="0" err="1"/>
              <a:t>Odlyzko</a:t>
            </a:r>
            <a:r>
              <a:rPr lang="en-US" dirty="0"/>
              <a:t> and Benjamin Tilley: </a:t>
            </a:r>
          </a:p>
          <a:p>
            <a:pPr marL="457200" lvl="1" indent="0">
              <a:buNone/>
            </a:pPr>
            <a:r>
              <a:rPr lang="en-US" dirty="0"/>
              <a:t>V ≈ N*ln(N) </a:t>
            </a:r>
            <a:r>
              <a:rPr lang="en-US" dirty="0">
                <a:sym typeface="Wingdings" pitchFamily="2" charset="2"/>
              </a:rPr>
              <a:t> not all network connections are of equal values!</a:t>
            </a:r>
          </a:p>
          <a:p>
            <a:pPr lvl="0"/>
            <a:r>
              <a:rPr lang="en-US" dirty="0"/>
              <a:t>Metcalfe’s Self-Adjusted Law – 8 years ago: </a:t>
            </a:r>
          </a:p>
          <a:p>
            <a:pPr marL="457200" lvl="1" indent="0">
              <a:buNone/>
            </a:pPr>
            <a:r>
              <a:rPr lang="en-US" dirty="0"/>
              <a:t>V ≈ revenue generating customers over time. Use of </a:t>
            </a:r>
            <a:r>
              <a:rPr lang="en-US" i="1" dirty="0" err="1"/>
              <a:t>netoid</a:t>
            </a:r>
            <a:r>
              <a:rPr lang="en-US" dirty="0"/>
              <a:t> and </a:t>
            </a:r>
            <a:r>
              <a:rPr lang="en-US" i="1" dirty="0"/>
              <a:t>sigmoid*</a:t>
            </a:r>
            <a:r>
              <a:rPr lang="en-US" dirty="0"/>
              <a:t> based simulation. </a:t>
            </a:r>
            <a:r>
              <a:rPr lang="en-US" dirty="0">
                <a:sym typeface="Wingdings" pitchFamily="2" charset="2"/>
              </a:rPr>
              <a:t> The capture of social media added value (based on Facebook data)</a:t>
            </a:r>
            <a:endParaRPr lang="en-US" dirty="0"/>
          </a:p>
          <a:p>
            <a:pPr marL="0" lvl="0" indent="0">
              <a:buNone/>
            </a:pPr>
            <a:endParaRPr lang="en-US" dirty="0"/>
          </a:p>
          <a:p>
            <a:pPr marL="457200" lvl="1" indent="0">
              <a:buNone/>
            </a:pPr>
            <a:endParaRPr lang="en-US" dirty="0"/>
          </a:p>
          <a:p>
            <a:pPr lvl="1"/>
            <a:endParaRPr lang="en-US" dirty="0"/>
          </a:p>
        </p:txBody>
      </p:sp>
      <p:sp>
        <p:nvSpPr>
          <p:cNvPr id="3" name="TextBox 2">
            <a:extLst>
              <a:ext uri="{FF2B5EF4-FFF2-40B4-BE49-F238E27FC236}">
                <a16:creationId xmlns:a16="http://schemas.microsoft.com/office/drawing/2014/main" id="{CF83BAE1-34DF-74A0-560A-39E43AD0BC3E}"/>
              </a:ext>
            </a:extLst>
          </p:cNvPr>
          <p:cNvSpPr txBox="1"/>
          <p:nvPr/>
        </p:nvSpPr>
        <p:spPr>
          <a:xfrm>
            <a:off x="225910" y="6213409"/>
            <a:ext cx="6478440" cy="523220"/>
          </a:xfrm>
          <a:prstGeom prst="rect">
            <a:avLst/>
          </a:prstGeom>
          <a:noFill/>
        </p:spPr>
        <p:txBody>
          <a:bodyPr wrap="none" rtlCol="0">
            <a:spAutoFit/>
          </a:bodyPr>
          <a:lstStyle/>
          <a:p>
            <a:r>
              <a:rPr lang="en-US" sz="1400" dirty="0"/>
              <a:t>* Sigmoid and </a:t>
            </a:r>
            <a:r>
              <a:rPr lang="en-US" sz="1400" dirty="0" err="1"/>
              <a:t>Netoid</a:t>
            </a:r>
            <a:r>
              <a:rPr lang="en-US" sz="1400" dirty="0"/>
              <a:t> are closely related mathematical functions </a:t>
            </a:r>
          </a:p>
          <a:p>
            <a:r>
              <a:rPr lang="en-US" sz="1400" dirty="0"/>
              <a:t>used to model growth, particularly technology adoption and network growth.</a:t>
            </a:r>
          </a:p>
        </p:txBody>
      </p:sp>
      <p:cxnSp>
        <p:nvCxnSpPr>
          <p:cNvPr id="6" name="Straight Connector 5">
            <a:extLst>
              <a:ext uri="{FF2B5EF4-FFF2-40B4-BE49-F238E27FC236}">
                <a16:creationId xmlns:a16="http://schemas.microsoft.com/office/drawing/2014/main" id="{4D435696-DC2D-A5FE-4B8D-B9D48AE1DD83}"/>
              </a:ext>
            </a:extLst>
          </p:cNvPr>
          <p:cNvCxnSpPr/>
          <p:nvPr/>
        </p:nvCxnSpPr>
        <p:spPr>
          <a:xfrm>
            <a:off x="182880" y="6057216"/>
            <a:ext cx="676656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3395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77ABE-D9D5-FF4A-AAEE-F6DFE1F27E63}"/>
              </a:ext>
            </a:extLst>
          </p:cNvPr>
          <p:cNvSpPr>
            <a:spLocks noGrp="1"/>
          </p:cNvSpPr>
          <p:nvPr>
            <p:ph type="title"/>
          </p:nvPr>
        </p:nvSpPr>
        <p:spPr/>
        <p:txBody>
          <a:bodyPr>
            <a:normAutofit/>
          </a:bodyPr>
          <a:lstStyle/>
          <a:p>
            <a:r>
              <a:rPr lang="en-US" dirty="0"/>
              <a:t>The Value of an IoT</a:t>
            </a:r>
            <a:endParaRPr lang="en-US" dirty="0">
              <a:solidFill>
                <a:srgbClr val="C00000"/>
              </a:solidFill>
            </a:endParaRPr>
          </a:p>
        </p:txBody>
      </p:sp>
      <p:sp>
        <p:nvSpPr>
          <p:cNvPr id="7" name="Content Placeholder 8">
            <a:extLst>
              <a:ext uri="{FF2B5EF4-FFF2-40B4-BE49-F238E27FC236}">
                <a16:creationId xmlns:a16="http://schemas.microsoft.com/office/drawing/2014/main" id="{9C3E89DA-B89E-2F44-899F-4BDF75765F27}"/>
              </a:ext>
            </a:extLst>
          </p:cNvPr>
          <p:cNvSpPr txBox="1">
            <a:spLocks/>
          </p:cNvSpPr>
          <p:nvPr/>
        </p:nvSpPr>
        <p:spPr>
          <a:xfrm>
            <a:off x="535578" y="2478024"/>
            <a:ext cx="6779622" cy="404177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P </a:t>
            </a:r>
            <a:r>
              <a:rPr lang="en-US" sz="2000" dirty="0"/>
              <a:t>= estimate of the number of ways in which a particular IoT can participate (be programmed) into different applications (</a:t>
            </a:r>
            <a:r>
              <a:rPr lang="en-US" sz="2000" b="1" dirty="0"/>
              <a:t>size of the application space</a:t>
            </a:r>
            <a:r>
              <a:rPr lang="en-US" sz="2000" dirty="0"/>
              <a:t>)</a:t>
            </a:r>
          </a:p>
          <a:p>
            <a:r>
              <a:rPr lang="en-US" sz="2000" b="1" dirty="0"/>
              <a:t>E</a:t>
            </a:r>
            <a:r>
              <a:rPr lang="en-US" sz="2000" dirty="0"/>
              <a:t> = estimate of the effort that must be put forth to enable the development of the application space.</a:t>
            </a:r>
          </a:p>
          <a:p>
            <a:pPr lvl="1"/>
            <a:r>
              <a:rPr lang="en-US" sz="1800" dirty="0"/>
              <a:t>E ranges from </a:t>
            </a:r>
            <a:r>
              <a:rPr lang="en-US" sz="1800" b="1" dirty="0"/>
              <a:t>∞</a:t>
            </a:r>
            <a:r>
              <a:rPr lang="en-US" sz="1800" dirty="0"/>
              <a:t> (traditional system integration) to </a:t>
            </a:r>
            <a:r>
              <a:rPr lang="en-US" sz="1800" b="1" i="1" dirty="0"/>
              <a:t>e</a:t>
            </a:r>
            <a:r>
              <a:rPr lang="en-US" sz="1800" dirty="0"/>
              <a:t> - a small number (autonomic/self integration)</a:t>
            </a:r>
          </a:p>
          <a:p>
            <a:pPr lvl="1"/>
            <a:endParaRPr lang="en-US" sz="1800" dirty="0"/>
          </a:p>
          <a:p>
            <a:pPr lvl="1"/>
            <a:endParaRPr lang="en-US" sz="1800" dirty="0"/>
          </a:p>
          <a:p>
            <a:pPr lvl="1"/>
            <a:endParaRPr lang="en-US" sz="1800" dirty="0"/>
          </a:p>
          <a:p>
            <a:pPr lvl="1"/>
            <a:r>
              <a:rPr lang="en-US" sz="1800" dirty="0"/>
              <a:t>Consider: Isolated vs advertised IoT, open programmatic interface vs closed one, etc.</a:t>
            </a:r>
          </a:p>
          <a:p>
            <a:pPr lvl="1"/>
            <a:r>
              <a:rPr lang="en-US" sz="1800" dirty="0"/>
              <a:t>Consider: Powerful programming models vs weak or no programming models. </a:t>
            </a:r>
          </a:p>
          <a:p>
            <a:pPr marL="457200" lvl="1" indent="0">
              <a:buNone/>
            </a:pPr>
            <a:endParaRPr lang="en-US" dirty="0"/>
          </a:p>
        </p:txBody>
      </p:sp>
      <p:pic>
        <p:nvPicPr>
          <p:cNvPr id="3" name="Picture 2">
            <a:extLst>
              <a:ext uri="{FF2B5EF4-FFF2-40B4-BE49-F238E27FC236}">
                <a16:creationId xmlns:a16="http://schemas.microsoft.com/office/drawing/2014/main" id="{76E946DE-6A5C-7E40-902C-92A1443779F1}"/>
              </a:ext>
            </a:extLst>
          </p:cNvPr>
          <p:cNvPicPr>
            <a:picLocks noChangeAspect="1"/>
          </p:cNvPicPr>
          <p:nvPr/>
        </p:nvPicPr>
        <p:blipFill>
          <a:blip r:embed="rId2"/>
          <a:stretch>
            <a:fillRect/>
          </a:stretch>
        </p:blipFill>
        <p:spPr>
          <a:xfrm>
            <a:off x="2544326" y="4498909"/>
            <a:ext cx="1498600" cy="876300"/>
          </a:xfrm>
          <a:prstGeom prst="rect">
            <a:avLst/>
          </a:prstGeom>
        </p:spPr>
      </p:pic>
      <p:sp>
        <p:nvSpPr>
          <p:cNvPr id="9" name="Content Placeholder 8">
            <a:extLst>
              <a:ext uri="{FF2B5EF4-FFF2-40B4-BE49-F238E27FC236}">
                <a16:creationId xmlns:a16="http://schemas.microsoft.com/office/drawing/2014/main" id="{083987F3-38E5-454E-B3B1-B194AACE1B0C}"/>
              </a:ext>
            </a:extLst>
          </p:cNvPr>
          <p:cNvSpPr txBox="1">
            <a:spLocks/>
          </p:cNvSpPr>
          <p:nvPr/>
        </p:nvSpPr>
        <p:spPr>
          <a:xfrm>
            <a:off x="7587085" y="2397519"/>
            <a:ext cx="3858768" cy="2732266"/>
          </a:xfrm>
          <a:prstGeom prst="rect">
            <a:avLst/>
          </a:prstGeom>
          <a:solidFill>
            <a:schemeClr val="bg2"/>
          </a:solidFill>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20000"/>
              </a:lnSpc>
              <a:spcBef>
                <a:spcPts val="1000"/>
              </a:spcBef>
              <a:buNone/>
            </a:pPr>
            <a:r>
              <a:rPr lang="en-US" b="1" dirty="0">
                <a:solidFill>
                  <a:srgbClr val="C00000"/>
                </a:solidFill>
              </a:rPr>
              <a:t>The Value of an IoT is highly influenced by the IoT Programming Model especially with regards to architectural elements that enables autonomic/self-integration</a:t>
            </a:r>
          </a:p>
          <a:p>
            <a:pPr lvl="1"/>
            <a:endParaRPr lang="en-US" dirty="0"/>
          </a:p>
        </p:txBody>
      </p:sp>
    </p:spTree>
    <p:extLst>
      <p:ext uri="{BB962C8B-B14F-4D97-AF65-F5344CB8AC3E}">
        <p14:creationId xmlns:p14="http://schemas.microsoft.com/office/powerpoint/2010/main" val="16137984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linds(horizontal)">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 calcmode="lin" valueType="num">
                                      <p:cBhvr additive="base">
                                        <p:cTn id="28"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7">
                                            <p:txEl>
                                              <p:pRg st="6" end="6"/>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 calcmode="lin" valueType="num">
                                      <p:cBhvr additive="base">
                                        <p:cTn id="32"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F8B11-5331-B74F-949F-C28972EABBDD}"/>
              </a:ext>
            </a:extLst>
          </p:cNvPr>
          <p:cNvSpPr>
            <a:spLocks noGrp="1"/>
          </p:cNvSpPr>
          <p:nvPr>
            <p:ph type="title"/>
          </p:nvPr>
        </p:nvSpPr>
        <p:spPr/>
        <p:txBody>
          <a:bodyPr/>
          <a:lstStyle/>
          <a:p>
            <a:r>
              <a:rPr lang="en-US" dirty="0"/>
              <a:t>IoT Meaningful Interactions</a:t>
            </a:r>
          </a:p>
        </p:txBody>
      </p:sp>
      <p:sp>
        <p:nvSpPr>
          <p:cNvPr id="3" name="Content Placeholder 2">
            <a:extLst>
              <a:ext uri="{FF2B5EF4-FFF2-40B4-BE49-F238E27FC236}">
                <a16:creationId xmlns:a16="http://schemas.microsoft.com/office/drawing/2014/main" id="{5826BAAA-D229-DE4F-A9F3-DA12BC9BEBCF}"/>
              </a:ext>
            </a:extLst>
          </p:cNvPr>
          <p:cNvSpPr>
            <a:spLocks noGrp="1"/>
          </p:cNvSpPr>
          <p:nvPr>
            <p:ph idx="1"/>
          </p:nvPr>
        </p:nvSpPr>
        <p:spPr>
          <a:xfrm>
            <a:off x="810768" y="2123825"/>
            <a:ext cx="10735238" cy="4734175"/>
          </a:xfrm>
        </p:spPr>
        <p:txBody>
          <a:bodyPr>
            <a:normAutofit fontScale="85000" lnSpcReduction="10000"/>
          </a:bodyPr>
          <a:lstStyle/>
          <a:p>
            <a:r>
              <a:rPr lang="en-US" dirty="0"/>
              <a:t>Interactions between the IoT things are the essence (blueprints) of the IoT applications. Hence IoT interaction protocols must convey more than bits of data – They execute a good part of the application logic and semantics! </a:t>
            </a:r>
          </a:p>
          <a:p>
            <a:r>
              <a:rPr lang="en-US" dirty="0"/>
              <a:t>In  other words, the application is achieved through meaningful interactions guided by these protocols. Interactions are therefore expected to be: </a:t>
            </a:r>
          </a:p>
          <a:p>
            <a:pPr lvl="1"/>
            <a:r>
              <a:rPr lang="en-US" b="1" dirty="0"/>
              <a:t>Indicative of interest</a:t>
            </a:r>
            <a:r>
              <a:rPr lang="en-US" dirty="0"/>
              <a:t>, revealing of resources and capabilities</a:t>
            </a:r>
          </a:p>
          <a:p>
            <a:pPr lvl="1"/>
            <a:r>
              <a:rPr lang="en-US" dirty="0"/>
              <a:t>Explanative of the semantics behind the interaction (</a:t>
            </a:r>
            <a:r>
              <a:rPr lang="en-US" b="1" dirty="0"/>
              <a:t>Why interact</a:t>
            </a:r>
            <a:r>
              <a:rPr lang="en-US" dirty="0"/>
              <a:t>)</a:t>
            </a:r>
          </a:p>
          <a:p>
            <a:pPr lvl="1"/>
            <a:r>
              <a:rPr lang="en-US" dirty="0"/>
              <a:t>Instructive of means (</a:t>
            </a:r>
            <a:r>
              <a:rPr lang="en-US" b="1" dirty="0"/>
              <a:t>How to interact back</a:t>
            </a:r>
            <a:r>
              <a:rPr lang="en-US" dirty="0"/>
              <a:t>)</a:t>
            </a:r>
          </a:p>
          <a:p>
            <a:r>
              <a:rPr lang="en-US" dirty="0"/>
              <a:t>Ideally, protocols should be light-weight and inexpensive</a:t>
            </a:r>
          </a:p>
          <a:p>
            <a:r>
              <a:rPr lang="en-US" dirty="0"/>
              <a:t>Towards this end: we will examine: RESTful, CoAP, MQTT, among others. </a:t>
            </a:r>
          </a:p>
        </p:txBody>
      </p:sp>
    </p:spTree>
    <p:extLst>
      <p:ext uri="{BB962C8B-B14F-4D97-AF65-F5344CB8AC3E}">
        <p14:creationId xmlns:p14="http://schemas.microsoft.com/office/powerpoint/2010/main" val="12118167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C738F943-3F1D-904F-ACE4-C2166B2C2D0C}"/>
              </a:ext>
            </a:extLst>
          </p:cNvPr>
          <p:cNvSpPr>
            <a:spLocks noGrp="1"/>
          </p:cNvSpPr>
          <p:nvPr>
            <p:ph type="title"/>
          </p:nvPr>
        </p:nvSpPr>
        <p:spPr>
          <a:xfrm>
            <a:off x="0" y="1902372"/>
            <a:ext cx="12192000" cy="1870841"/>
          </a:xfrm>
          <a:solidFill>
            <a:schemeClr val="bg2">
              <a:lumMod val="90000"/>
            </a:schemeClr>
          </a:solidFill>
        </p:spPr>
        <p:txBody>
          <a:bodyPr vert="horz" lIns="91425" tIns="91425" rIns="91425" bIns="91425" rtlCol="0" anchor="ctr">
            <a:normAutofit/>
          </a:bodyPr>
          <a:lstStyle/>
          <a:p>
            <a:pPr>
              <a:spcBef>
                <a:spcPct val="0"/>
              </a:spcBef>
            </a:pPr>
            <a:r>
              <a:rPr lang="en-US" altLang="en-US" sz="5400" dirty="0">
                <a:ea typeface="MS PGothic" panose="020B0600070205080204" pitchFamily="34" charset="-128"/>
              </a:rPr>
              <a:t>RESTful</a:t>
            </a:r>
            <a:br>
              <a:rPr lang="en-US" altLang="en-US" sz="5400" dirty="0">
                <a:ea typeface="MS PGothic" panose="020B0600070205080204" pitchFamily="34" charset="-128"/>
              </a:rPr>
            </a:br>
            <a:r>
              <a:rPr lang="en-US" altLang="en-US" sz="5400" dirty="0">
                <a:ea typeface="MS PGothic" panose="020B0600070205080204" pitchFamily="34" charset="-128"/>
              </a:rPr>
              <a:t>Representational State Transfer</a:t>
            </a:r>
          </a:p>
        </p:txBody>
      </p:sp>
    </p:spTree>
    <p:extLst>
      <p:ext uri="{BB962C8B-B14F-4D97-AF65-F5344CB8AC3E}">
        <p14:creationId xmlns:p14="http://schemas.microsoft.com/office/powerpoint/2010/main" val="321046896"/>
      </p:ext>
    </p:extLst>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9B6A2-EC3F-1942-AE0D-22E327801CC2}"/>
              </a:ext>
            </a:extLst>
          </p:cNvPr>
          <p:cNvSpPr>
            <a:spLocks noGrp="1"/>
          </p:cNvSpPr>
          <p:nvPr>
            <p:ph type="title"/>
          </p:nvPr>
        </p:nvSpPr>
        <p:spPr/>
        <p:txBody>
          <a:bodyPr/>
          <a:lstStyle/>
          <a:p>
            <a:r>
              <a:rPr lang="en-US" b="1" u="sng" dirty="0" err="1"/>
              <a:t>RE</a:t>
            </a:r>
            <a:r>
              <a:rPr lang="en-US" dirty="0" err="1"/>
              <a:t>presentational</a:t>
            </a:r>
            <a:r>
              <a:rPr lang="en-US" dirty="0"/>
              <a:t> </a:t>
            </a:r>
            <a:r>
              <a:rPr lang="en-US" b="1" u="sng" dirty="0"/>
              <a:t>S</a:t>
            </a:r>
            <a:r>
              <a:rPr lang="en-US" dirty="0"/>
              <a:t>tate </a:t>
            </a:r>
            <a:r>
              <a:rPr lang="en-US" b="1" u="sng" dirty="0"/>
              <a:t>T</a:t>
            </a:r>
            <a:r>
              <a:rPr lang="en-US" dirty="0"/>
              <a:t>ransfer*</a:t>
            </a:r>
          </a:p>
        </p:txBody>
      </p:sp>
      <p:sp>
        <p:nvSpPr>
          <p:cNvPr id="3" name="Content Placeholder 2">
            <a:extLst>
              <a:ext uri="{FF2B5EF4-FFF2-40B4-BE49-F238E27FC236}">
                <a16:creationId xmlns:a16="http://schemas.microsoft.com/office/drawing/2014/main" id="{E477FC8C-1EE9-2740-B33E-B1AC00E805BC}"/>
              </a:ext>
            </a:extLst>
          </p:cNvPr>
          <p:cNvSpPr>
            <a:spLocks noGrp="1"/>
          </p:cNvSpPr>
          <p:nvPr>
            <p:ph idx="1"/>
          </p:nvPr>
        </p:nvSpPr>
        <p:spPr>
          <a:xfrm>
            <a:off x="1011936" y="2176950"/>
            <a:ext cx="10168128" cy="4379976"/>
          </a:xfrm>
        </p:spPr>
        <p:txBody>
          <a:bodyPr>
            <a:normAutofit fontScale="77500" lnSpcReduction="20000"/>
          </a:bodyPr>
          <a:lstStyle/>
          <a:p>
            <a:pPr marL="457200" indent="-381000">
              <a:spcBef>
                <a:spcPct val="0"/>
              </a:spcBef>
              <a:buClr>
                <a:srgbClr val="000000"/>
              </a:buClr>
              <a:buFont typeface="Arial" panose="020B0604020202020204" pitchFamily="34" charset="0"/>
              <a:buChar char="●"/>
            </a:pPr>
            <a:r>
              <a:rPr lang="en-US" altLang="en-US" dirty="0">
                <a:solidFill>
                  <a:srgbClr val="000000"/>
                </a:solidFill>
                <a:ea typeface="MS PGothic" panose="020B0600070205080204" pitchFamily="34" charset="-128"/>
              </a:rPr>
              <a:t>Software architecture principle (design pattern) allows creating scalable </a:t>
            </a:r>
            <a:r>
              <a:rPr lang="en-US" altLang="en-US" b="1" dirty="0">
                <a:solidFill>
                  <a:srgbClr val="000000"/>
                </a:solidFill>
                <a:ea typeface="MS PGothic" panose="020B0600070205080204" pitchFamily="34" charset="-128"/>
              </a:rPr>
              <a:t>web services </a:t>
            </a:r>
            <a:r>
              <a:rPr lang="en-US" altLang="en-US" dirty="0">
                <a:solidFill>
                  <a:srgbClr val="000000"/>
                </a:solidFill>
                <a:ea typeface="MS PGothic" panose="020B0600070205080204" pitchFamily="34" charset="-128"/>
              </a:rPr>
              <a:t>in terms of system's </a:t>
            </a:r>
            <a:r>
              <a:rPr lang="en-US" altLang="en-US" b="1" dirty="0">
                <a:solidFill>
                  <a:srgbClr val="000000"/>
                </a:solidFill>
                <a:ea typeface="MS PGothic" panose="020B0600070205080204" pitchFamily="34" charset="-128"/>
              </a:rPr>
              <a:t>resources</a:t>
            </a:r>
            <a:r>
              <a:rPr lang="en-US" altLang="en-US" dirty="0">
                <a:solidFill>
                  <a:srgbClr val="000000"/>
                </a:solidFill>
                <a:ea typeface="MS PGothic" panose="020B0600070205080204" pitchFamily="34" charset="-128"/>
              </a:rPr>
              <a:t> (e.g., how resource states are addressed and transferred by a wide range of clients in different languages). </a:t>
            </a:r>
          </a:p>
          <a:p>
            <a:pPr marL="457200" indent="-381000">
              <a:spcBef>
                <a:spcPct val="0"/>
              </a:spcBef>
              <a:buClr>
                <a:srgbClr val="000000"/>
              </a:buClr>
              <a:buFont typeface="Arial" panose="020B0604020202020204" pitchFamily="34" charset="0"/>
              <a:buChar char="●"/>
            </a:pPr>
            <a:endParaRPr lang="en-US" altLang="en-US" dirty="0">
              <a:solidFill>
                <a:srgbClr val="000000"/>
              </a:solidFill>
              <a:ea typeface="MS PGothic" panose="020B0600070205080204" pitchFamily="34" charset="-128"/>
            </a:endParaRPr>
          </a:p>
          <a:p>
            <a:pPr marL="457200" indent="-381000">
              <a:spcBef>
                <a:spcPct val="0"/>
              </a:spcBef>
              <a:buClr>
                <a:srgbClr val="000000"/>
              </a:buClr>
              <a:buFont typeface="Arial" panose="020B0604020202020204" pitchFamily="34" charset="0"/>
              <a:buChar char="●"/>
            </a:pPr>
            <a:r>
              <a:rPr lang="en-US" altLang="en-US" b="1" dirty="0">
                <a:solidFill>
                  <a:srgbClr val="000000"/>
                </a:solidFill>
                <a:ea typeface="MS PGothic" panose="020B0600070205080204" pitchFamily="34" charset="-128"/>
              </a:rPr>
              <a:t>Uses URI addressable resources</a:t>
            </a:r>
            <a:r>
              <a:rPr lang="en-US" altLang="en-US" dirty="0">
                <a:solidFill>
                  <a:srgbClr val="000000"/>
                </a:solidFill>
                <a:ea typeface="MS PGothic" panose="020B0600070205080204" pitchFamily="34" charset="-128"/>
              </a:rPr>
              <a:t>. Client request is mapped into the URI. The addressable </a:t>
            </a:r>
            <a:r>
              <a:rPr lang="en-US" altLang="en-US" b="1" dirty="0">
                <a:solidFill>
                  <a:srgbClr val="000000"/>
                </a:solidFill>
                <a:ea typeface="MS PGothic" panose="020B0600070205080204" pitchFamily="34" charset="-128"/>
              </a:rPr>
              <a:t>resource provides the response </a:t>
            </a:r>
            <a:r>
              <a:rPr lang="en-US" altLang="en-US" dirty="0">
                <a:solidFill>
                  <a:srgbClr val="000000"/>
                </a:solidFill>
                <a:ea typeface="MS PGothic" panose="020B0600070205080204" pitchFamily="34" charset="-128"/>
              </a:rPr>
              <a:t>– a “transferred state, </a:t>
            </a:r>
            <a:r>
              <a:rPr lang="en-US" altLang="en-US" b="1" dirty="0">
                <a:solidFill>
                  <a:srgbClr val="000000"/>
                </a:solidFill>
                <a:ea typeface="MS PGothic" panose="020B0600070205080204" pitchFamily="34" charset="-128"/>
              </a:rPr>
              <a:t>based on a specific representation as desired by the client</a:t>
            </a:r>
            <a:r>
              <a:rPr lang="en-US" altLang="en-US" dirty="0">
                <a:solidFill>
                  <a:srgbClr val="000000"/>
                </a:solidFill>
                <a:ea typeface="MS PGothic" panose="020B0600070205080204" pitchFamily="34" charset="-128"/>
              </a:rPr>
              <a:t>”</a:t>
            </a:r>
          </a:p>
          <a:p>
            <a:pPr marL="457200" indent="-381000">
              <a:spcBef>
                <a:spcPct val="0"/>
              </a:spcBef>
              <a:buClr>
                <a:srgbClr val="000000"/>
              </a:buClr>
              <a:buFont typeface="Arial" panose="020B0604020202020204" pitchFamily="34" charset="0"/>
              <a:buChar char="●"/>
            </a:pPr>
            <a:endParaRPr lang="en-US" altLang="ja-JP" dirty="0">
              <a:solidFill>
                <a:srgbClr val="000000"/>
              </a:solidFill>
              <a:ea typeface="MS PGothic" panose="020B0600070205080204" pitchFamily="34" charset="-128"/>
            </a:endParaRPr>
          </a:p>
          <a:p>
            <a:pPr marL="457200" indent="-381000">
              <a:spcBef>
                <a:spcPts val="600"/>
              </a:spcBef>
              <a:buClr>
                <a:srgbClr val="000000"/>
              </a:buClr>
              <a:buFont typeface="Arial" panose="020B0604020202020204" pitchFamily="34" charset="0"/>
              <a:buChar char="●"/>
            </a:pPr>
            <a:r>
              <a:rPr lang="en-US" altLang="en-US" dirty="0">
                <a:solidFill>
                  <a:srgbClr val="000000"/>
                </a:solidFill>
                <a:ea typeface="MS PGothic" panose="020B0600070205080204" pitchFamily="34" charset="-128"/>
              </a:rPr>
              <a:t>RESTful systems use a simple, constrained interface to interact: the Hypertext Transfer Protocol with the same HTTP verbs (</a:t>
            </a:r>
            <a:r>
              <a:rPr lang="en-US" altLang="en-US" b="1" dirty="0">
                <a:solidFill>
                  <a:srgbClr val="000000"/>
                </a:solidFill>
                <a:ea typeface="MS PGothic" panose="020B0600070205080204" pitchFamily="34" charset="-128"/>
              </a:rPr>
              <a:t>GET, POST, PUT, DELETE, etc</a:t>
            </a:r>
            <a:r>
              <a:rPr lang="en-US" altLang="en-US" dirty="0">
                <a:solidFill>
                  <a:srgbClr val="000000"/>
                </a:solidFill>
                <a:ea typeface="MS PGothic" panose="020B0600070205080204" pitchFamily="34" charset="-128"/>
              </a:rPr>
              <a:t>.) used by web browsers to retrieve/send data to remote servers.</a:t>
            </a:r>
          </a:p>
        </p:txBody>
      </p:sp>
      <p:sp>
        <p:nvSpPr>
          <p:cNvPr id="4" name="TextBox 3">
            <a:extLst>
              <a:ext uri="{FF2B5EF4-FFF2-40B4-BE49-F238E27FC236}">
                <a16:creationId xmlns:a16="http://schemas.microsoft.com/office/drawing/2014/main" id="{F097924A-D8ED-1447-A694-5769EA4F1897}"/>
              </a:ext>
            </a:extLst>
          </p:cNvPr>
          <p:cNvSpPr txBox="1"/>
          <p:nvPr/>
        </p:nvSpPr>
        <p:spPr>
          <a:xfrm>
            <a:off x="3463328" y="6556926"/>
            <a:ext cx="8728672" cy="261610"/>
          </a:xfrm>
          <a:prstGeom prst="rect">
            <a:avLst/>
          </a:prstGeom>
          <a:noFill/>
        </p:spPr>
        <p:txBody>
          <a:bodyPr wrap="none" rtlCol="0">
            <a:spAutoFit/>
          </a:bodyPr>
          <a:lstStyle/>
          <a:p>
            <a:r>
              <a:rPr lang="en-US" sz="1100" dirty="0"/>
              <a:t>* Thomas Fielding PhD Dissertation at UC Irvine (2000): Architectural Styles and the Design of Network-based Software Architectures </a:t>
            </a:r>
          </a:p>
        </p:txBody>
      </p:sp>
    </p:spTree>
    <p:extLst>
      <p:ext uri="{BB962C8B-B14F-4D97-AF65-F5344CB8AC3E}">
        <p14:creationId xmlns:p14="http://schemas.microsoft.com/office/powerpoint/2010/main" val="4169114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9B6A2-EC3F-1942-AE0D-22E327801CC2}"/>
              </a:ext>
            </a:extLst>
          </p:cNvPr>
          <p:cNvSpPr>
            <a:spLocks noGrp="1"/>
          </p:cNvSpPr>
          <p:nvPr>
            <p:ph type="title"/>
          </p:nvPr>
        </p:nvSpPr>
        <p:spPr/>
        <p:txBody>
          <a:bodyPr/>
          <a:lstStyle/>
          <a:p>
            <a:r>
              <a:rPr lang="en-US" b="1" dirty="0" err="1"/>
              <a:t>RE</a:t>
            </a:r>
            <a:r>
              <a:rPr lang="en-US" dirty="0" err="1"/>
              <a:t>presentational</a:t>
            </a:r>
            <a:r>
              <a:rPr lang="en-US" dirty="0"/>
              <a:t> </a:t>
            </a:r>
            <a:r>
              <a:rPr lang="en-US" b="1" dirty="0"/>
              <a:t>S</a:t>
            </a:r>
            <a:r>
              <a:rPr lang="en-US" dirty="0"/>
              <a:t>tate </a:t>
            </a:r>
            <a:r>
              <a:rPr lang="en-US" b="1" dirty="0"/>
              <a:t>T</a:t>
            </a:r>
            <a:r>
              <a:rPr lang="en-US" dirty="0"/>
              <a:t>ransfer</a:t>
            </a:r>
          </a:p>
        </p:txBody>
      </p:sp>
      <p:sp>
        <p:nvSpPr>
          <p:cNvPr id="3" name="Content Placeholder 2">
            <a:extLst>
              <a:ext uri="{FF2B5EF4-FFF2-40B4-BE49-F238E27FC236}">
                <a16:creationId xmlns:a16="http://schemas.microsoft.com/office/drawing/2014/main" id="{E477FC8C-1EE9-2740-B33E-B1AC00E805BC}"/>
              </a:ext>
            </a:extLst>
          </p:cNvPr>
          <p:cNvSpPr>
            <a:spLocks noGrp="1"/>
          </p:cNvSpPr>
          <p:nvPr>
            <p:ph idx="1"/>
          </p:nvPr>
        </p:nvSpPr>
        <p:spPr>
          <a:xfrm>
            <a:off x="1115568" y="2257307"/>
            <a:ext cx="10168128" cy="4379976"/>
          </a:xfrm>
        </p:spPr>
        <p:txBody>
          <a:bodyPr>
            <a:normAutofit fontScale="85000" lnSpcReduction="10000"/>
          </a:bodyPr>
          <a:lstStyle/>
          <a:p>
            <a:pPr marL="76200" indent="0">
              <a:spcBef>
                <a:spcPct val="0"/>
              </a:spcBef>
              <a:buClr>
                <a:srgbClr val="000000"/>
              </a:buClr>
              <a:buSzPct val="100000"/>
              <a:buNone/>
              <a:defRPr/>
            </a:pPr>
            <a:r>
              <a:rPr lang="en-US" sz="4000" dirty="0">
                <a:solidFill>
                  <a:srgbClr val="000000"/>
                </a:solidFill>
              </a:rPr>
              <a:t>A REST Web service follows four basic design principles:</a:t>
            </a:r>
          </a:p>
          <a:p>
            <a:pPr marL="457200" indent="-381000">
              <a:lnSpc>
                <a:spcPct val="150000"/>
              </a:lnSpc>
              <a:spcBef>
                <a:spcPct val="0"/>
              </a:spcBef>
              <a:buClr>
                <a:srgbClr val="000000"/>
              </a:buClr>
              <a:buSzPct val="100000"/>
              <a:buFont typeface="+mj-lt"/>
              <a:buAutoNum type="arabicPeriod"/>
              <a:defRPr/>
            </a:pPr>
            <a:r>
              <a:rPr lang="en-US" dirty="0">
                <a:solidFill>
                  <a:srgbClr val="000000"/>
                </a:solidFill>
              </a:rPr>
              <a:t>Use HTTP methods explicitly, as a simple interface to web services.</a:t>
            </a:r>
          </a:p>
          <a:p>
            <a:pPr marL="457200" indent="-381000">
              <a:lnSpc>
                <a:spcPct val="150000"/>
              </a:lnSpc>
              <a:spcBef>
                <a:spcPct val="0"/>
              </a:spcBef>
              <a:buClr>
                <a:srgbClr val="000000"/>
              </a:buClr>
              <a:buSzPct val="100000"/>
              <a:buFont typeface="+mj-lt"/>
              <a:buAutoNum type="arabicPeriod"/>
              <a:defRPr/>
            </a:pPr>
            <a:r>
              <a:rPr lang="en-US" dirty="0">
                <a:solidFill>
                  <a:srgbClr val="000000"/>
                </a:solidFill>
              </a:rPr>
              <a:t>Stay stateless.</a:t>
            </a:r>
          </a:p>
          <a:p>
            <a:pPr marL="457200" indent="-381000">
              <a:lnSpc>
                <a:spcPct val="150000"/>
              </a:lnSpc>
              <a:spcBef>
                <a:spcPct val="0"/>
              </a:spcBef>
              <a:buClr>
                <a:srgbClr val="000000"/>
              </a:buClr>
              <a:buSzPct val="100000"/>
              <a:buFont typeface="+mj-lt"/>
              <a:buAutoNum type="arabicPeriod"/>
              <a:defRPr/>
            </a:pPr>
            <a:r>
              <a:rPr lang="en-US" dirty="0">
                <a:solidFill>
                  <a:srgbClr val="000000"/>
                </a:solidFill>
              </a:rPr>
              <a:t>Expose “</a:t>
            </a:r>
            <a:r>
              <a:rPr lang="en-US" b="1" dirty="0">
                <a:solidFill>
                  <a:srgbClr val="000000"/>
                </a:solidFill>
              </a:rPr>
              <a:t>directory structure</a:t>
            </a:r>
            <a:r>
              <a:rPr lang="en-US" dirty="0">
                <a:solidFill>
                  <a:srgbClr val="000000"/>
                </a:solidFill>
              </a:rPr>
              <a:t>”-like (tree) of URIs.</a:t>
            </a:r>
          </a:p>
          <a:p>
            <a:pPr marL="457200" indent="-381000">
              <a:lnSpc>
                <a:spcPct val="150000"/>
              </a:lnSpc>
              <a:spcBef>
                <a:spcPct val="0"/>
              </a:spcBef>
              <a:buClr>
                <a:srgbClr val="000000"/>
              </a:buClr>
              <a:buSzPct val="100000"/>
              <a:buFont typeface="+mj-lt"/>
              <a:buAutoNum type="arabicPeriod"/>
              <a:defRPr/>
            </a:pPr>
            <a:r>
              <a:rPr lang="en-US" dirty="0">
                <a:solidFill>
                  <a:srgbClr val="000000"/>
                </a:solidFill>
              </a:rPr>
              <a:t>Transfer different representations of the state: HTML for Web browsers, JSON (e.g., for JavaScript), and XML (e.g., for Java apps). </a:t>
            </a:r>
          </a:p>
        </p:txBody>
      </p:sp>
    </p:spTree>
    <p:extLst>
      <p:ext uri="{BB962C8B-B14F-4D97-AF65-F5344CB8AC3E}">
        <p14:creationId xmlns:p14="http://schemas.microsoft.com/office/powerpoint/2010/main" val="1481675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9B6A2-EC3F-1942-AE0D-22E327801CC2}"/>
              </a:ext>
            </a:extLst>
          </p:cNvPr>
          <p:cNvSpPr>
            <a:spLocks noGrp="1"/>
          </p:cNvSpPr>
          <p:nvPr>
            <p:ph type="title"/>
          </p:nvPr>
        </p:nvSpPr>
        <p:spPr/>
        <p:txBody>
          <a:bodyPr>
            <a:normAutofit/>
          </a:bodyPr>
          <a:lstStyle/>
          <a:p>
            <a:r>
              <a:rPr lang="en-US" dirty="0"/>
              <a:t>A Simple Web Service as an Example</a:t>
            </a:r>
          </a:p>
        </p:txBody>
      </p:sp>
      <p:sp>
        <p:nvSpPr>
          <p:cNvPr id="5" name="Content Placeholder 4">
            <a:extLst>
              <a:ext uri="{FF2B5EF4-FFF2-40B4-BE49-F238E27FC236}">
                <a16:creationId xmlns:a16="http://schemas.microsoft.com/office/drawing/2014/main" id="{589238C6-4227-4B40-B42B-4D93EA2014C3}"/>
              </a:ext>
            </a:extLst>
          </p:cNvPr>
          <p:cNvSpPr>
            <a:spLocks noGrp="1"/>
          </p:cNvSpPr>
          <p:nvPr>
            <p:ph idx="1"/>
          </p:nvPr>
        </p:nvSpPr>
        <p:spPr>
          <a:xfrm>
            <a:off x="887388" y="1952507"/>
            <a:ext cx="10624487" cy="914401"/>
          </a:xfrm>
        </p:spPr>
        <p:txBody>
          <a:bodyPr>
            <a:normAutofit fontScale="92500"/>
          </a:bodyPr>
          <a:lstStyle/>
          <a:p>
            <a:pPr marL="0" indent="0">
              <a:buNone/>
            </a:pPr>
            <a:r>
              <a:rPr lang="en-US" dirty="0"/>
              <a:t>Querying a phonebook application for the details of a given user.</a:t>
            </a:r>
          </a:p>
        </p:txBody>
      </p:sp>
      <p:sp>
        <p:nvSpPr>
          <p:cNvPr id="7" name="Shape 89">
            <a:extLst>
              <a:ext uri="{FF2B5EF4-FFF2-40B4-BE49-F238E27FC236}">
                <a16:creationId xmlns:a16="http://schemas.microsoft.com/office/drawing/2014/main" id="{8A7B0038-D216-2A40-9701-7A873C3FCBFA}"/>
              </a:ext>
            </a:extLst>
          </p:cNvPr>
          <p:cNvSpPr txBox="1">
            <a:spLocks/>
          </p:cNvSpPr>
          <p:nvPr/>
        </p:nvSpPr>
        <p:spPr bwMode="auto">
          <a:xfrm>
            <a:off x="181944" y="2497052"/>
            <a:ext cx="7635766" cy="3352800"/>
          </a:xfrm>
          <a:prstGeom prst="rect">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extLst>
            <a:ext uri="{FAA26D3D-D897-4be2-8F04-BA451C77F1D7}">
              <ma14:placeholderFlag xmlns:ma14="http://schemas.microsoft.com/office/mac/drawingml/2011/main" xmlns="" val="1"/>
            </a:ext>
          </a:extLst>
        </p:spPr>
        <p:style>
          <a:lnRef idx="1">
            <a:schemeClr val="accent6"/>
          </a:lnRef>
          <a:fillRef idx="3">
            <a:schemeClr val="accent6"/>
          </a:fillRef>
          <a:effectRef idx="2">
            <a:schemeClr val="accent6"/>
          </a:effectRef>
          <a:fontRef idx="minor">
            <a:schemeClr val="lt1"/>
          </a:fontRef>
        </p:style>
        <p:txBody>
          <a:bodyPr lIns="91425" tIns="91425" rIns="91425" bIns="91425"/>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692150" indent="-347663">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987425" indent="-293688">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281113" indent="-2921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1598613" indent="-315913">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055813" indent="-3159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513013" indent="-3159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2970213" indent="-3159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427413" indent="-3159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nSpc>
                <a:spcPct val="80000"/>
              </a:lnSpc>
              <a:spcBef>
                <a:spcPct val="0"/>
              </a:spcBef>
              <a:buClr>
                <a:schemeClr val="tx2"/>
              </a:buClr>
              <a:buSzPct val="70000"/>
              <a:buFont typeface="Wingdings" pitchFamily="2" charset="2"/>
              <a:buNone/>
            </a:pPr>
            <a:r>
              <a:rPr lang="en-US" altLang="en-US" sz="1800" b="1" dirty="0">
                <a:latin typeface="Perpetua" panose="02020502060401020303" pitchFamily="18" charset="77"/>
                <a:ea typeface="MS PGothic" panose="020B0600070205080204" pitchFamily="34" charset="-128"/>
              </a:rPr>
              <a:t>Using </a:t>
            </a:r>
            <a:r>
              <a:rPr lang="en-US" altLang="en-US" sz="1800" b="1" u="sng" dirty="0">
                <a:latin typeface="Perpetua" panose="02020502060401020303" pitchFamily="18" charset="77"/>
                <a:ea typeface="MS PGothic" panose="020B0600070205080204" pitchFamily="34" charset="-128"/>
              </a:rPr>
              <a:t>SOAP</a:t>
            </a:r>
            <a:r>
              <a:rPr lang="en-US" altLang="en-US" sz="1800" b="1" dirty="0">
                <a:latin typeface="Perpetua" panose="02020502060401020303" pitchFamily="18" charset="77"/>
                <a:ea typeface="MS PGothic" panose="020B0600070205080204" pitchFamily="34" charset="-128"/>
              </a:rPr>
              <a:t> Web Services:</a:t>
            </a:r>
          </a:p>
          <a:p>
            <a:pPr>
              <a:lnSpc>
                <a:spcPct val="80000"/>
              </a:lnSpc>
              <a:spcBef>
                <a:spcPct val="0"/>
              </a:spcBef>
              <a:buClr>
                <a:schemeClr val="tx2"/>
              </a:buClr>
              <a:buSzPct val="70000"/>
              <a:buFont typeface="Wingdings" pitchFamily="2" charset="2"/>
              <a:buNone/>
            </a:pPr>
            <a:r>
              <a:rPr lang="en-US" altLang="en-US" sz="1800" b="1" dirty="0">
                <a:latin typeface="Perpetua" panose="02020502060401020303" pitchFamily="18" charset="77"/>
                <a:ea typeface="MS PGothic" panose="020B0600070205080204" pitchFamily="34" charset="-128"/>
              </a:rPr>
              <a:t>The request would look something like this:</a:t>
            </a:r>
          </a:p>
          <a:p>
            <a:pPr>
              <a:lnSpc>
                <a:spcPct val="80000"/>
              </a:lnSpc>
              <a:spcBef>
                <a:spcPct val="0"/>
              </a:spcBef>
              <a:buClr>
                <a:schemeClr val="tx2"/>
              </a:buClr>
              <a:buSzPct val="70000"/>
              <a:buFont typeface="Wingdings" pitchFamily="2" charset="2"/>
              <a:buNone/>
            </a:pPr>
            <a:endParaRPr lang="en-US" altLang="en-US" sz="1800" b="1" dirty="0">
              <a:latin typeface="Perpetua" panose="02020502060401020303" pitchFamily="18" charset="77"/>
              <a:ea typeface="MS PGothic" panose="020B0600070205080204" pitchFamily="34" charset="-128"/>
            </a:endParaRPr>
          </a:p>
          <a:p>
            <a:pPr>
              <a:lnSpc>
                <a:spcPct val="80000"/>
              </a:lnSpc>
              <a:spcBef>
                <a:spcPct val="0"/>
              </a:spcBef>
              <a:buClr>
                <a:schemeClr val="tx2"/>
              </a:buClr>
              <a:buSzPct val="70000"/>
              <a:buFont typeface="Wingdings 2" pitchFamily="2" charset="2"/>
              <a:buNone/>
            </a:pPr>
            <a:r>
              <a:rPr lang="en-US" altLang="en-US" sz="1800" dirty="0">
                <a:solidFill>
                  <a:srgbClr val="0070C0"/>
                </a:solidFill>
                <a:latin typeface="Perpetua" panose="02020502060401020303" pitchFamily="18" charset="77"/>
                <a:ea typeface="MS PGothic" panose="020B0600070205080204" pitchFamily="34" charset="-128"/>
              </a:rPr>
              <a:t>&lt;?xml version="1.0"?&gt; </a:t>
            </a:r>
          </a:p>
          <a:p>
            <a:pPr>
              <a:lnSpc>
                <a:spcPct val="80000"/>
              </a:lnSpc>
              <a:spcBef>
                <a:spcPct val="0"/>
              </a:spcBef>
              <a:buClr>
                <a:schemeClr val="tx2"/>
              </a:buClr>
              <a:buSzPct val="70000"/>
              <a:buFont typeface="Wingdings 2" pitchFamily="2" charset="2"/>
              <a:buNone/>
            </a:pPr>
            <a:r>
              <a:rPr lang="en-US" altLang="en-US" sz="1800" dirty="0">
                <a:latin typeface="Perpetua" panose="02020502060401020303" pitchFamily="18" charset="77"/>
                <a:ea typeface="MS PGothic" panose="020B0600070205080204" pitchFamily="34" charset="-128"/>
              </a:rPr>
              <a:t>&lt;</a:t>
            </a:r>
            <a:r>
              <a:rPr lang="en-US" altLang="en-US" sz="1800" dirty="0" err="1">
                <a:solidFill>
                  <a:srgbClr val="FF0000"/>
                </a:solidFill>
                <a:latin typeface="Perpetua" panose="02020502060401020303" pitchFamily="18" charset="77"/>
                <a:ea typeface="MS PGothic" panose="020B0600070205080204" pitchFamily="34" charset="-128"/>
              </a:rPr>
              <a:t>soap:Envelope</a:t>
            </a:r>
            <a:r>
              <a:rPr lang="en-US" altLang="en-US" sz="1800" dirty="0">
                <a:latin typeface="Perpetua" panose="02020502060401020303" pitchFamily="18" charset="77"/>
                <a:ea typeface="MS PGothic" panose="020B0600070205080204" pitchFamily="34" charset="-128"/>
              </a:rPr>
              <a:t> </a:t>
            </a:r>
          </a:p>
          <a:p>
            <a:pPr>
              <a:lnSpc>
                <a:spcPct val="80000"/>
              </a:lnSpc>
              <a:spcBef>
                <a:spcPct val="0"/>
              </a:spcBef>
              <a:buClr>
                <a:schemeClr val="tx2"/>
              </a:buClr>
              <a:buSzPct val="70000"/>
              <a:buFont typeface="Wingdings 2" pitchFamily="2" charset="2"/>
              <a:buNone/>
            </a:pPr>
            <a:r>
              <a:rPr lang="en-US" altLang="en-US" sz="1800" dirty="0">
                <a:latin typeface="Perpetua" panose="02020502060401020303" pitchFamily="18" charset="77"/>
                <a:ea typeface="MS PGothic" panose="020B0600070205080204" pitchFamily="34" charset="-128"/>
              </a:rPr>
              <a:t>   </a:t>
            </a:r>
            <a:r>
              <a:rPr lang="en-US" altLang="en-US" sz="1800" dirty="0" err="1">
                <a:latin typeface="Perpetua" panose="02020502060401020303" pitchFamily="18" charset="77"/>
                <a:ea typeface="MS PGothic" panose="020B0600070205080204" pitchFamily="34" charset="-128"/>
              </a:rPr>
              <a:t>xmlns:soap</a:t>
            </a:r>
            <a:r>
              <a:rPr lang="en-US" altLang="en-US" sz="1800" dirty="0">
                <a:latin typeface="Perpetua" panose="02020502060401020303" pitchFamily="18" charset="77"/>
                <a:ea typeface="MS PGothic" panose="020B0600070205080204" pitchFamily="34" charset="-128"/>
              </a:rPr>
              <a:t>="http://www.w3.org/2001/12/soap-envelope"</a:t>
            </a:r>
            <a:br>
              <a:rPr lang="en-US" altLang="en-US" sz="1800" dirty="0">
                <a:latin typeface="Perpetua" panose="02020502060401020303" pitchFamily="18" charset="77"/>
                <a:ea typeface="MS PGothic" panose="020B0600070205080204" pitchFamily="34" charset="-128"/>
              </a:rPr>
            </a:br>
            <a:r>
              <a:rPr lang="en-US" altLang="en-US" sz="1800" dirty="0" err="1">
                <a:latin typeface="Perpetua" panose="02020502060401020303" pitchFamily="18" charset="77"/>
                <a:ea typeface="MS PGothic" panose="020B0600070205080204" pitchFamily="34" charset="-128"/>
              </a:rPr>
              <a:t>soap:encodingStyle</a:t>
            </a:r>
            <a:r>
              <a:rPr lang="en-US" altLang="en-US" sz="1800" dirty="0">
                <a:latin typeface="Perpetua" panose="02020502060401020303" pitchFamily="18" charset="77"/>
                <a:ea typeface="MS PGothic" panose="020B0600070205080204" pitchFamily="34" charset="-128"/>
              </a:rPr>
              <a:t>="http://www.w3.org/2001/12/soap-encoding"&gt; </a:t>
            </a:r>
          </a:p>
          <a:p>
            <a:pPr>
              <a:lnSpc>
                <a:spcPct val="80000"/>
              </a:lnSpc>
              <a:spcBef>
                <a:spcPct val="0"/>
              </a:spcBef>
              <a:buClr>
                <a:schemeClr val="tx2"/>
              </a:buClr>
              <a:buSzPct val="70000"/>
              <a:buFont typeface="Wingdings 2" pitchFamily="2" charset="2"/>
              <a:buNone/>
            </a:pPr>
            <a:r>
              <a:rPr lang="en-US" altLang="en-US" sz="1800" dirty="0">
                <a:latin typeface="Perpetua" panose="02020502060401020303" pitchFamily="18" charset="77"/>
                <a:ea typeface="MS PGothic" panose="020B0600070205080204" pitchFamily="34" charset="-128"/>
              </a:rPr>
              <a:t>		&lt;</a:t>
            </a:r>
            <a:r>
              <a:rPr lang="en-US" altLang="en-US" sz="1800" dirty="0" err="1">
                <a:solidFill>
                  <a:srgbClr val="0070C0"/>
                </a:solidFill>
                <a:latin typeface="Perpetua" panose="02020502060401020303" pitchFamily="18" charset="77"/>
                <a:ea typeface="MS PGothic" panose="020B0600070205080204" pitchFamily="34" charset="-128"/>
              </a:rPr>
              <a:t>soap:body</a:t>
            </a:r>
            <a:r>
              <a:rPr lang="en-US" altLang="en-US" sz="1800" dirty="0">
                <a:latin typeface="Perpetua" panose="02020502060401020303" pitchFamily="18" charset="77"/>
                <a:ea typeface="MS PGothic" panose="020B0600070205080204" pitchFamily="34" charset="-128"/>
              </a:rPr>
              <a:t> pb="http://</a:t>
            </a:r>
            <a:r>
              <a:rPr lang="en-US" altLang="en-US" sz="1800" dirty="0" err="1">
                <a:latin typeface="Perpetua" panose="02020502060401020303" pitchFamily="18" charset="77"/>
                <a:ea typeface="MS PGothic" panose="020B0600070205080204" pitchFamily="34" charset="-128"/>
              </a:rPr>
              <a:t>www.acme.com</a:t>
            </a:r>
            <a:r>
              <a:rPr lang="en-US" altLang="en-US" sz="1800" dirty="0">
                <a:latin typeface="Perpetua" panose="02020502060401020303" pitchFamily="18" charset="77"/>
                <a:ea typeface="MS PGothic" panose="020B0600070205080204" pitchFamily="34" charset="-128"/>
              </a:rPr>
              <a:t>/phonebook"&gt;</a:t>
            </a:r>
          </a:p>
          <a:p>
            <a:pPr>
              <a:lnSpc>
                <a:spcPct val="80000"/>
              </a:lnSpc>
              <a:spcBef>
                <a:spcPct val="0"/>
              </a:spcBef>
              <a:buClr>
                <a:schemeClr val="tx2"/>
              </a:buClr>
              <a:buSzPct val="70000"/>
              <a:buFont typeface="Wingdings 2" pitchFamily="2" charset="2"/>
              <a:buNone/>
            </a:pPr>
            <a:r>
              <a:rPr lang="en-US" altLang="en-US" sz="1800" dirty="0">
                <a:latin typeface="Perpetua" panose="02020502060401020303" pitchFamily="18" charset="77"/>
                <a:ea typeface="MS PGothic" panose="020B0600070205080204" pitchFamily="34" charset="-128"/>
              </a:rPr>
              <a:t>			&lt;</a:t>
            </a:r>
            <a:r>
              <a:rPr lang="en-US" altLang="en-US" sz="1800" dirty="0" err="1">
                <a:latin typeface="Perpetua" panose="02020502060401020303" pitchFamily="18" charset="77"/>
                <a:ea typeface="MS PGothic" panose="020B0600070205080204" pitchFamily="34" charset="-128"/>
              </a:rPr>
              <a:t>pb:GetUserDetails</a:t>
            </a:r>
            <a:r>
              <a:rPr lang="en-US" altLang="en-US" sz="1800" dirty="0">
                <a:latin typeface="Perpetua" panose="02020502060401020303" pitchFamily="18" charset="77"/>
                <a:ea typeface="MS PGothic" panose="020B0600070205080204" pitchFamily="34" charset="-128"/>
              </a:rPr>
              <a:t>&gt; </a:t>
            </a:r>
          </a:p>
          <a:p>
            <a:pPr>
              <a:lnSpc>
                <a:spcPct val="80000"/>
              </a:lnSpc>
              <a:spcBef>
                <a:spcPct val="0"/>
              </a:spcBef>
              <a:buClr>
                <a:schemeClr val="tx2"/>
              </a:buClr>
              <a:buSzPct val="70000"/>
              <a:buFont typeface="Wingdings 2" pitchFamily="2" charset="2"/>
              <a:buNone/>
            </a:pPr>
            <a:r>
              <a:rPr lang="en-US" altLang="en-US" sz="1800" dirty="0">
                <a:latin typeface="Perpetua" panose="02020502060401020303" pitchFamily="18" charset="77"/>
                <a:ea typeface="MS PGothic" panose="020B0600070205080204" pitchFamily="34" charset="-128"/>
              </a:rPr>
              <a:t>				&lt;</a:t>
            </a:r>
            <a:r>
              <a:rPr lang="en-US" altLang="en-US" sz="1800" dirty="0" err="1">
                <a:latin typeface="Perpetua" panose="02020502060401020303" pitchFamily="18" charset="77"/>
                <a:ea typeface="MS PGothic" panose="020B0600070205080204" pitchFamily="34" charset="-128"/>
              </a:rPr>
              <a:t>pb:UserID</a:t>
            </a:r>
            <a:r>
              <a:rPr lang="en-US" altLang="en-US" sz="1800" dirty="0">
                <a:latin typeface="Perpetua" panose="02020502060401020303" pitchFamily="18" charset="77"/>
                <a:ea typeface="MS PGothic" panose="020B0600070205080204" pitchFamily="34" charset="-128"/>
              </a:rPr>
              <a:t>&gt;12345&lt;/</a:t>
            </a:r>
            <a:r>
              <a:rPr lang="en-US" altLang="en-US" sz="1800" dirty="0" err="1">
                <a:latin typeface="Perpetua" panose="02020502060401020303" pitchFamily="18" charset="77"/>
                <a:ea typeface="MS PGothic" panose="020B0600070205080204" pitchFamily="34" charset="-128"/>
              </a:rPr>
              <a:t>pb:UserID</a:t>
            </a:r>
            <a:r>
              <a:rPr lang="en-US" altLang="en-US" sz="1800" dirty="0">
                <a:latin typeface="Perpetua" panose="02020502060401020303" pitchFamily="18" charset="77"/>
                <a:ea typeface="MS PGothic" panose="020B0600070205080204" pitchFamily="34" charset="-128"/>
              </a:rPr>
              <a:t>&gt; </a:t>
            </a:r>
          </a:p>
          <a:p>
            <a:pPr>
              <a:lnSpc>
                <a:spcPct val="80000"/>
              </a:lnSpc>
              <a:spcBef>
                <a:spcPct val="0"/>
              </a:spcBef>
              <a:buClr>
                <a:schemeClr val="tx2"/>
              </a:buClr>
              <a:buSzPct val="70000"/>
              <a:buFont typeface="Wingdings 2" pitchFamily="2" charset="2"/>
              <a:buNone/>
            </a:pPr>
            <a:r>
              <a:rPr lang="en-US" altLang="en-US" sz="1800" dirty="0">
                <a:latin typeface="Perpetua" panose="02020502060401020303" pitchFamily="18" charset="77"/>
                <a:ea typeface="MS PGothic" panose="020B0600070205080204" pitchFamily="34" charset="-128"/>
              </a:rPr>
              <a:t>			&lt;/</a:t>
            </a:r>
            <a:r>
              <a:rPr lang="en-US" altLang="en-US" sz="1800" dirty="0" err="1">
                <a:latin typeface="Perpetua" panose="02020502060401020303" pitchFamily="18" charset="77"/>
                <a:ea typeface="MS PGothic" panose="020B0600070205080204" pitchFamily="34" charset="-128"/>
              </a:rPr>
              <a:t>pb:GetUserDetails</a:t>
            </a:r>
            <a:r>
              <a:rPr lang="en-US" altLang="en-US" sz="1800" dirty="0">
                <a:latin typeface="Perpetua" panose="02020502060401020303" pitchFamily="18" charset="77"/>
                <a:ea typeface="MS PGothic" panose="020B0600070205080204" pitchFamily="34" charset="-128"/>
              </a:rPr>
              <a:t>&gt; </a:t>
            </a:r>
          </a:p>
          <a:p>
            <a:pPr>
              <a:lnSpc>
                <a:spcPct val="80000"/>
              </a:lnSpc>
              <a:spcBef>
                <a:spcPct val="0"/>
              </a:spcBef>
              <a:buClr>
                <a:schemeClr val="tx2"/>
              </a:buClr>
              <a:buSzPct val="70000"/>
              <a:buFont typeface="Wingdings 2" pitchFamily="2" charset="2"/>
              <a:buNone/>
            </a:pPr>
            <a:r>
              <a:rPr lang="en-US" altLang="en-US" sz="1800" dirty="0">
                <a:latin typeface="Perpetua" panose="02020502060401020303" pitchFamily="18" charset="77"/>
                <a:ea typeface="MS PGothic" panose="020B0600070205080204" pitchFamily="34" charset="-128"/>
              </a:rPr>
              <a:t>		&lt;</a:t>
            </a:r>
            <a:r>
              <a:rPr lang="en-US" altLang="en-US" sz="1800" dirty="0">
                <a:solidFill>
                  <a:srgbClr val="0070C0"/>
                </a:solidFill>
                <a:latin typeface="Perpetua" panose="02020502060401020303" pitchFamily="18" charset="77"/>
                <a:ea typeface="MS PGothic" panose="020B0600070205080204" pitchFamily="34" charset="-128"/>
              </a:rPr>
              <a:t>/</a:t>
            </a:r>
            <a:r>
              <a:rPr lang="en-US" altLang="en-US" sz="1800" dirty="0" err="1">
                <a:solidFill>
                  <a:srgbClr val="0070C0"/>
                </a:solidFill>
                <a:latin typeface="Perpetua" panose="02020502060401020303" pitchFamily="18" charset="77"/>
                <a:ea typeface="MS PGothic" panose="020B0600070205080204" pitchFamily="34" charset="-128"/>
              </a:rPr>
              <a:t>soap:Body</a:t>
            </a:r>
            <a:r>
              <a:rPr lang="en-US" altLang="en-US" sz="1800" dirty="0">
                <a:latin typeface="Perpetua" panose="02020502060401020303" pitchFamily="18" charset="77"/>
                <a:ea typeface="MS PGothic" panose="020B0600070205080204" pitchFamily="34" charset="-128"/>
              </a:rPr>
              <a:t>&gt; </a:t>
            </a:r>
          </a:p>
          <a:p>
            <a:pPr>
              <a:lnSpc>
                <a:spcPct val="80000"/>
              </a:lnSpc>
              <a:spcBef>
                <a:spcPct val="0"/>
              </a:spcBef>
              <a:buClr>
                <a:schemeClr val="tx2"/>
              </a:buClr>
              <a:buSzPct val="70000"/>
              <a:buFont typeface="Wingdings 2" pitchFamily="2" charset="2"/>
              <a:buNone/>
            </a:pPr>
            <a:r>
              <a:rPr lang="en-US" altLang="en-US" sz="1800" dirty="0">
                <a:latin typeface="Perpetua" panose="02020502060401020303" pitchFamily="18" charset="77"/>
                <a:ea typeface="MS PGothic" panose="020B0600070205080204" pitchFamily="34" charset="-128"/>
              </a:rPr>
              <a:t>&lt;</a:t>
            </a:r>
            <a:r>
              <a:rPr lang="en-US" altLang="en-US" sz="1800" dirty="0">
                <a:solidFill>
                  <a:srgbClr val="FF0000"/>
                </a:solidFill>
                <a:latin typeface="Perpetua" panose="02020502060401020303" pitchFamily="18" charset="77"/>
                <a:ea typeface="MS PGothic" panose="020B0600070205080204" pitchFamily="34" charset="-128"/>
              </a:rPr>
              <a:t>/</a:t>
            </a:r>
            <a:r>
              <a:rPr lang="en-US" altLang="en-US" sz="1800" dirty="0" err="1">
                <a:solidFill>
                  <a:srgbClr val="FF0000"/>
                </a:solidFill>
                <a:latin typeface="Perpetua" panose="02020502060401020303" pitchFamily="18" charset="77"/>
                <a:ea typeface="MS PGothic" panose="020B0600070205080204" pitchFamily="34" charset="-128"/>
              </a:rPr>
              <a:t>soap:Envelope</a:t>
            </a:r>
            <a:r>
              <a:rPr lang="en-US" altLang="en-US" sz="1800" dirty="0">
                <a:latin typeface="Perpetua" panose="02020502060401020303" pitchFamily="18" charset="77"/>
                <a:ea typeface="MS PGothic" panose="020B0600070205080204" pitchFamily="34" charset="-128"/>
              </a:rPr>
              <a:t>&gt;</a:t>
            </a:r>
            <a:endParaRPr lang="en-US" altLang="en-US" sz="1400" dirty="0">
              <a:latin typeface="Perpetua" panose="02020502060401020303" pitchFamily="18" charset="77"/>
              <a:ea typeface="MS PGothic" panose="020B0600070205080204" pitchFamily="34" charset="-128"/>
            </a:endParaRPr>
          </a:p>
        </p:txBody>
      </p:sp>
      <p:sp>
        <p:nvSpPr>
          <p:cNvPr id="6" name="Text Placeholder 2">
            <a:extLst>
              <a:ext uri="{FF2B5EF4-FFF2-40B4-BE49-F238E27FC236}">
                <a16:creationId xmlns:a16="http://schemas.microsoft.com/office/drawing/2014/main" id="{96B54B0D-0BC4-A842-BA76-38A4A5EDB1EF}"/>
              </a:ext>
            </a:extLst>
          </p:cNvPr>
          <p:cNvSpPr txBox="1">
            <a:spLocks/>
          </p:cNvSpPr>
          <p:nvPr/>
        </p:nvSpPr>
        <p:spPr>
          <a:xfrm>
            <a:off x="4390753" y="5454088"/>
            <a:ext cx="5860358" cy="1064999"/>
          </a:xfrm>
          <a:prstGeom prst="rect">
            <a:avLst/>
          </a:pr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p:spPr>
        <p:style>
          <a:lnRef idx="1">
            <a:schemeClr val="accent6"/>
          </a:lnRef>
          <a:fillRef idx="3">
            <a:schemeClr val="accent6"/>
          </a:fillRef>
          <a:effectRef idx="2">
            <a:schemeClr val="accent6"/>
          </a:effectRef>
          <a:fontRef idx="minor">
            <a:schemeClr val="lt1"/>
          </a:fontRef>
        </p:style>
        <p:txBody>
          <a:bodyPr lIns="91425" tIns="91425" rIns="91425" bIns="91425"/>
          <a:lstStyle>
            <a:defPPr>
              <a:defRPr lang="en-US"/>
            </a:defPPr>
            <a:lvl1pPr>
              <a:lnSpc>
                <a:spcPct val="80000"/>
              </a:lnSpc>
              <a:spcBef>
                <a:spcPct val="0"/>
              </a:spcBef>
              <a:buClr>
                <a:schemeClr val="tx2"/>
              </a:buClr>
              <a:buSzPct val="70000"/>
              <a:buFont typeface="Wingdings" pitchFamily="2" charset="2"/>
              <a:buNone/>
              <a:defRPr b="1">
                <a:solidFill>
                  <a:schemeClr val="tx1"/>
                </a:solidFill>
                <a:latin typeface="Perpetua" panose="02020502060401020303" pitchFamily="18" charset="77"/>
                <a:ea typeface="MS PGothic" panose="020B0600070205080204" pitchFamily="34" charset="-128"/>
              </a:defRPr>
            </a:lvl1pPr>
            <a:lvl2pPr marL="692150" indent="-347663">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987425" indent="-293688">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281113" indent="-2921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1598613" indent="-315913">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055813" indent="-3159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513013" indent="-3159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2970213" indent="-3159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427413" indent="-3159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r>
              <a:rPr lang="en-US" altLang="en-US" u="sng" dirty="0"/>
              <a:t>Using REST</a:t>
            </a:r>
            <a:r>
              <a:rPr lang="en-US" altLang="en-US" dirty="0"/>
              <a:t>? </a:t>
            </a:r>
          </a:p>
          <a:p>
            <a:r>
              <a:rPr lang="en-US" altLang="en-US" dirty="0"/>
              <a:t>The query will look like this one liner:</a:t>
            </a:r>
          </a:p>
          <a:p>
            <a:endParaRPr lang="en-US" altLang="en-US" dirty="0"/>
          </a:p>
          <a:p>
            <a:r>
              <a:rPr lang="en-US" altLang="en-US" dirty="0"/>
              <a:t>http://</a:t>
            </a:r>
            <a:r>
              <a:rPr lang="en-US" altLang="en-US" dirty="0" err="1"/>
              <a:t>www.acme.com</a:t>
            </a:r>
            <a:r>
              <a:rPr lang="en-US" altLang="en-US" dirty="0"/>
              <a:t>/phonebook/</a:t>
            </a:r>
            <a:r>
              <a:rPr lang="en-US" altLang="en-US" dirty="0" err="1"/>
              <a:t>UserDetails</a:t>
            </a:r>
            <a:r>
              <a:rPr lang="en-US" altLang="en-US" dirty="0"/>
              <a:t>/12345</a:t>
            </a:r>
          </a:p>
          <a:p>
            <a:endParaRPr lang="en-US" altLang="en-US" dirty="0"/>
          </a:p>
        </p:txBody>
      </p:sp>
    </p:spTree>
    <p:extLst>
      <p:ext uri="{BB962C8B-B14F-4D97-AF65-F5344CB8AC3E}">
        <p14:creationId xmlns:p14="http://schemas.microsoft.com/office/powerpoint/2010/main" val="1503374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0AF46-2960-4E46-8631-BCEDF445CD32}"/>
              </a:ext>
            </a:extLst>
          </p:cNvPr>
          <p:cNvSpPr>
            <a:spLocks noGrp="1"/>
          </p:cNvSpPr>
          <p:nvPr>
            <p:ph type="title"/>
          </p:nvPr>
        </p:nvSpPr>
        <p:spPr/>
        <p:txBody>
          <a:bodyPr/>
          <a:lstStyle/>
          <a:p>
            <a:r>
              <a:rPr lang="en-US" dirty="0"/>
              <a:t>REST Request/Response</a:t>
            </a:r>
          </a:p>
        </p:txBody>
      </p:sp>
      <p:pic>
        <p:nvPicPr>
          <p:cNvPr id="4" name="Picture 2">
            <a:extLst>
              <a:ext uri="{FF2B5EF4-FFF2-40B4-BE49-F238E27FC236}">
                <a16:creationId xmlns:a16="http://schemas.microsoft.com/office/drawing/2014/main" id="{DCBBB41C-074D-9648-A645-FBD2284225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500491" y="1996251"/>
            <a:ext cx="7991475" cy="4708525"/>
          </a:xfrm>
          <a:prstGeom prst="rect">
            <a:avLst/>
          </a:prstGeom>
        </p:spPr>
      </p:pic>
      <p:sp>
        <p:nvSpPr>
          <p:cNvPr id="5" name="Oval 4">
            <a:extLst>
              <a:ext uri="{FF2B5EF4-FFF2-40B4-BE49-F238E27FC236}">
                <a16:creationId xmlns:a16="http://schemas.microsoft.com/office/drawing/2014/main" id="{A69883E8-E1DD-1C41-B688-04B60E392877}"/>
              </a:ext>
            </a:extLst>
          </p:cNvPr>
          <p:cNvSpPr/>
          <p:nvPr/>
        </p:nvSpPr>
        <p:spPr>
          <a:xfrm>
            <a:off x="9045146" y="6277232"/>
            <a:ext cx="630194" cy="5807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23620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12073-9B5F-FEC1-099D-3FB435A0A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6F09CF-2951-CD09-EF1D-FAAC78F86A2E}"/>
              </a:ext>
            </a:extLst>
          </p:cNvPr>
          <p:cNvSpPr>
            <a:spLocks noGrp="1"/>
          </p:cNvSpPr>
          <p:nvPr>
            <p:ph type="title"/>
          </p:nvPr>
        </p:nvSpPr>
        <p:spPr/>
        <p:txBody>
          <a:bodyPr/>
          <a:lstStyle/>
          <a:p>
            <a:r>
              <a:rPr lang="en-US" dirty="0"/>
              <a:t>RESTful IoT</a:t>
            </a:r>
          </a:p>
        </p:txBody>
      </p:sp>
      <p:sp>
        <p:nvSpPr>
          <p:cNvPr id="3" name="Content Placeholder 2">
            <a:extLst>
              <a:ext uri="{FF2B5EF4-FFF2-40B4-BE49-F238E27FC236}">
                <a16:creationId xmlns:a16="http://schemas.microsoft.com/office/drawing/2014/main" id="{1A1C1A07-1DD8-9349-7F28-FEDC6EAF7C85}"/>
              </a:ext>
            </a:extLst>
          </p:cNvPr>
          <p:cNvSpPr>
            <a:spLocks noGrp="1"/>
          </p:cNvSpPr>
          <p:nvPr>
            <p:ph idx="1"/>
          </p:nvPr>
        </p:nvSpPr>
        <p:spPr>
          <a:xfrm>
            <a:off x="1115568" y="1728216"/>
            <a:ext cx="10168128" cy="5032802"/>
          </a:xfrm>
        </p:spPr>
        <p:txBody>
          <a:bodyPr>
            <a:normAutofit lnSpcReduction="10000"/>
          </a:bodyPr>
          <a:lstStyle/>
          <a:p>
            <a:pPr marL="457200" indent="-381000">
              <a:lnSpc>
                <a:spcPct val="100000"/>
              </a:lnSpc>
              <a:spcBef>
                <a:spcPct val="0"/>
              </a:spcBef>
              <a:buClr>
                <a:srgbClr val="000000"/>
              </a:buClr>
              <a:buFont typeface="Arial" panose="020B0604020202020204" pitchFamily="34" charset="0"/>
              <a:buChar char="●"/>
            </a:pPr>
            <a:r>
              <a:rPr lang="en-US" altLang="en-US" sz="2200" dirty="0">
                <a:solidFill>
                  <a:srgbClr val="000000"/>
                </a:solidFill>
                <a:ea typeface="MS PGothic" panose="020B0600070205080204" pitchFamily="34" charset="-128"/>
              </a:rPr>
              <a:t>REST has gained acceptance across the Web as a simpler alternative to SOAP (Simple Object Access Protocol) and WSDL (Web Services Description Language).</a:t>
            </a:r>
          </a:p>
          <a:p>
            <a:pPr marL="76200" indent="0">
              <a:lnSpc>
                <a:spcPct val="100000"/>
              </a:lnSpc>
              <a:spcBef>
                <a:spcPct val="0"/>
              </a:spcBef>
              <a:buClr>
                <a:srgbClr val="000000"/>
              </a:buClr>
              <a:buNone/>
            </a:pPr>
            <a:endParaRPr lang="en-US" altLang="en-US" sz="2200" dirty="0">
              <a:solidFill>
                <a:srgbClr val="000000"/>
              </a:solidFill>
              <a:ea typeface="MS PGothic" panose="020B0600070205080204" pitchFamily="34" charset="-128"/>
            </a:endParaRPr>
          </a:p>
          <a:p>
            <a:pPr marL="457200" indent="-381000">
              <a:lnSpc>
                <a:spcPct val="100000"/>
              </a:lnSpc>
              <a:spcBef>
                <a:spcPct val="0"/>
              </a:spcBef>
              <a:buClr>
                <a:srgbClr val="000000"/>
              </a:buClr>
              <a:buFont typeface="Arial" panose="020B0604020202020204" pitchFamily="34" charset="0"/>
              <a:buChar char="●"/>
            </a:pPr>
            <a:r>
              <a:rPr lang="en-US" altLang="en-US" sz="2200" dirty="0">
                <a:solidFill>
                  <a:srgbClr val="000000"/>
                </a:solidFill>
                <a:ea typeface="MS PGothic" panose="020B0600070205080204" pitchFamily="34" charset="-128"/>
              </a:rPr>
              <a:t>In IoT world: RESTful has been adopted as a highly popular, simple-to-use, and lightweight interaction method (Lab 2!)</a:t>
            </a:r>
          </a:p>
          <a:p>
            <a:pPr marL="76200" indent="0">
              <a:lnSpc>
                <a:spcPct val="100000"/>
              </a:lnSpc>
              <a:spcBef>
                <a:spcPct val="0"/>
              </a:spcBef>
              <a:buClr>
                <a:srgbClr val="000000"/>
              </a:buClr>
              <a:buNone/>
            </a:pPr>
            <a:endParaRPr lang="en-US" altLang="en-US" sz="2200" dirty="0">
              <a:solidFill>
                <a:srgbClr val="000000"/>
              </a:solidFill>
              <a:ea typeface="MS PGothic" panose="020B0600070205080204" pitchFamily="34" charset="-128"/>
            </a:endParaRPr>
          </a:p>
          <a:p>
            <a:pPr marL="457200" indent="-381000">
              <a:lnSpc>
                <a:spcPct val="100000"/>
              </a:lnSpc>
              <a:spcBef>
                <a:spcPct val="0"/>
              </a:spcBef>
              <a:buClr>
                <a:srgbClr val="000000"/>
              </a:buClr>
              <a:buFont typeface="Arial" panose="020B0604020202020204" pitchFamily="34" charset="0"/>
              <a:buChar char="●"/>
            </a:pPr>
            <a:r>
              <a:rPr lang="en-US" altLang="en-US" sz="2200" b="1" dirty="0">
                <a:solidFill>
                  <a:srgbClr val="000000"/>
                </a:solidFill>
                <a:ea typeface="MS PGothic" panose="020B0600070205080204" pitchFamily="34" charset="-128"/>
              </a:rPr>
              <a:t>RESTful supports Meaningful Interactions</a:t>
            </a:r>
            <a:r>
              <a:rPr lang="en-US" altLang="en-US" sz="2200" dirty="0">
                <a:solidFill>
                  <a:srgbClr val="000000"/>
                </a:solidFill>
                <a:ea typeface="MS PGothic" panose="020B0600070205080204" pitchFamily="34" charset="-128"/>
              </a:rPr>
              <a:t>: </a:t>
            </a:r>
          </a:p>
          <a:p>
            <a:pPr marL="914400" lvl="1" indent="-381000">
              <a:lnSpc>
                <a:spcPct val="100000"/>
              </a:lnSpc>
              <a:spcBef>
                <a:spcPct val="0"/>
              </a:spcBef>
              <a:buClr>
                <a:srgbClr val="000000"/>
              </a:buClr>
              <a:buFont typeface="Arial" panose="020B0604020202020204" pitchFamily="34" charset="0"/>
              <a:buChar char="●"/>
            </a:pPr>
            <a:r>
              <a:rPr lang="en-US" altLang="en-US" sz="1800" dirty="0">
                <a:solidFill>
                  <a:srgbClr val="000000"/>
                </a:solidFill>
                <a:ea typeface="MS PGothic" panose="020B0600070205080204" pitchFamily="34" charset="-128"/>
              </a:rPr>
              <a:t>Carefully named “directory structure”-like resources convey more meaningful interactions than an IP packet sent to an IP address. </a:t>
            </a:r>
          </a:p>
          <a:p>
            <a:pPr marL="457200" indent="-381000">
              <a:lnSpc>
                <a:spcPct val="100000"/>
              </a:lnSpc>
              <a:spcBef>
                <a:spcPct val="0"/>
              </a:spcBef>
              <a:buClr>
                <a:srgbClr val="000000"/>
              </a:buClr>
              <a:buFont typeface="Arial" panose="020B0604020202020204" pitchFamily="34" charset="0"/>
              <a:buChar char="●"/>
            </a:pPr>
            <a:endParaRPr lang="en-US" altLang="en-US" sz="2200" dirty="0">
              <a:solidFill>
                <a:srgbClr val="000000"/>
              </a:solidFill>
              <a:ea typeface="MS PGothic" panose="020B0600070205080204" pitchFamily="34" charset="-128"/>
            </a:endParaRPr>
          </a:p>
          <a:p>
            <a:pPr marL="457200" indent="-381000">
              <a:lnSpc>
                <a:spcPct val="100000"/>
              </a:lnSpc>
              <a:spcBef>
                <a:spcPct val="0"/>
              </a:spcBef>
              <a:buClr>
                <a:srgbClr val="000000"/>
              </a:buClr>
              <a:buFont typeface="Arial" panose="020B0604020202020204" pitchFamily="34" charset="0"/>
              <a:buChar char="●"/>
            </a:pPr>
            <a:r>
              <a:rPr lang="en-US" altLang="en-US" sz="2200" dirty="0">
                <a:solidFill>
                  <a:srgbClr val="000000"/>
                </a:solidFill>
                <a:ea typeface="MS PGothic" panose="020B0600070205080204" pitchFamily="34" charset="-128"/>
              </a:rPr>
              <a:t>But, of course, there are limitations!</a:t>
            </a:r>
          </a:p>
          <a:p>
            <a:pPr marL="768350" lvl="1" indent="-342900">
              <a:lnSpc>
                <a:spcPct val="105000"/>
              </a:lnSpc>
              <a:spcBef>
                <a:spcPct val="0"/>
              </a:spcBef>
              <a:buClr>
                <a:srgbClr val="000000"/>
              </a:buClr>
            </a:pPr>
            <a:r>
              <a:rPr lang="en-US" altLang="en-US" sz="1800" dirty="0">
                <a:solidFill>
                  <a:schemeClr val="accent6">
                    <a:lumMod val="50000"/>
                  </a:schemeClr>
                </a:solidFill>
              </a:rPr>
              <a:t>Does not easily support binary encoded messages</a:t>
            </a:r>
          </a:p>
          <a:p>
            <a:pPr marL="768350" lvl="1" indent="-342900">
              <a:lnSpc>
                <a:spcPct val="105000"/>
              </a:lnSpc>
              <a:spcBef>
                <a:spcPct val="0"/>
              </a:spcBef>
              <a:buClr>
                <a:srgbClr val="000000"/>
              </a:buClr>
            </a:pPr>
            <a:r>
              <a:rPr lang="en-US" altLang="en-US" sz="1800" dirty="0">
                <a:solidFill>
                  <a:schemeClr val="accent6">
                    <a:lumMod val="50000"/>
                  </a:schemeClr>
                </a:solidFill>
              </a:rPr>
              <a:t>Support IP only through the relatively expensive and heavy TCP. </a:t>
            </a:r>
          </a:p>
          <a:p>
            <a:pPr marL="768350" lvl="1" indent="-342900">
              <a:lnSpc>
                <a:spcPct val="105000"/>
              </a:lnSpc>
              <a:spcBef>
                <a:spcPct val="0"/>
              </a:spcBef>
              <a:buClr>
                <a:srgbClr val="000000"/>
              </a:buClr>
            </a:pPr>
            <a:r>
              <a:rPr lang="en-US" altLang="en-US" sz="1800" dirty="0">
                <a:solidFill>
                  <a:schemeClr val="accent6">
                    <a:lumMod val="50000"/>
                  </a:schemeClr>
                </a:solidFill>
              </a:rPr>
              <a:t>Lack of P2P support. Only Client-Server interaction, no inter IoT communication</a:t>
            </a:r>
          </a:p>
          <a:p>
            <a:pPr marL="768350" lvl="1" indent="-342900">
              <a:lnSpc>
                <a:spcPct val="105000"/>
              </a:lnSpc>
              <a:spcBef>
                <a:spcPct val="0"/>
              </a:spcBef>
              <a:buClr>
                <a:srgbClr val="000000"/>
              </a:buClr>
            </a:pPr>
            <a:r>
              <a:rPr lang="en-US" altLang="en-US" sz="1800" dirty="0">
                <a:solidFill>
                  <a:schemeClr val="accent6">
                    <a:lumMod val="50000"/>
                  </a:schemeClr>
                </a:solidFill>
              </a:rPr>
              <a:t>Lack of multicast capabilities</a:t>
            </a:r>
            <a:endParaRPr lang="en-US" altLang="en-US" sz="1800" b="1" dirty="0">
              <a:solidFill>
                <a:schemeClr val="accent6">
                  <a:lumMod val="50000"/>
                </a:schemeClr>
              </a:solidFill>
            </a:endParaRPr>
          </a:p>
          <a:p>
            <a:pPr marL="768350" lvl="1" indent="-342900">
              <a:lnSpc>
                <a:spcPct val="105000"/>
              </a:lnSpc>
              <a:spcBef>
                <a:spcPct val="0"/>
              </a:spcBef>
              <a:buClr>
                <a:srgbClr val="000000"/>
              </a:buClr>
            </a:pPr>
            <a:r>
              <a:rPr lang="en-US" altLang="en-US" sz="1800" dirty="0">
                <a:solidFill>
                  <a:schemeClr val="accent6">
                    <a:lumMod val="50000"/>
                  </a:schemeClr>
                </a:solidFill>
              </a:rPr>
              <a:t>Lack of streaming-type communication – supports only PULL mode, no PUSH allowed.</a:t>
            </a:r>
            <a:endParaRPr lang="en-US" altLang="en-US" sz="1800" b="1" dirty="0">
              <a:solidFill>
                <a:schemeClr val="accent6">
                  <a:lumMod val="50000"/>
                </a:schemeClr>
              </a:solidFill>
            </a:endParaRPr>
          </a:p>
          <a:p>
            <a:pPr marL="914400" lvl="1" indent="-381000">
              <a:lnSpc>
                <a:spcPct val="100000"/>
              </a:lnSpc>
              <a:spcBef>
                <a:spcPct val="0"/>
              </a:spcBef>
              <a:buClr>
                <a:srgbClr val="000000"/>
              </a:buClr>
              <a:buFont typeface="Arial" panose="020B0604020202020204" pitchFamily="34" charset="0"/>
              <a:buChar char="●"/>
            </a:pPr>
            <a:endParaRPr lang="en-US" altLang="en-US" sz="1800" dirty="0">
              <a:solidFill>
                <a:srgbClr val="000000"/>
              </a:solidFill>
              <a:ea typeface="MS PGothic" panose="020B0600070205080204" pitchFamily="34" charset="-128"/>
            </a:endParaRPr>
          </a:p>
        </p:txBody>
      </p:sp>
    </p:spTree>
    <p:extLst>
      <p:ext uri="{BB962C8B-B14F-4D97-AF65-F5344CB8AC3E}">
        <p14:creationId xmlns:p14="http://schemas.microsoft.com/office/powerpoint/2010/main" val="2721634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C554B-A010-944B-9F42-AAD831DD92FF}"/>
              </a:ext>
            </a:extLst>
          </p:cNvPr>
          <p:cNvSpPr>
            <a:spLocks noGrp="1"/>
          </p:cNvSpPr>
          <p:nvPr>
            <p:ph type="title"/>
          </p:nvPr>
        </p:nvSpPr>
        <p:spPr/>
        <p:txBody>
          <a:bodyPr/>
          <a:lstStyle/>
          <a:p>
            <a:r>
              <a:rPr lang="en-US" dirty="0"/>
              <a:t>RESTful IoT</a:t>
            </a:r>
          </a:p>
        </p:txBody>
      </p:sp>
      <p:sp>
        <p:nvSpPr>
          <p:cNvPr id="3" name="Content Placeholder 2">
            <a:extLst>
              <a:ext uri="{FF2B5EF4-FFF2-40B4-BE49-F238E27FC236}">
                <a16:creationId xmlns:a16="http://schemas.microsoft.com/office/drawing/2014/main" id="{62161F1B-1CEC-B841-9712-4C2642B33FA6}"/>
              </a:ext>
            </a:extLst>
          </p:cNvPr>
          <p:cNvSpPr>
            <a:spLocks noGrp="1"/>
          </p:cNvSpPr>
          <p:nvPr>
            <p:ph idx="1"/>
          </p:nvPr>
        </p:nvSpPr>
        <p:spPr>
          <a:xfrm>
            <a:off x="1115568" y="1728216"/>
            <a:ext cx="10168128" cy="5032802"/>
          </a:xfrm>
        </p:spPr>
        <p:txBody>
          <a:bodyPr>
            <a:normAutofit/>
          </a:bodyPr>
          <a:lstStyle/>
          <a:p>
            <a:pPr marL="457200" indent="-381000">
              <a:lnSpc>
                <a:spcPct val="100000"/>
              </a:lnSpc>
              <a:spcBef>
                <a:spcPct val="0"/>
              </a:spcBef>
              <a:buClr>
                <a:srgbClr val="000000"/>
              </a:buClr>
              <a:buFont typeface="Arial" panose="020B0604020202020204" pitchFamily="34" charset="0"/>
              <a:buChar char="●"/>
            </a:pPr>
            <a:endParaRPr lang="en-US" altLang="en-US" sz="2200" dirty="0">
              <a:solidFill>
                <a:srgbClr val="000000"/>
              </a:solidFill>
              <a:ea typeface="MS PGothic" panose="020B0600070205080204" pitchFamily="34" charset="-128"/>
            </a:endParaRPr>
          </a:p>
          <a:p>
            <a:pPr marL="76200" indent="0">
              <a:lnSpc>
                <a:spcPct val="100000"/>
              </a:lnSpc>
              <a:spcBef>
                <a:spcPct val="0"/>
              </a:spcBef>
              <a:buClr>
                <a:srgbClr val="000000"/>
              </a:buClr>
              <a:buSzPct val="46000"/>
              <a:buNone/>
            </a:pPr>
            <a:r>
              <a:rPr lang="en-US" altLang="en-US" sz="2200" b="1" dirty="0">
                <a:solidFill>
                  <a:srgbClr val="000000"/>
                </a:solidFill>
                <a:ea typeface="MS PGothic" panose="020B0600070205080204" pitchFamily="34" charset="-128"/>
              </a:rPr>
              <a:t>References</a:t>
            </a:r>
            <a:endParaRPr lang="en-US" altLang="en-US" sz="2200" dirty="0">
              <a:solidFill>
                <a:srgbClr val="000000"/>
              </a:solidFill>
              <a:ea typeface="MS PGothic" panose="020B0600070205080204" pitchFamily="34" charset="-128"/>
            </a:endParaRPr>
          </a:p>
          <a:p>
            <a:pPr marL="457200" indent="-381000">
              <a:lnSpc>
                <a:spcPct val="100000"/>
              </a:lnSpc>
              <a:spcBef>
                <a:spcPct val="0"/>
              </a:spcBef>
              <a:buClr>
                <a:srgbClr val="000000"/>
              </a:buClr>
              <a:buFont typeface="Arial" panose="020B0604020202020204" pitchFamily="34" charset="0"/>
              <a:buChar char="●"/>
            </a:pPr>
            <a:r>
              <a:rPr lang="en-US" altLang="en-US" sz="2200" dirty="0">
                <a:solidFill>
                  <a:srgbClr val="000000"/>
                </a:solidFill>
                <a:ea typeface="MS PGothic" panose="020B0600070205080204" pitchFamily="34" charset="-128"/>
              </a:rPr>
              <a:t>https://</a:t>
            </a:r>
            <a:r>
              <a:rPr lang="en-US" altLang="en-US" sz="2200" dirty="0" err="1">
                <a:solidFill>
                  <a:srgbClr val="000000"/>
                </a:solidFill>
                <a:ea typeface="MS PGothic" panose="020B0600070205080204" pitchFamily="34" charset="-128"/>
              </a:rPr>
              <a:t>en.wikipedia.org</a:t>
            </a:r>
            <a:r>
              <a:rPr lang="en-US" altLang="en-US" sz="2200" dirty="0">
                <a:solidFill>
                  <a:srgbClr val="000000"/>
                </a:solidFill>
                <a:ea typeface="MS PGothic" panose="020B0600070205080204" pitchFamily="34" charset="-128"/>
              </a:rPr>
              <a:t>/wiki/</a:t>
            </a:r>
            <a:r>
              <a:rPr lang="en-US" altLang="en-US" sz="2200" dirty="0" err="1">
                <a:solidFill>
                  <a:srgbClr val="000000"/>
                </a:solidFill>
                <a:ea typeface="MS PGothic" panose="020B0600070205080204" pitchFamily="34" charset="-128"/>
              </a:rPr>
              <a:t>Representational_state_transfer</a:t>
            </a:r>
            <a:endParaRPr lang="en-US" altLang="en-US" sz="2200" dirty="0">
              <a:solidFill>
                <a:srgbClr val="000000"/>
              </a:solidFill>
              <a:ea typeface="MS PGothic" panose="020B0600070205080204" pitchFamily="34" charset="-128"/>
            </a:endParaRPr>
          </a:p>
          <a:p>
            <a:pPr marL="457200" indent="-381000">
              <a:lnSpc>
                <a:spcPct val="100000"/>
              </a:lnSpc>
              <a:spcBef>
                <a:spcPct val="0"/>
              </a:spcBef>
              <a:buClr>
                <a:srgbClr val="000000"/>
              </a:buClr>
              <a:buFont typeface="Arial" panose="020B0604020202020204" pitchFamily="34" charset="0"/>
              <a:buChar char="●"/>
            </a:pPr>
            <a:r>
              <a:rPr lang="en-US" altLang="en-US" sz="2200" dirty="0">
                <a:solidFill>
                  <a:srgbClr val="000000"/>
                </a:solidFill>
                <a:ea typeface="MS PGothic" panose="020B0600070205080204" pitchFamily="34" charset="-128"/>
              </a:rPr>
              <a:t>http://</a:t>
            </a:r>
            <a:r>
              <a:rPr lang="en-US" altLang="en-US" sz="2200" dirty="0" err="1">
                <a:solidFill>
                  <a:srgbClr val="000000"/>
                </a:solidFill>
                <a:ea typeface="MS PGothic" panose="020B0600070205080204" pitchFamily="34" charset="-128"/>
              </a:rPr>
              <a:t>www.ibm.com</a:t>
            </a:r>
            <a:r>
              <a:rPr lang="en-US" altLang="en-US" sz="2200" dirty="0">
                <a:solidFill>
                  <a:srgbClr val="000000"/>
                </a:solidFill>
                <a:ea typeface="MS PGothic" panose="020B0600070205080204" pitchFamily="34" charset="-128"/>
              </a:rPr>
              <a:t>/</a:t>
            </a:r>
            <a:r>
              <a:rPr lang="en-US" altLang="en-US" sz="2200" dirty="0" err="1">
                <a:solidFill>
                  <a:srgbClr val="000000"/>
                </a:solidFill>
                <a:ea typeface="MS PGothic" panose="020B0600070205080204" pitchFamily="34" charset="-128"/>
              </a:rPr>
              <a:t>developerworks</a:t>
            </a:r>
            <a:r>
              <a:rPr lang="en-US" altLang="en-US" sz="2200" dirty="0">
                <a:solidFill>
                  <a:srgbClr val="000000"/>
                </a:solidFill>
                <a:ea typeface="MS PGothic" panose="020B0600070205080204" pitchFamily="34" charset="-128"/>
              </a:rPr>
              <a:t>/library/</a:t>
            </a:r>
            <a:r>
              <a:rPr lang="en-US" altLang="en-US" sz="2200" dirty="0" err="1">
                <a:solidFill>
                  <a:srgbClr val="000000"/>
                </a:solidFill>
                <a:ea typeface="MS PGothic" panose="020B0600070205080204" pitchFamily="34" charset="-128"/>
              </a:rPr>
              <a:t>ws</a:t>
            </a:r>
            <a:r>
              <a:rPr lang="en-US" altLang="en-US" sz="2200" dirty="0">
                <a:solidFill>
                  <a:srgbClr val="000000"/>
                </a:solidFill>
                <a:ea typeface="MS PGothic" panose="020B0600070205080204" pitchFamily="34" charset="-128"/>
              </a:rPr>
              <a:t>-restful/</a:t>
            </a:r>
          </a:p>
          <a:p>
            <a:pPr marL="457200" indent="-381000">
              <a:lnSpc>
                <a:spcPct val="100000"/>
              </a:lnSpc>
              <a:spcBef>
                <a:spcPct val="0"/>
              </a:spcBef>
              <a:buClr>
                <a:srgbClr val="000000"/>
              </a:buClr>
              <a:buFont typeface="Arial" panose="020B0604020202020204" pitchFamily="34" charset="0"/>
              <a:buChar char="●"/>
            </a:pPr>
            <a:r>
              <a:rPr lang="en-US" altLang="en-US" sz="2200" dirty="0">
                <a:solidFill>
                  <a:srgbClr val="000000"/>
                </a:solidFill>
                <a:ea typeface="MS PGothic" panose="020B0600070205080204" pitchFamily="34" charset="-128"/>
              </a:rPr>
              <a:t>http://</a:t>
            </a:r>
            <a:r>
              <a:rPr lang="en-US" altLang="en-US" sz="2200" dirty="0" err="1">
                <a:solidFill>
                  <a:srgbClr val="000000"/>
                </a:solidFill>
                <a:ea typeface="MS PGothic" panose="020B0600070205080204" pitchFamily="34" charset="-128"/>
              </a:rPr>
              <a:t>www.ics.uci.edu</a:t>
            </a:r>
            <a:r>
              <a:rPr lang="en-US" altLang="en-US" sz="2200" dirty="0">
                <a:solidFill>
                  <a:srgbClr val="000000"/>
                </a:solidFill>
                <a:ea typeface="MS PGothic" panose="020B0600070205080204" pitchFamily="34" charset="-128"/>
              </a:rPr>
              <a:t>/~fielding/pubs/dissertation/</a:t>
            </a:r>
            <a:r>
              <a:rPr lang="en-US" altLang="en-US" sz="2200" dirty="0" err="1">
                <a:solidFill>
                  <a:srgbClr val="000000"/>
                </a:solidFill>
                <a:ea typeface="MS PGothic" panose="020B0600070205080204" pitchFamily="34" charset="-128"/>
              </a:rPr>
              <a:t>fielding_dissertation.pdf</a:t>
            </a:r>
            <a:endParaRPr lang="en-US" altLang="en-US" sz="2200" dirty="0">
              <a:solidFill>
                <a:srgbClr val="000000"/>
              </a:solidFill>
              <a:ea typeface="MS PGothic" panose="020B0600070205080204" pitchFamily="34" charset="-128"/>
            </a:endParaRPr>
          </a:p>
        </p:txBody>
      </p:sp>
    </p:spTree>
    <p:extLst>
      <p:ext uri="{BB962C8B-B14F-4D97-AF65-F5344CB8AC3E}">
        <p14:creationId xmlns:p14="http://schemas.microsoft.com/office/powerpoint/2010/main" val="3063418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AFF89750-24D3-EB42-A327-5E29DC1C86A5}"/>
              </a:ext>
            </a:extLst>
          </p:cNvPr>
          <p:cNvSpPr>
            <a:spLocks noGrp="1"/>
          </p:cNvSpPr>
          <p:nvPr>
            <p:ph type="title"/>
          </p:nvPr>
        </p:nvSpPr>
        <p:spPr>
          <a:xfrm>
            <a:off x="0" y="1648691"/>
            <a:ext cx="12192000" cy="2008909"/>
          </a:xfrm>
          <a:solidFill>
            <a:schemeClr val="bg2">
              <a:lumMod val="90000"/>
            </a:schemeClr>
          </a:solidFill>
        </p:spPr>
        <p:txBody>
          <a:bodyPr>
            <a:normAutofit/>
          </a:bodyPr>
          <a:lstStyle/>
          <a:p>
            <a:pPr eaLnBrk="1" hangingPunct="1">
              <a:spcBef>
                <a:spcPct val="0"/>
              </a:spcBef>
            </a:pPr>
            <a:r>
              <a:rPr lang="en-US" altLang="en-US" sz="5400" dirty="0" err="1">
                <a:ea typeface="MS PGothic" panose="020B0600070205080204" pitchFamily="34" charset="-128"/>
              </a:rPr>
              <a:t>CoAP</a:t>
            </a:r>
            <a:br>
              <a:rPr lang="en-US" altLang="en-US" sz="5400" dirty="0">
                <a:ea typeface="MS PGothic" panose="020B0600070205080204" pitchFamily="34" charset="-128"/>
              </a:rPr>
            </a:br>
            <a:r>
              <a:rPr lang="en-US" altLang="en-US" sz="4000" dirty="0">
                <a:ea typeface="MS PGothic" panose="020B0600070205080204" pitchFamily="34" charset="-128"/>
              </a:rPr>
              <a:t>Constrained Application Protocol</a:t>
            </a:r>
          </a:p>
        </p:txBody>
      </p:sp>
    </p:spTree>
    <p:extLst>
      <p:ext uri="{BB962C8B-B14F-4D97-AF65-F5344CB8AC3E}">
        <p14:creationId xmlns:p14="http://schemas.microsoft.com/office/powerpoint/2010/main" val="3643914818"/>
      </p:ext>
    </p:extLst>
  </p:cSld>
  <p:clrMapOvr>
    <a:masterClrMapping/>
  </p:clrMapOvr>
  <p:transition spd="slow">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11FF6-6C41-3D41-8673-4A88DDF7F416}"/>
              </a:ext>
            </a:extLst>
          </p:cNvPr>
          <p:cNvSpPr>
            <a:spLocks noGrp="1"/>
          </p:cNvSpPr>
          <p:nvPr>
            <p:ph type="title"/>
          </p:nvPr>
        </p:nvSpPr>
        <p:spPr/>
        <p:txBody>
          <a:bodyPr/>
          <a:lstStyle/>
          <a:p>
            <a:r>
              <a:rPr lang="en-US" dirty="0"/>
              <a:t>Constrained Application Protocol</a:t>
            </a:r>
          </a:p>
        </p:txBody>
      </p:sp>
      <p:sp>
        <p:nvSpPr>
          <p:cNvPr id="3" name="Content Placeholder 2">
            <a:extLst>
              <a:ext uri="{FF2B5EF4-FFF2-40B4-BE49-F238E27FC236}">
                <a16:creationId xmlns:a16="http://schemas.microsoft.com/office/drawing/2014/main" id="{23F7A7D9-6688-0145-9946-41AA52C577A5}"/>
              </a:ext>
            </a:extLst>
          </p:cNvPr>
          <p:cNvSpPr>
            <a:spLocks noGrp="1"/>
          </p:cNvSpPr>
          <p:nvPr>
            <p:ph idx="1"/>
          </p:nvPr>
        </p:nvSpPr>
        <p:spPr>
          <a:xfrm>
            <a:off x="1115568" y="1728216"/>
            <a:ext cx="10168128" cy="4663005"/>
          </a:xfrm>
        </p:spPr>
        <p:txBody>
          <a:bodyPr>
            <a:normAutofit fontScale="92500" lnSpcReduction="20000"/>
          </a:bodyPr>
          <a:lstStyle/>
          <a:p>
            <a:pPr marL="533400" indent="-457200">
              <a:lnSpc>
                <a:spcPct val="105000"/>
              </a:lnSpc>
              <a:spcBef>
                <a:spcPct val="0"/>
              </a:spcBef>
              <a:buClr>
                <a:srgbClr val="000000"/>
              </a:buClr>
            </a:pPr>
            <a:r>
              <a:rPr lang="en-US" altLang="en-US" dirty="0">
                <a:ea typeface="MS PGothic" panose="020B0600070205080204" pitchFamily="34" charset="-128"/>
              </a:rPr>
              <a:t>A specialized IETF </a:t>
            </a:r>
            <a:r>
              <a:rPr lang="en-US" altLang="en-US" b="1" dirty="0">
                <a:ea typeface="MS PGothic" panose="020B0600070205080204" pitchFamily="34" charset="-128"/>
              </a:rPr>
              <a:t>application-level</a:t>
            </a:r>
            <a:r>
              <a:rPr lang="en-US" altLang="en-US" dirty="0">
                <a:ea typeface="MS PGothic" panose="020B0600070205080204" pitchFamily="34" charset="-128"/>
              </a:rPr>
              <a:t>, web transfer protocol for use with constrained devices and constrained networks in the </a:t>
            </a:r>
            <a:r>
              <a:rPr lang="en-US" altLang="en-US" b="1" dirty="0">
                <a:ea typeface="MS PGothic" panose="020B0600070205080204" pitchFamily="34" charset="-128"/>
              </a:rPr>
              <a:t>Internet of Things.</a:t>
            </a:r>
            <a:endParaRPr lang="en-US" altLang="en-US" dirty="0">
              <a:solidFill>
                <a:srgbClr val="000000"/>
              </a:solidFill>
              <a:ea typeface="MS PGothic" panose="020B0600070205080204" pitchFamily="34" charset="-128"/>
            </a:endParaRPr>
          </a:p>
          <a:p>
            <a:pPr marL="533400" indent="-457200">
              <a:lnSpc>
                <a:spcPct val="105000"/>
              </a:lnSpc>
              <a:spcBef>
                <a:spcPct val="0"/>
              </a:spcBef>
              <a:buClr>
                <a:srgbClr val="000000"/>
              </a:buClr>
            </a:pPr>
            <a:r>
              <a:rPr lang="en-US" altLang="en-US" dirty="0">
                <a:solidFill>
                  <a:srgbClr val="000000"/>
                </a:solidFill>
                <a:ea typeface="MS PGothic" panose="020B0600070205080204" pitchFamily="34" charset="-128"/>
              </a:rPr>
              <a:t>Supports REST &amp; at the same time overcomes some of REST’s limitations:</a:t>
            </a:r>
          </a:p>
          <a:p>
            <a:pPr marL="768350" lvl="1" indent="-342900">
              <a:lnSpc>
                <a:spcPct val="105000"/>
              </a:lnSpc>
              <a:spcBef>
                <a:spcPct val="0"/>
              </a:spcBef>
              <a:buClr>
                <a:srgbClr val="000000"/>
              </a:buClr>
            </a:pPr>
            <a:r>
              <a:rPr lang="en-US" altLang="en-US" dirty="0">
                <a:solidFill>
                  <a:schemeClr val="accent6">
                    <a:lumMod val="50000"/>
                  </a:schemeClr>
                </a:solidFill>
              </a:rPr>
              <a:t>Encoding (text) scheme and message size: </a:t>
            </a:r>
            <a:r>
              <a:rPr lang="en-US" altLang="en-US" b="1" dirty="0">
                <a:solidFill>
                  <a:schemeClr val="accent6">
                    <a:lumMod val="50000"/>
                  </a:schemeClr>
                </a:solidFill>
              </a:rPr>
              <a:t>supports</a:t>
            </a:r>
            <a:r>
              <a:rPr lang="en-US" altLang="en-US" dirty="0">
                <a:solidFill>
                  <a:schemeClr val="accent6">
                    <a:lumMod val="50000"/>
                  </a:schemeClr>
                </a:solidFill>
              </a:rPr>
              <a:t> </a:t>
            </a:r>
            <a:r>
              <a:rPr lang="en-US" altLang="en-US" b="1" dirty="0">
                <a:solidFill>
                  <a:schemeClr val="accent6">
                    <a:lumMod val="50000"/>
                  </a:schemeClr>
                </a:solidFill>
              </a:rPr>
              <a:t>binary encoding</a:t>
            </a:r>
          </a:p>
          <a:p>
            <a:pPr marL="768350" lvl="1" indent="-342900">
              <a:lnSpc>
                <a:spcPct val="105000"/>
              </a:lnSpc>
              <a:spcBef>
                <a:spcPct val="0"/>
              </a:spcBef>
              <a:buClr>
                <a:srgbClr val="000000"/>
              </a:buClr>
            </a:pPr>
            <a:r>
              <a:rPr lang="en-US" altLang="en-US" dirty="0">
                <a:solidFill>
                  <a:schemeClr val="accent6">
                    <a:lumMod val="50000"/>
                  </a:schemeClr>
                </a:solidFill>
              </a:rPr>
              <a:t>Transport: </a:t>
            </a:r>
            <a:r>
              <a:rPr lang="en-US" altLang="en-US" b="1" dirty="0">
                <a:solidFill>
                  <a:schemeClr val="accent6">
                    <a:lumMod val="50000"/>
                  </a:schemeClr>
                </a:solidFill>
              </a:rPr>
              <a:t>based on UDP </a:t>
            </a:r>
            <a:r>
              <a:rPr lang="en-US" altLang="en-US" dirty="0">
                <a:solidFill>
                  <a:schemeClr val="accent6">
                    <a:lumMod val="50000"/>
                  </a:schemeClr>
                </a:solidFill>
              </a:rPr>
              <a:t>(port 5683, 5684 for secure CoAP on top of DTLS*) – even though support for TCP was added in 2018 as an option (</a:t>
            </a:r>
            <a:r>
              <a:rPr lang="en-US" dirty="0">
                <a:solidFill>
                  <a:schemeClr val="accent6">
                    <a:lumMod val="50000"/>
                  </a:schemeClr>
                </a:solidFill>
              </a:rPr>
              <a:t>RFC 8323)</a:t>
            </a:r>
            <a:endParaRPr lang="en-US" altLang="en-US" dirty="0">
              <a:solidFill>
                <a:schemeClr val="accent6">
                  <a:lumMod val="50000"/>
                </a:schemeClr>
              </a:solidFill>
            </a:endParaRPr>
          </a:p>
          <a:p>
            <a:pPr marL="768350" lvl="1" indent="-342900">
              <a:lnSpc>
                <a:spcPct val="105000"/>
              </a:lnSpc>
              <a:spcBef>
                <a:spcPct val="0"/>
              </a:spcBef>
              <a:buClr>
                <a:srgbClr val="000000"/>
              </a:buClr>
            </a:pPr>
            <a:r>
              <a:rPr lang="en-US" altLang="en-US" dirty="0">
                <a:solidFill>
                  <a:schemeClr val="accent6">
                    <a:lumMod val="50000"/>
                  </a:schemeClr>
                </a:solidFill>
              </a:rPr>
              <a:t>Lack of P2P support: </a:t>
            </a:r>
            <a:r>
              <a:rPr lang="en-US" altLang="en-US" b="1" dirty="0">
                <a:solidFill>
                  <a:schemeClr val="accent6">
                    <a:lumMod val="50000"/>
                  </a:schemeClr>
                </a:solidFill>
              </a:rPr>
              <a:t>support for Serverless M2M</a:t>
            </a:r>
            <a:r>
              <a:rPr lang="en-US" altLang="en-US" dirty="0">
                <a:solidFill>
                  <a:schemeClr val="accent6">
                    <a:lumMod val="50000"/>
                  </a:schemeClr>
                </a:solidFill>
              </a:rPr>
              <a:t> </a:t>
            </a:r>
            <a:r>
              <a:rPr lang="en-US" altLang="en-US" b="1" dirty="0">
                <a:solidFill>
                  <a:schemeClr val="accent6">
                    <a:lumMod val="50000"/>
                  </a:schemeClr>
                </a:solidFill>
              </a:rPr>
              <a:t>operation</a:t>
            </a:r>
            <a:r>
              <a:rPr lang="en-US" altLang="en-US" dirty="0">
                <a:solidFill>
                  <a:schemeClr val="accent6">
                    <a:lumMod val="50000"/>
                  </a:schemeClr>
                </a:solidFill>
              </a:rPr>
              <a:t> through resource discovery and publish/subscribe paradigms. </a:t>
            </a:r>
          </a:p>
          <a:p>
            <a:pPr marL="768350" lvl="1" indent="-342900">
              <a:lnSpc>
                <a:spcPct val="105000"/>
              </a:lnSpc>
              <a:spcBef>
                <a:spcPct val="0"/>
              </a:spcBef>
              <a:buClr>
                <a:srgbClr val="000000"/>
              </a:buClr>
            </a:pPr>
            <a:r>
              <a:rPr lang="en-US" altLang="en-US" dirty="0">
                <a:solidFill>
                  <a:schemeClr val="accent6">
                    <a:lumMod val="50000"/>
                  </a:schemeClr>
                </a:solidFill>
              </a:rPr>
              <a:t>Lack of multicast: </a:t>
            </a:r>
            <a:r>
              <a:rPr lang="en-US" altLang="en-US" b="1" dirty="0">
                <a:solidFill>
                  <a:schemeClr val="accent6">
                    <a:lumMod val="50000"/>
                  </a:schemeClr>
                </a:solidFill>
              </a:rPr>
              <a:t>support for multicast</a:t>
            </a:r>
          </a:p>
          <a:p>
            <a:pPr marL="768350" lvl="1" indent="-342900">
              <a:lnSpc>
                <a:spcPct val="105000"/>
              </a:lnSpc>
              <a:spcBef>
                <a:spcPct val="0"/>
              </a:spcBef>
              <a:buClr>
                <a:srgbClr val="000000"/>
              </a:buClr>
            </a:pPr>
            <a:r>
              <a:rPr lang="en-US" altLang="en-US" dirty="0">
                <a:solidFill>
                  <a:schemeClr val="accent6">
                    <a:lumMod val="50000"/>
                  </a:schemeClr>
                </a:solidFill>
              </a:rPr>
              <a:t>Lack of streaming-type communication: </a:t>
            </a:r>
            <a:r>
              <a:rPr lang="en-US" altLang="en-US" b="1" dirty="0">
                <a:solidFill>
                  <a:schemeClr val="accent6">
                    <a:lumMod val="50000"/>
                  </a:schemeClr>
                </a:solidFill>
              </a:rPr>
              <a:t>support</a:t>
            </a:r>
            <a:r>
              <a:rPr lang="en-US" altLang="en-US" dirty="0">
                <a:solidFill>
                  <a:schemeClr val="accent6">
                    <a:lumMod val="50000"/>
                  </a:schemeClr>
                </a:solidFill>
              </a:rPr>
              <a:t> </a:t>
            </a:r>
            <a:r>
              <a:rPr lang="en-US" altLang="en-US" b="1" dirty="0">
                <a:solidFill>
                  <a:schemeClr val="accent6">
                    <a:lumMod val="50000"/>
                  </a:schemeClr>
                </a:solidFill>
              </a:rPr>
              <a:t>push mode </a:t>
            </a:r>
            <a:r>
              <a:rPr lang="en-US" altLang="en-US" dirty="0">
                <a:solidFill>
                  <a:schemeClr val="accent6">
                    <a:lumMod val="50000"/>
                  </a:schemeClr>
                </a:solidFill>
              </a:rPr>
              <a:t>through subscribe/notify </a:t>
            </a:r>
          </a:p>
          <a:p>
            <a:endParaRPr lang="en-US" dirty="0"/>
          </a:p>
        </p:txBody>
      </p:sp>
      <p:sp>
        <p:nvSpPr>
          <p:cNvPr id="6" name="TextBox 5">
            <a:extLst>
              <a:ext uri="{FF2B5EF4-FFF2-40B4-BE49-F238E27FC236}">
                <a16:creationId xmlns:a16="http://schemas.microsoft.com/office/drawing/2014/main" id="{F87C0713-FD41-A492-F3F9-DFC7A41F421A}"/>
              </a:ext>
            </a:extLst>
          </p:cNvPr>
          <p:cNvSpPr txBox="1"/>
          <p:nvPr/>
        </p:nvSpPr>
        <p:spPr>
          <a:xfrm>
            <a:off x="6755802" y="6391221"/>
            <a:ext cx="4851700" cy="315664"/>
          </a:xfrm>
          <a:prstGeom prst="rect">
            <a:avLst/>
          </a:prstGeom>
          <a:noFill/>
        </p:spPr>
        <p:txBody>
          <a:bodyPr wrap="square">
            <a:spAutoFit/>
          </a:bodyPr>
          <a:lstStyle/>
          <a:p>
            <a:pPr>
              <a:lnSpc>
                <a:spcPct val="80000"/>
              </a:lnSpc>
              <a:spcBef>
                <a:spcPct val="0"/>
              </a:spcBef>
              <a:buNone/>
            </a:pPr>
            <a:r>
              <a:rPr lang="en-US" altLang="en-US" sz="1800" dirty="0">
                <a:ea typeface="MS PGothic" panose="020B0600070205080204" pitchFamily="34" charset="-128"/>
              </a:rPr>
              <a:t>DTLS: Datagram Transport Layer Security</a:t>
            </a:r>
          </a:p>
        </p:txBody>
      </p:sp>
    </p:spTree>
    <p:extLst>
      <p:ext uri="{BB962C8B-B14F-4D97-AF65-F5344CB8AC3E}">
        <p14:creationId xmlns:p14="http://schemas.microsoft.com/office/powerpoint/2010/main" val="3802685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11FF6-6C41-3D41-8673-4A88DDF7F416}"/>
              </a:ext>
            </a:extLst>
          </p:cNvPr>
          <p:cNvSpPr>
            <a:spLocks noGrp="1"/>
          </p:cNvSpPr>
          <p:nvPr>
            <p:ph type="title"/>
          </p:nvPr>
        </p:nvSpPr>
        <p:spPr/>
        <p:txBody>
          <a:bodyPr/>
          <a:lstStyle/>
          <a:p>
            <a:r>
              <a:rPr lang="en-US" dirty="0"/>
              <a:t>Constrained Application Protocol</a:t>
            </a:r>
          </a:p>
        </p:txBody>
      </p:sp>
      <p:sp>
        <p:nvSpPr>
          <p:cNvPr id="3" name="Content Placeholder 2">
            <a:extLst>
              <a:ext uri="{FF2B5EF4-FFF2-40B4-BE49-F238E27FC236}">
                <a16:creationId xmlns:a16="http://schemas.microsoft.com/office/drawing/2014/main" id="{23F7A7D9-6688-0145-9946-41AA52C577A5}"/>
              </a:ext>
            </a:extLst>
          </p:cNvPr>
          <p:cNvSpPr>
            <a:spLocks noGrp="1"/>
          </p:cNvSpPr>
          <p:nvPr>
            <p:ph idx="1"/>
          </p:nvPr>
        </p:nvSpPr>
        <p:spPr>
          <a:xfrm>
            <a:off x="1115568" y="2151017"/>
            <a:ext cx="10168128" cy="4021183"/>
          </a:xfrm>
        </p:spPr>
        <p:txBody>
          <a:bodyPr>
            <a:normAutofit/>
          </a:bodyPr>
          <a:lstStyle/>
          <a:p>
            <a:pPr>
              <a:lnSpc>
                <a:spcPct val="80000"/>
              </a:lnSpc>
              <a:spcBef>
                <a:spcPct val="0"/>
              </a:spcBef>
            </a:pPr>
            <a:r>
              <a:rPr lang="en-US" altLang="en-US" sz="2600" dirty="0">
                <a:ea typeface="MS PGothic" panose="020B0600070205080204" pitchFamily="34" charset="-128"/>
              </a:rPr>
              <a:t>Based on the widely successful REST model, CoAP “servers” make resources available under a URL, and CoAP clients access these resources using HTTP methods: GET, PUT, POST, and DELETE. </a:t>
            </a:r>
          </a:p>
          <a:p>
            <a:pPr>
              <a:lnSpc>
                <a:spcPct val="80000"/>
              </a:lnSpc>
              <a:spcBef>
                <a:spcPct val="0"/>
              </a:spcBef>
              <a:buNone/>
            </a:pPr>
            <a:endParaRPr lang="en-US" altLang="en-US" sz="2600" dirty="0">
              <a:ea typeface="MS PGothic" panose="020B0600070205080204" pitchFamily="34" charset="-128"/>
            </a:endParaRPr>
          </a:p>
          <a:p>
            <a:pPr>
              <a:lnSpc>
                <a:spcPct val="80000"/>
              </a:lnSpc>
              <a:spcBef>
                <a:spcPct val="0"/>
              </a:spcBef>
            </a:pPr>
            <a:r>
              <a:rPr lang="en-US" altLang="en-US" sz="2600" dirty="0" err="1">
                <a:ea typeface="MS PGothic" panose="020B0600070205080204" pitchFamily="34" charset="-128"/>
              </a:rPr>
              <a:t>CoAP</a:t>
            </a:r>
            <a:r>
              <a:rPr lang="en-US" altLang="en-US" sz="2600" dirty="0">
                <a:ea typeface="MS PGothic" panose="020B0600070205080204" pitchFamily="34" charset="-128"/>
              </a:rPr>
              <a:t> can carry different types of payloads and can identify which payload type is being used. </a:t>
            </a:r>
            <a:r>
              <a:rPr lang="en-US" altLang="en-US" sz="2600" dirty="0" err="1">
                <a:ea typeface="MS PGothic" panose="020B0600070205080204" pitchFamily="34" charset="-128"/>
              </a:rPr>
              <a:t>CoAP</a:t>
            </a:r>
            <a:r>
              <a:rPr lang="en-US" altLang="en-US" sz="2600" dirty="0">
                <a:ea typeface="MS PGothic" panose="020B0600070205080204" pitchFamily="34" charset="-128"/>
              </a:rPr>
              <a:t> integrates with HTML, XML, JSON, on the one hand, and with CBOR</a:t>
            </a:r>
            <a:r>
              <a:rPr lang="en-US" altLang="en-US" sz="2600" baseline="30000" dirty="0">
                <a:ea typeface="MS PGothic" panose="020B0600070205080204" pitchFamily="34" charset="-128"/>
              </a:rPr>
              <a:t>1</a:t>
            </a:r>
            <a:r>
              <a:rPr lang="en-US" altLang="en-US" sz="2600" dirty="0">
                <a:ea typeface="MS PGothic" panose="020B0600070205080204" pitchFamily="34" charset="-128"/>
              </a:rPr>
              <a:t> and other concise binary encoding on the other hand. </a:t>
            </a:r>
          </a:p>
          <a:p>
            <a:pPr>
              <a:lnSpc>
                <a:spcPct val="80000"/>
              </a:lnSpc>
              <a:spcBef>
                <a:spcPct val="0"/>
              </a:spcBef>
              <a:buNone/>
            </a:pPr>
            <a:endParaRPr lang="en-US" altLang="en-US" sz="2600" dirty="0">
              <a:ea typeface="MS PGothic" panose="020B0600070205080204" pitchFamily="34" charset="-128"/>
            </a:endParaRPr>
          </a:p>
          <a:p>
            <a:pPr>
              <a:lnSpc>
                <a:spcPct val="80000"/>
              </a:lnSpc>
              <a:spcBef>
                <a:spcPct val="0"/>
              </a:spcBef>
            </a:pPr>
            <a:r>
              <a:rPr lang="en-US" altLang="en-US" sz="2600" dirty="0">
                <a:ea typeface="MS PGothic" panose="020B0600070205080204" pitchFamily="34" charset="-128"/>
              </a:rPr>
              <a:t>Highly secure. </a:t>
            </a:r>
            <a:r>
              <a:rPr lang="en-US" altLang="en-US" sz="2600" dirty="0" err="1">
                <a:ea typeface="MS PGothic" panose="020B0600070205080204" pitchFamily="34" charset="-128"/>
              </a:rPr>
              <a:t>CoAP's</a:t>
            </a:r>
            <a:r>
              <a:rPr lang="en-US" altLang="en-US" sz="2600" dirty="0">
                <a:ea typeface="MS PGothic" panose="020B0600070205080204" pitchFamily="34" charset="-128"/>
              </a:rPr>
              <a:t> default security choice of DTLS</a:t>
            </a:r>
            <a:r>
              <a:rPr lang="en-US" altLang="en-US" sz="2600" baseline="30000" dirty="0">
                <a:ea typeface="MS PGothic" panose="020B0600070205080204" pitchFamily="34" charset="-128"/>
              </a:rPr>
              <a:t>2</a:t>
            </a:r>
            <a:r>
              <a:rPr lang="en-US" altLang="en-US" sz="2600" dirty="0">
                <a:ea typeface="MS PGothic" panose="020B0600070205080204" pitchFamily="34" charset="-128"/>
              </a:rPr>
              <a:t> parameters is equivalent to 3072-bit RSA keys.</a:t>
            </a:r>
          </a:p>
          <a:p>
            <a:pPr>
              <a:lnSpc>
                <a:spcPct val="80000"/>
              </a:lnSpc>
              <a:spcBef>
                <a:spcPct val="0"/>
              </a:spcBef>
            </a:pPr>
            <a:endParaRPr lang="en-US" altLang="en-US" dirty="0">
              <a:ea typeface="MS PGothic" panose="020B0600070205080204" pitchFamily="34" charset="-128"/>
            </a:endParaRPr>
          </a:p>
        </p:txBody>
      </p:sp>
      <p:sp>
        <p:nvSpPr>
          <p:cNvPr id="4" name="TextBox 3">
            <a:extLst>
              <a:ext uri="{FF2B5EF4-FFF2-40B4-BE49-F238E27FC236}">
                <a16:creationId xmlns:a16="http://schemas.microsoft.com/office/drawing/2014/main" id="{E4B93C22-B199-D24E-A11B-AE43E1571115}"/>
              </a:ext>
            </a:extLst>
          </p:cNvPr>
          <p:cNvSpPr txBox="1"/>
          <p:nvPr/>
        </p:nvSpPr>
        <p:spPr>
          <a:xfrm>
            <a:off x="7852293" y="6309360"/>
            <a:ext cx="4306756" cy="812530"/>
          </a:xfrm>
          <a:prstGeom prst="rect">
            <a:avLst/>
          </a:prstGeom>
          <a:noFill/>
        </p:spPr>
        <p:txBody>
          <a:bodyPr wrap="none" rtlCol="0">
            <a:spAutoFit/>
          </a:bodyPr>
          <a:lstStyle/>
          <a:p>
            <a:pPr>
              <a:lnSpc>
                <a:spcPct val="80000"/>
              </a:lnSpc>
              <a:spcBef>
                <a:spcPct val="0"/>
              </a:spcBef>
              <a:buNone/>
            </a:pPr>
            <a:r>
              <a:rPr lang="en-US" altLang="en-US" baseline="30000" dirty="0">
                <a:ea typeface="MS PGothic" panose="020B0600070205080204" pitchFamily="34" charset="-128"/>
              </a:rPr>
              <a:t>1 </a:t>
            </a:r>
            <a:r>
              <a:rPr lang="en-US" altLang="en-US" dirty="0">
                <a:ea typeface="MS PGothic" panose="020B0600070205080204" pitchFamily="34" charset="-128"/>
              </a:rPr>
              <a:t>Concise Binary Object Representation</a:t>
            </a:r>
          </a:p>
          <a:p>
            <a:pPr>
              <a:lnSpc>
                <a:spcPct val="80000"/>
              </a:lnSpc>
              <a:spcBef>
                <a:spcPct val="0"/>
              </a:spcBef>
              <a:buNone/>
            </a:pPr>
            <a:r>
              <a:rPr lang="en-US" altLang="en-US" baseline="30000" dirty="0">
                <a:ea typeface="MS PGothic" panose="020B0600070205080204" pitchFamily="34" charset="-128"/>
              </a:rPr>
              <a:t>2</a:t>
            </a:r>
            <a:r>
              <a:rPr lang="en-US" altLang="en-US" dirty="0">
                <a:ea typeface="MS PGothic" panose="020B0600070205080204" pitchFamily="34" charset="-128"/>
              </a:rPr>
              <a:t> Datagram Transport Layer Security</a:t>
            </a:r>
          </a:p>
          <a:p>
            <a:endParaRPr lang="en-US" dirty="0"/>
          </a:p>
        </p:txBody>
      </p:sp>
    </p:spTree>
    <p:extLst>
      <p:ext uri="{BB962C8B-B14F-4D97-AF65-F5344CB8AC3E}">
        <p14:creationId xmlns:p14="http://schemas.microsoft.com/office/powerpoint/2010/main" val="2700263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11FF6-6C41-3D41-8673-4A88DDF7F416}"/>
              </a:ext>
            </a:extLst>
          </p:cNvPr>
          <p:cNvSpPr>
            <a:spLocks noGrp="1"/>
          </p:cNvSpPr>
          <p:nvPr>
            <p:ph type="title"/>
          </p:nvPr>
        </p:nvSpPr>
        <p:spPr/>
        <p:txBody>
          <a:bodyPr/>
          <a:lstStyle/>
          <a:p>
            <a:r>
              <a:rPr lang="en-US" dirty="0"/>
              <a:t>End-to-End REST Operation in CoAP</a:t>
            </a:r>
          </a:p>
        </p:txBody>
      </p:sp>
      <p:pic>
        <p:nvPicPr>
          <p:cNvPr id="4" name="Picture 3" descr="Screen Shot 2016-11-03 at 12.59.46 AM.png">
            <a:extLst>
              <a:ext uri="{FF2B5EF4-FFF2-40B4-BE49-F238E27FC236}">
                <a16:creationId xmlns:a16="http://schemas.microsoft.com/office/drawing/2014/main" id="{472E4CBA-6275-A241-A7CF-0B7872BDF61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58714" y="1752600"/>
            <a:ext cx="8033286" cy="4556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23F7A7D9-6688-0145-9946-41AA52C577A5}"/>
              </a:ext>
            </a:extLst>
          </p:cNvPr>
          <p:cNvSpPr>
            <a:spLocks noGrp="1"/>
          </p:cNvSpPr>
          <p:nvPr>
            <p:ph idx="1"/>
          </p:nvPr>
        </p:nvSpPr>
        <p:spPr>
          <a:xfrm>
            <a:off x="674134" y="2183892"/>
            <a:ext cx="4349812" cy="4272326"/>
          </a:xfrm>
        </p:spPr>
        <p:txBody>
          <a:bodyPr>
            <a:normAutofit fontScale="77500" lnSpcReduction="20000"/>
          </a:bodyPr>
          <a:lstStyle/>
          <a:p>
            <a:r>
              <a:rPr lang="en-US" dirty="0"/>
              <a:t>Each CoAP thing is both a client and a server.</a:t>
            </a:r>
          </a:p>
          <a:p>
            <a:r>
              <a:rPr lang="en-US" dirty="0"/>
              <a:t>This means a CoAP device can directly interact with another CoAP device – no need for an HTTP server.</a:t>
            </a:r>
          </a:p>
          <a:p>
            <a:r>
              <a:rPr lang="en-US" dirty="0"/>
              <a:t>CoAP seamlessly integrates with HTTP, however, through a proxy.  </a:t>
            </a:r>
          </a:p>
          <a:p>
            <a:r>
              <a:rPr lang="en-US" dirty="0"/>
              <a:t>Dedicated </a:t>
            </a:r>
            <a:r>
              <a:rPr lang="en-US" dirty="0" err="1"/>
              <a:t>CoAp</a:t>
            </a:r>
            <a:r>
              <a:rPr lang="en-US" dirty="0"/>
              <a:t> servers can be deployed and used on the Internet</a:t>
            </a:r>
          </a:p>
        </p:txBody>
      </p:sp>
    </p:spTree>
    <p:extLst>
      <p:ext uri="{BB962C8B-B14F-4D97-AF65-F5344CB8AC3E}">
        <p14:creationId xmlns:p14="http://schemas.microsoft.com/office/powerpoint/2010/main" val="2663829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11FF6-6C41-3D41-8673-4A88DDF7F416}"/>
              </a:ext>
            </a:extLst>
          </p:cNvPr>
          <p:cNvSpPr>
            <a:spLocks noGrp="1"/>
          </p:cNvSpPr>
          <p:nvPr>
            <p:ph type="title"/>
          </p:nvPr>
        </p:nvSpPr>
        <p:spPr/>
        <p:txBody>
          <a:bodyPr>
            <a:normAutofit/>
          </a:bodyPr>
          <a:lstStyle/>
          <a:p>
            <a:r>
              <a:rPr lang="en-US" dirty="0"/>
              <a:t>More Features of the CoAP Protocol</a:t>
            </a:r>
          </a:p>
        </p:txBody>
      </p:sp>
      <p:sp>
        <p:nvSpPr>
          <p:cNvPr id="3" name="Content Placeholder 2">
            <a:extLst>
              <a:ext uri="{FF2B5EF4-FFF2-40B4-BE49-F238E27FC236}">
                <a16:creationId xmlns:a16="http://schemas.microsoft.com/office/drawing/2014/main" id="{23F7A7D9-6688-0145-9946-41AA52C577A5}"/>
              </a:ext>
            </a:extLst>
          </p:cNvPr>
          <p:cNvSpPr>
            <a:spLocks noGrp="1"/>
          </p:cNvSpPr>
          <p:nvPr>
            <p:ph idx="1"/>
          </p:nvPr>
        </p:nvSpPr>
        <p:spPr>
          <a:xfrm>
            <a:off x="1115568" y="2303852"/>
            <a:ext cx="10168128" cy="3029135"/>
          </a:xfrm>
        </p:spPr>
        <p:txBody>
          <a:bodyPr/>
          <a:lstStyle/>
          <a:p>
            <a:pPr marL="419100" indent="-342900">
              <a:spcBef>
                <a:spcPct val="0"/>
              </a:spcBef>
              <a:buClr>
                <a:srgbClr val="000000"/>
              </a:buClr>
            </a:pPr>
            <a:r>
              <a:rPr lang="en-US" altLang="en-US" sz="2400" dirty="0">
                <a:solidFill>
                  <a:srgbClr val="000000"/>
                </a:solidFill>
                <a:ea typeface="MS PGothic" panose="020B0600070205080204" pitchFamily="34" charset="-128"/>
              </a:rPr>
              <a:t>Resource advertisement and discovery mechanisms: </a:t>
            </a:r>
          </a:p>
          <a:p>
            <a:pPr marL="768350" lvl="1" indent="-342900">
              <a:spcBef>
                <a:spcPct val="0"/>
              </a:spcBef>
              <a:buClr>
                <a:srgbClr val="000000"/>
              </a:buClr>
            </a:pPr>
            <a:r>
              <a:rPr lang="en-US" altLang="en-US" sz="2000" dirty="0">
                <a:solidFill>
                  <a:srgbClr val="000000"/>
                </a:solidFill>
              </a:rPr>
              <a:t>Servers multicast a list of their resources (along with metadata about them). </a:t>
            </a:r>
            <a:r>
              <a:rPr lang="en-US" altLang="en-US" sz="2000" b="1" dirty="0">
                <a:solidFill>
                  <a:srgbClr val="C00000"/>
                </a:solidFill>
              </a:rPr>
              <a:t>Why this is a major advantage over RESTful services? </a:t>
            </a:r>
          </a:p>
          <a:p>
            <a:pPr marL="768350" lvl="1" indent="-342900">
              <a:spcBef>
                <a:spcPct val="0"/>
              </a:spcBef>
              <a:buClr>
                <a:srgbClr val="000000"/>
              </a:buClr>
            </a:pPr>
            <a:endParaRPr lang="en-US" altLang="en-US" sz="2000" dirty="0">
              <a:solidFill>
                <a:srgbClr val="000000"/>
              </a:solidFill>
            </a:endParaRPr>
          </a:p>
          <a:p>
            <a:pPr marL="419100" indent="-342900">
              <a:spcBef>
                <a:spcPct val="0"/>
              </a:spcBef>
              <a:buClr>
                <a:srgbClr val="000000"/>
              </a:buClr>
            </a:pPr>
            <a:r>
              <a:rPr lang="en-US" altLang="en-US" sz="2400" dirty="0">
                <a:solidFill>
                  <a:srgbClr val="000000"/>
                </a:solidFill>
                <a:ea typeface="MS PGothic" panose="020B0600070205080204" pitchFamily="34" charset="-128"/>
              </a:rPr>
              <a:t>Powerful PUSH-type I/O: </a:t>
            </a:r>
          </a:p>
          <a:p>
            <a:pPr marL="768350" lvl="1" indent="-342900">
              <a:spcBef>
                <a:spcPct val="0"/>
              </a:spcBef>
              <a:buClr>
                <a:srgbClr val="000000"/>
              </a:buClr>
            </a:pPr>
            <a:r>
              <a:rPr lang="en-US" altLang="en-US" sz="2000" dirty="0" err="1">
                <a:solidFill>
                  <a:srgbClr val="000000"/>
                </a:solidFill>
              </a:rPr>
              <a:t>CoAP</a:t>
            </a:r>
            <a:r>
              <a:rPr lang="en-US" altLang="en-US" sz="2000" dirty="0">
                <a:solidFill>
                  <a:srgbClr val="000000"/>
                </a:solidFill>
              </a:rPr>
              <a:t> extends the HTTP request model with the ability to observe a resource, this allows servers to stream state changes to clients as they occur.</a:t>
            </a:r>
          </a:p>
          <a:p>
            <a:endParaRPr lang="en-US" dirty="0"/>
          </a:p>
        </p:txBody>
      </p:sp>
      <p:sp>
        <p:nvSpPr>
          <p:cNvPr id="4" name="Content Placeholder 2">
            <a:extLst>
              <a:ext uri="{FF2B5EF4-FFF2-40B4-BE49-F238E27FC236}">
                <a16:creationId xmlns:a16="http://schemas.microsoft.com/office/drawing/2014/main" id="{40E544FB-754D-4F41-B6AB-6EF799175DE6}"/>
              </a:ext>
            </a:extLst>
          </p:cNvPr>
          <p:cNvSpPr txBox="1">
            <a:spLocks/>
          </p:cNvSpPr>
          <p:nvPr/>
        </p:nvSpPr>
        <p:spPr>
          <a:xfrm>
            <a:off x="1031485" y="5214737"/>
            <a:ext cx="10685135" cy="153792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19100" indent="-342900">
              <a:spcBef>
                <a:spcPct val="0"/>
              </a:spcBef>
              <a:buNone/>
            </a:pPr>
            <a:r>
              <a:rPr lang="en-US" altLang="en-US" sz="2000" dirty="0">
                <a:solidFill>
                  <a:srgbClr val="000000"/>
                </a:solidFill>
                <a:ea typeface="MS PGothic" panose="020B0600070205080204" pitchFamily="34" charset="-128"/>
              </a:rPr>
              <a:t>References:</a:t>
            </a:r>
          </a:p>
          <a:p>
            <a:pPr marL="419100" indent="-342900">
              <a:spcBef>
                <a:spcPct val="0"/>
              </a:spcBef>
              <a:buClr>
                <a:srgbClr val="000000"/>
              </a:buClr>
              <a:buFont typeface="Arial" panose="020B0604020202020204" pitchFamily="34" charset="0"/>
              <a:buAutoNum type="arabicPeriod"/>
            </a:pPr>
            <a:r>
              <a:rPr lang="en-US" altLang="en-US" sz="1600" dirty="0">
                <a:solidFill>
                  <a:srgbClr val="000000"/>
                </a:solidFill>
                <a:ea typeface="MS PGothic" panose="020B0600070205080204" pitchFamily="34" charset="-128"/>
              </a:rPr>
              <a:t>http://</a:t>
            </a:r>
            <a:r>
              <a:rPr lang="en-US" altLang="en-US" sz="1600" dirty="0" err="1">
                <a:solidFill>
                  <a:srgbClr val="000000"/>
                </a:solidFill>
                <a:ea typeface="MS PGothic" panose="020B0600070205080204" pitchFamily="34" charset="-128"/>
              </a:rPr>
              <a:t>coap.technology</a:t>
            </a:r>
            <a:r>
              <a:rPr lang="en-US" altLang="en-US" sz="1600" dirty="0">
                <a:solidFill>
                  <a:srgbClr val="000000"/>
                </a:solidFill>
                <a:ea typeface="MS PGothic" panose="020B0600070205080204" pitchFamily="34" charset="-128"/>
              </a:rPr>
              <a:t>/</a:t>
            </a:r>
          </a:p>
          <a:p>
            <a:pPr marL="419100" indent="-342900">
              <a:spcBef>
                <a:spcPct val="0"/>
              </a:spcBef>
              <a:buClr>
                <a:srgbClr val="000000"/>
              </a:buClr>
              <a:buFont typeface="Arial" panose="020B0604020202020204" pitchFamily="34" charset="0"/>
              <a:buAutoNum type="arabicPeriod"/>
            </a:pPr>
            <a:r>
              <a:rPr lang="en-US" altLang="en-US" sz="1600" dirty="0">
                <a:solidFill>
                  <a:srgbClr val="000000"/>
                </a:solidFill>
                <a:ea typeface="MS PGothic" panose="020B0600070205080204" pitchFamily="34" charset="-128"/>
                <a:hlinkClick r:id="rId2"/>
              </a:rPr>
              <a:t>http://www.eclipse.org/community/eclipse_newsletter/2014/february/article2.php</a:t>
            </a:r>
            <a:endParaRPr lang="en-US" altLang="en-US" sz="1600" dirty="0">
              <a:solidFill>
                <a:srgbClr val="000000"/>
              </a:solidFill>
              <a:ea typeface="MS PGothic" panose="020B0600070205080204" pitchFamily="34" charset="-128"/>
            </a:endParaRPr>
          </a:p>
          <a:p>
            <a:pPr marL="419100" indent="-342900">
              <a:spcBef>
                <a:spcPct val="0"/>
              </a:spcBef>
              <a:buClr>
                <a:srgbClr val="000000"/>
              </a:buClr>
              <a:buFont typeface="Arial" panose="020B0604020202020204" pitchFamily="34" charset="0"/>
              <a:buAutoNum type="arabicPeriod"/>
            </a:pPr>
            <a:r>
              <a:rPr lang="en-US" altLang="en-US" sz="1600" dirty="0">
                <a:solidFill>
                  <a:srgbClr val="000000"/>
                </a:solidFill>
                <a:ea typeface="MS PGothic" panose="020B0600070205080204" pitchFamily="34" charset="-128"/>
              </a:rPr>
              <a:t>A good presentation by Johan </a:t>
            </a:r>
            <a:r>
              <a:rPr lang="en-US" altLang="en-US" sz="1600" dirty="0" err="1">
                <a:solidFill>
                  <a:srgbClr val="000000"/>
                </a:solidFill>
                <a:ea typeface="MS PGothic" panose="020B0600070205080204" pitchFamily="34" charset="-128"/>
              </a:rPr>
              <a:t>Lukkien</a:t>
            </a:r>
            <a:r>
              <a:rPr lang="en-US" altLang="en-US" sz="1600" dirty="0">
                <a:solidFill>
                  <a:srgbClr val="000000"/>
                </a:solidFill>
                <a:ea typeface="MS PGothic" panose="020B0600070205080204" pitchFamily="34" charset="-128"/>
              </a:rPr>
              <a:t>, TU: </a:t>
            </a:r>
            <a:r>
              <a:rPr lang="en-US" altLang="en-US" sz="1600" dirty="0">
                <a:solidFill>
                  <a:srgbClr val="000000"/>
                </a:solidFill>
                <a:ea typeface="MS PGothic" panose="020B0600070205080204" pitchFamily="34" charset="-128"/>
                <a:hlinkClick r:id="rId3"/>
              </a:rPr>
              <a:t>http://www.win.tue.nl/~johanl/educ/2IMN15/IoT-08-CoAP.pdf</a:t>
            </a:r>
            <a:r>
              <a:rPr lang="en-US" altLang="en-US" sz="1600" dirty="0">
                <a:solidFill>
                  <a:srgbClr val="000000"/>
                </a:solidFill>
                <a:ea typeface="MS PGothic" panose="020B0600070205080204" pitchFamily="34" charset="-128"/>
              </a:rPr>
              <a:t> </a:t>
            </a:r>
          </a:p>
        </p:txBody>
      </p:sp>
    </p:spTree>
    <p:extLst>
      <p:ext uri="{BB962C8B-B14F-4D97-AF65-F5344CB8AC3E}">
        <p14:creationId xmlns:p14="http://schemas.microsoft.com/office/powerpoint/2010/main" val="14197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792D3D44-6CF2-FB4E-82DB-0AA9523167CA}"/>
              </a:ext>
            </a:extLst>
          </p:cNvPr>
          <p:cNvSpPr>
            <a:spLocks noGrp="1"/>
          </p:cNvSpPr>
          <p:nvPr>
            <p:ph type="title"/>
          </p:nvPr>
        </p:nvSpPr>
        <p:spPr>
          <a:xfrm>
            <a:off x="0" y="2133599"/>
            <a:ext cx="12192000" cy="1745673"/>
          </a:xfrm>
          <a:solidFill>
            <a:schemeClr val="bg2">
              <a:lumMod val="90000"/>
            </a:schemeClr>
          </a:solidFill>
        </p:spPr>
        <p:txBody>
          <a:bodyPr vert="horz" lIns="91425" tIns="91425" rIns="91425" bIns="91425" rtlCol="0" anchor="ctr">
            <a:normAutofit/>
          </a:bodyPr>
          <a:lstStyle/>
          <a:p>
            <a:pPr>
              <a:spcBef>
                <a:spcPct val="0"/>
              </a:spcBef>
            </a:pPr>
            <a:r>
              <a:rPr lang="en-US" altLang="en-US" sz="5400" dirty="0">
                <a:ea typeface="MS PGothic" panose="020B0600070205080204" pitchFamily="34" charset="-128"/>
              </a:rPr>
              <a:t>MQTT</a:t>
            </a:r>
            <a:br>
              <a:rPr lang="en-US" altLang="en-US" sz="5400" dirty="0">
                <a:ea typeface="MS PGothic" panose="020B0600070205080204" pitchFamily="34" charset="-128"/>
              </a:rPr>
            </a:br>
            <a:r>
              <a:rPr lang="en-US" altLang="en-US" dirty="0">
                <a:ea typeface="MS PGothic" panose="020B0600070205080204" pitchFamily="34" charset="-128"/>
              </a:rPr>
              <a:t>Message Queuing Telemetry Transport</a:t>
            </a:r>
            <a:endParaRPr lang="en-US" altLang="en-US" sz="5400" dirty="0">
              <a:ea typeface="MS PGothic" panose="020B0600070205080204" pitchFamily="34" charset="-128"/>
            </a:endParaRPr>
          </a:p>
        </p:txBody>
      </p:sp>
    </p:spTree>
    <p:extLst>
      <p:ext uri="{BB962C8B-B14F-4D97-AF65-F5344CB8AC3E}">
        <p14:creationId xmlns:p14="http://schemas.microsoft.com/office/powerpoint/2010/main" val="1773311094"/>
      </p:ext>
    </p:extLst>
  </p:cSld>
  <p:clrMapOvr>
    <a:masterClrMapping/>
  </p:clrMapOvr>
  <p:transition spd="slow">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11FF6-6C41-3D41-8673-4A88DDF7F416}"/>
              </a:ext>
            </a:extLst>
          </p:cNvPr>
          <p:cNvSpPr>
            <a:spLocks noGrp="1"/>
          </p:cNvSpPr>
          <p:nvPr>
            <p:ph type="title"/>
          </p:nvPr>
        </p:nvSpPr>
        <p:spPr/>
        <p:txBody>
          <a:bodyPr>
            <a:normAutofit fontScale="90000"/>
          </a:bodyPr>
          <a:lstStyle/>
          <a:p>
            <a:r>
              <a:rPr lang="en-US" dirty="0"/>
              <a:t>Message Queuing Telemetry </a:t>
            </a:r>
            <a:br>
              <a:rPr lang="en-US" dirty="0"/>
            </a:br>
            <a:r>
              <a:rPr lang="en-US" dirty="0"/>
              <a:t>Transport (MQTT)</a:t>
            </a:r>
          </a:p>
        </p:txBody>
      </p:sp>
      <p:sp>
        <p:nvSpPr>
          <p:cNvPr id="3" name="Content Placeholder 2">
            <a:extLst>
              <a:ext uri="{FF2B5EF4-FFF2-40B4-BE49-F238E27FC236}">
                <a16:creationId xmlns:a16="http://schemas.microsoft.com/office/drawing/2014/main" id="{23F7A7D9-6688-0145-9946-41AA52C577A5}"/>
              </a:ext>
            </a:extLst>
          </p:cNvPr>
          <p:cNvSpPr>
            <a:spLocks noGrp="1"/>
          </p:cNvSpPr>
          <p:nvPr>
            <p:ph idx="1"/>
          </p:nvPr>
        </p:nvSpPr>
        <p:spPr/>
        <p:txBody>
          <a:bodyPr>
            <a:normAutofit fontScale="70000" lnSpcReduction="20000"/>
          </a:bodyPr>
          <a:lstStyle/>
          <a:p>
            <a:pPr marL="0" indent="0">
              <a:spcBef>
                <a:spcPts val="600"/>
              </a:spcBef>
              <a:buClr>
                <a:srgbClr val="000000"/>
              </a:buClr>
              <a:buNone/>
            </a:pPr>
            <a:r>
              <a:rPr lang="en-US" altLang="en-US" dirty="0">
                <a:solidFill>
                  <a:srgbClr val="000000"/>
                </a:solidFill>
              </a:rPr>
              <a:t>Why MQTT:</a:t>
            </a:r>
          </a:p>
          <a:p>
            <a:pPr marL="0" indent="0">
              <a:spcBef>
                <a:spcPts val="600"/>
              </a:spcBef>
              <a:buClr>
                <a:srgbClr val="000000"/>
              </a:buClr>
              <a:buNone/>
            </a:pPr>
            <a:endParaRPr lang="en-US" altLang="en-US" dirty="0">
              <a:solidFill>
                <a:srgbClr val="000000"/>
              </a:solidFill>
            </a:endParaRPr>
          </a:p>
          <a:p>
            <a:pPr marL="311150" indent="-342900">
              <a:spcBef>
                <a:spcPts val="600"/>
              </a:spcBef>
              <a:buClr>
                <a:srgbClr val="000000"/>
              </a:buClr>
            </a:pPr>
            <a:r>
              <a:rPr lang="en-US" altLang="en-US" dirty="0">
                <a:solidFill>
                  <a:srgbClr val="000000"/>
                </a:solidFill>
              </a:rPr>
              <a:t>Sometimes, we know what we want and where we might find it (</a:t>
            </a:r>
            <a:r>
              <a:rPr lang="en-US" altLang="en-US" b="1" dirty="0">
                <a:solidFill>
                  <a:srgbClr val="000000"/>
                </a:solidFill>
              </a:rPr>
              <a:t>REST</a:t>
            </a:r>
            <a:r>
              <a:rPr lang="en-US" altLang="en-US" dirty="0">
                <a:solidFill>
                  <a:srgbClr val="000000"/>
                </a:solidFill>
              </a:rPr>
              <a:t>)</a:t>
            </a:r>
          </a:p>
          <a:p>
            <a:pPr marL="311150" indent="-342900">
              <a:spcBef>
                <a:spcPts val="600"/>
              </a:spcBef>
              <a:buClr>
                <a:srgbClr val="000000"/>
              </a:buClr>
            </a:pPr>
            <a:r>
              <a:rPr lang="en-US" altLang="en-US" dirty="0">
                <a:solidFill>
                  <a:srgbClr val="000000"/>
                </a:solidFill>
              </a:rPr>
              <a:t>Yet, sometimes, we may know what we want, but do not know (or do not want to know where to get it from) (</a:t>
            </a:r>
            <a:r>
              <a:rPr lang="en-US" altLang="en-US" b="1" dirty="0">
                <a:solidFill>
                  <a:srgbClr val="000000"/>
                </a:solidFill>
              </a:rPr>
              <a:t>MQTT</a:t>
            </a:r>
            <a:r>
              <a:rPr lang="en-US" altLang="en-US" dirty="0">
                <a:solidFill>
                  <a:srgbClr val="000000"/>
                </a:solidFill>
              </a:rPr>
              <a:t>).	</a:t>
            </a:r>
          </a:p>
          <a:p>
            <a:pPr marL="768350" lvl="1" indent="-342900">
              <a:spcBef>
                <a:spcPts val="600"/>
              </a:spcBef>
              <a:buClr>
                <a:srgbClr val="000000"/>
              </a:buClr>
            </a:pPr>
            <a:r>
              <a:rPr lang="en-US" altLang="en-US" dirty="0">
                <a:solidFill>
                  <a:srgbClr val="000000"/>
                </a:solidFill>
              </a:rPr>
              <a:t>I am interested in learning about the weather but do not care who provide the weather information. </a:t>
            </a:r>
          </a:p>
          <a:p>
            <a:pPr marL="311150" indent="-342900">
              <a:spcBef>
                <a:spcPts val="600"/>
              </a:spcBef>
              <a:buClr>
                <a:srgbClr val="000000"/>
              </a:buClr>
            </a:pPr>
            <a:r>
              <a:rPr lang="en-US" altLang="en-US" dirty="0">
                <a:solidFill>
                  <a:srgbClr val="000000"/>
                </a:solidFill>
              </a:rPr>
              <a:t>Also, sometimes we do not care to tell the world about ourselves (</a:t>
            </a:r>
            <a:r>
              <a:rPr lang="en-US" altLang="en-US" b="1" dirty="0">
                <a:solidFill>
                  <a:srgbClr val="000000"/>
                </a:solidFill>
              </a:rPr>
              <a:t>REST</a:t>
            </a:r>
            <a:r>
              <a:rPr lang="en-US" altLang="en-US" dirty="0">
                <a:solidFill>
                  <a:srgbClr val="000000"/>
                </a:solidFill>
              </a:rPr>
              <a:t>), yet sometimes, it is crucial to let everybody knows (</a:t>
            </a:r>
            <a:r>
              <a:rPr lang="en-US" altLang="en-US" b="1" dirty="0">
                <a:solidFill>
                  <a:srgbClr val="000000"/>
                </a:solidFill>
              </a:rPr>
              <a:t>MQTT &amp; CoAP</a:t>
            </a:r>
            <a:r>
              <a:rPr lang="en-US" altLang="en-US" dirty="0">
                <a:solidFill>
                  <a:srgbClr val="000000"/>
                </a:solidFill>
              </a:rPr>
              <a:t>).</a:t>
            </a:r>
          </a:p>
          <a:p>
            <a:pPr marL="768350" lvl="1" indent="-342900">
              <a:spcBef>
                <a:spcPts val="600"/>
              </a:spcBef>
              <a:buClr>
                <a:srgbClr val="000000"/>
              </a:buClr>
            </a:pPr>
            <a:r>
              <a:rPr lang="en-US" altLang="en-US" dirty="0">
                <a:solidFill>
                  <a:srgbClr val="000000"/>
                </a:solidFill>
              </a:rPr>
              <a:t>Example: </a:t>
            </a:r>
            <a:r>
              <a:rPr lang="en-US" dirty="0"/>
              <a:t>A sensor publishes temperature readings — it doesn't need to know which dashboard is subscribing (</a:t>
            </a:r>
            <a:r>
              <a:rPr lang="en-US" b="1" dirty="0"/>
              <a:t>MQTT</a:t>
            </a:r>
            <a:r>
              <a:rPr lang="en-US" dirty="0"/>
              <a:t>)</a:t>
            </a:r>
            <a:endParaRPr lang="en-US" altLang="en-US" dirty="0">
              <a:solidFill>
                <a:srgbClr val="000000"/>
              </a:solidFill>
            </a:endParaRPr>
          </a:p>
          <a:p>
            <a:endParaRPr lang="en-US" dirty="0"/>
          </a:p>
        </p:txBody>
      </p:sp>
      <p:pic>
        <p:nvPicPr>
          <p:cNvPr id="4" name="Shape 57">
            <a:extLst>
              <a:ext uri="{FF2B5EF4-FFF2-40B4-BE49-F238E27FC236}">
                <a16:creationId xmlns:a16="http://schemas.microsoft.com/office/drawing/2014/main" id="{137198F4-E94C-484E-A576-74266FFCF3BE}"/>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5384" y="685800"/>
            <a:ext cx="167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5268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Screen Shot 2016-11-03 at 1.25.54 AM.png">
            <a:extLst>
              <a:ext uri="{FF2B5EF4-FFF2-40B4-BE49-F238E27FC236}">
                <a16:creationId xmlns:a16="http://schemas.microsoft.com/office/drawing/2014/main" id="{AE0CF59A-8F10-7F48-9402-281A463C709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10564" y="2478024"/>
            <a:ext cx="4981436" cy="2508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0DC11FF6-6C41-3D41-8673-4A88DDF7F416}"/>
              </a:ext>
            </a:extLst>
          </p:cNvPr>
          <p:cNvSpPr>
            <a:spLocks noGrp="1"/>
          </p:cNvSpPr>
          <p:nvPr>
            <p:ph type="title"/>
          </p:nvPr>
        </p:nvSpPr>
        <p:spPr>
          <a:xfrm>
            <a:off x="1115567" y="548640"/>
            <a:ext cx="10624487" cy="1179576"/>
          </a:xfrm>
        </p:spPr>
        <p:txBody>
          <a:bodyPr>
            <a:normAutofit fontScale="90000"/>
          </a:bodyPr>
          <a:lstStyle/>
          <a:p>
            <a:r>
              <a:rPr lang="en-US" altLang="en-US" dirty="0">
                <a:ea typeface="MS PGothic" panose="020B0600070205080204" pitchFamily="34" charset="-128"/>
              </a:rPr>
              <a:t>MQTT - Message </a:t>
            </a:r>
            <a:r>
              <a:rPr lang="en-US" altLang="en-US" b="1" dirty="0">
                <a:ea typeface="MS PGothic" panose="020B0600070205080204" pitchFamily="34" charset="-128"/>
              </a:rPr>
              <a:t>Queuing</a:t>
            </a:r>
            <a:r>
              <a:rPr lang="en-US" altLang="en-US" dirty="0">
                <a:ea typeface="MS PGothic" panose="020B0600070205080204" pitchFamily="34" charset="-128"/>
              </a:rPr>
              <a:t> Telemetry Transport</a:t>
            </a:r>
            <a:br>
              <a:rPr lang="en-US" altLang="en-US" dirty="0">
                <a:ea typeface="MS PGothic" panose="020B0600070205080204" pitchFamily="34" charset="-128"/>
              </a:rPr>
            </a:br>
            <a:endParaRPr lang="en-US" dirty="0"/>
          </a:p>
        </p:txBody>
      </p:sp>
      <p:sp>
        <p:nvSpPr>
          <p:cNvPr id="3" name="Content Placeholder 2">
            <a:extLst>
              <a:ext uri="{FF2B5EF4-FFF2-40B4-BE49-F238E27FC236}">
                <a16:creationId xmlns:a16="http://schemas.microsoft.com/office/drawing/2014/main" id="{23F7A7D9-6688-0145-9946-41AA52C577A5}"/>
              </a:ext>
            </a:extLst>
          </p:cNvPr>
          <p:cNvSpPr>
            <a:spLocks noGrp="1"/>
          </p:cNvSpPr>
          <p:nvPr>
            <p:ph idx="1"/>
          </p:nvPr>
        </p:nvSpPr>
        <p:spPr>
          <a:xfrm>
            <a:off x="828185" y="2138389"/>
            <a:ext cx="7954291" cy="3694176"/>
          </a:xfrm>
        </p:spPr>
        <p:txBody>
          <a:bodyPr>
            <a:normAutofit fontScale="77500" lnSpcReduction="20000"/>
          </a:bodyPr>
          <a:lstStyle/>
          <a:p>
            <a:pPr>
              <a:buFont typeface="Arial"/>
              <a:buChar char="•"/>
              <a:defRPr/>
            </a:pPr>
            <a:r>
              <a:rPr lang="en-US" dirty="0"/>
              <a:t>Old Concept of </a:t>
            </a:r>
            <a:r>
              <a:rPr lang="en-US" b="1" dirty="0"/>
              <a:t>Message Queues </a:t>
            </a:r>
            <a:r>
              <a:rPr lang="en-US" dirty="0"/>
              <a:t>brought to IoT World</a:t>
            </a:r>
          </a:p>
          <a:p>
            <a:pPr>
              <a:buFont typeface="Arial"/>
              <a:buChar char="•"/>
              <a:defRPr/>
            </a:pPr>
            <a:r>
              <a:rPr lang="en-US" dirty="0"/>
              <a:t>A light-weight event and message-oriented protocol allowing devices to </a:t>
            </a:r>
            <a:r>
              <a:rPr lang="en-US" b="1" dirty="0"/>
              <a:t>asynchronously</a:t>
            </a:r>
            <a:r>
              <a:rPr lang="en-US" dirty="0"/>
              <a:t> communicate efficiently across constrained networks to remote systems</a:t>
            </a:r>
          </a:p>
          <a:p>
            <a:pPr>
              <a:buFont typeface="Arial"/>
              <a:buChar char="•"/>
              <a:defRPr/>
            </a:pPr>
            <a:r>
              <a:rPr lang="en-US" b="1" dirty="0">
                <a:solidFill>
                  <a:srgbClr val="000000"/>
                </a:solidFill>
              </a:rPr>
              <a:t>Publishers</a:t>
            </a:r>
            <a:r>
              <a:rPr lang="en-US" dirty="0">
                <a:solidFill>
                  <a:srgbClr val="000000"/>
                </a:solidFill>
              </a:rPr>
              <a:t> publish messages on a </a:t>
            </a:r>
            <a:r>
              <a:rPr lang="en-US" b="1" dirty="0">
                <a:solidFill>
                  <a:srgbClr val="000000"/>
                </a:solidFill>
              </a:rPr>
              <a:t>topic</a:t>
            </a:r>
            <a:r>
              <a:rPr lang="en-US" dirty="0">
                <a:solidFill>
                  <a:srgbClr val="000000"/>
                </a:solidFill>
              </a:rPr>
              <a:t>. </a:t>
            </a:r>
          </a:p>
          <a:p>
            <a:pPr>
              <a:buFont typeface="Arial"/>
              <a:buChar char="•"/>
              <a:defRPr/>
            </a:pPr>
            <a:r>
              <a:rPr lang="en-US" b="1" dirty="0">
                <a:solidFill>
                  <a:srgbClr val="000000"/>
                </a:solidFill>
              </a:rPr>
              <a:t>Subscribers</a:t>
            </a:r>
            <a:r>
              <a:rPr lang="en-US" dirty="0">
                <a:solidFill>
                  <a:srgbClr val="000000"/>
                </a:solidFill>
              </a:rPr>
              <a:t> subscribe to messages about a </a:t>
            </a:r>
            <a:r>
              <a:rPr lang="en-US" b="1" dirty="0">
                <a:solidFill>
                  <a:srgbClr val="000000"/>
                </a:solidFill>
              </a:rPr>
              <a:t>topic</a:t>
            </a:r>
            <a:r>
              <a:rPr lang="en-US" dirty="0">
                <a:solidFill>
                  <a:srgbClr val="000000"/>
                </a:solidFill>
              </a:rPr>
              <a:t>. </a:t>
            </a:r>
          </a:p>
          <a:p>
            <a:pPr>
              <a:buFont typeface="Arial"/>
              <a:buChar char="•"/>
              <a:defRPr/>
            </a:pPr>
            <a:r>
              <a:rPr lang="en-US" b="1" dirty="0">
                <a:solidFill>
                  <a:srgbClr val="000000"/>
                </a:solidFill>
              </a:rPr>
              <a:t>Broker</a:t>
            </a:r>
            <a:r>
              <a:rPr lang="en-US" dirty="0">
                <a:solidFill>
                  <a:srgbClr val="000000"/>
                </a:solidFill>
              </a:rPr>
              <a:t> is used to match sub/pub and to deliver messages in case of matches. </a:t>
            </a:r>
          </a:p>
          <a:p>
            <a:pPr marL="0" indent="0">
              <a:buNone/>
            </a:pPr>
            <a:endParaRPr lang="en-US" dirty="0"/>
          </a:p>
        </p:txBody>
      </p:sp>
    </p:spTree>
    <p:extLst>
      <p:ext uri="{BB962C8B-B14F-4D97-AF65-F5344CB8AC3E}">
        <p14:creationId xmlns:p14="http://schemas.microsoft.com/office/powerpoint/2010/main" val="2065232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11FF6-6C41-3D41-8673-4A88DDF7F416}"/>
              </a:ext>
            </a:extLst>
          </p:cNvPr>
          <p:cNvSpPr>
            <a:spLocks noGrp="1"/>
          </p:cNvSpPr>
          <p:nvPr>
            <p:ph type="title"/>
          </p:nvPr>
        </p:nvSpPr>
        <p:spPr/>
        <p:txBody>
          <a:bodyPr/>
          <a:lstStyle/>
          <a:p>
            <a:r>
              <a:rPr lang="en-US" dirty="0"/>
              <a:t>MQTT Topic Address Space</a:t>
            </a:r>
          </a:p>
        </p:txBody>
      </p:sp>
      <p:sp>
        <p:nvSpPr>
          <p:cNvPr id="3" name="Content Placeholder 2">
            <a:extLst>
              <a:ext uri="{FF2B5EF4-FFF2-40B4-BE49-F238E27FC236}">
                <a16:creationId xmlns:a16="http://schemas.microsoft.com/office/drawing/2014/main" id="{23F7A7D9-6688-0145-9946-41AA52C577A5}"/>
              </a:ext>
            </a:extLst>
          </p:cNvPr>
          <p:cNvSpPr>
            <a:spLocks noGrp="1"/>
          </p:cNvSpPr>
          <p:nvPr>
            <p:ph idx="1"/>
          </p:nvPr>
        </p:nvSpPr>
        <p:spPr/>
        <p:txBody>
          <a:bodyPr>
            <a:normAutofit fontScale="92500" lnSpcReduction="20000"/>
          </a:bodyPr>
          <a:lstStyle/>
          <a:p>
            <a:pPr>
              <a:spcBef>
                <a:spcPct val="0"/>
              </a:spcBef>
            </a:pPr>
            <a:r>
              <a:rPr lang="en-US" altLang="en-US" sz="2400" dirty="0">
                <a:ea typeface="MS PGothic" panose="020B0600070205080204" pitchFamily="34" charset="-128"/>
              </a:rPr>
              <a:t>A topic forms the </a:t>
            </a:r>
            <a:r>
              <a:rPr lang="en-US" altLang="en-US" sz="2400" b="1" dirty="0">
                <a:ea typeface="MS PGothic" panose="020B0600070205080204" pitchFamily="34" charset="-128"/>
              </a:rPr>
              <a:t>namespace</a:t>
            </a:r>
            <a:r>
              <a:rPr lang="en-US" altLang="en-US" sz="2400" dirty="0">
                <a:ea typeface="MS PGothic" panose="020B0600070205080204" pitchFamily="34" charset="-128"/>
              </a:rPr>
              <a:t> which is hierarchical with each “sub-topic” separated by a / </a:t>
            </a:r>
          </a:p>
          <a:p>
            <a:pPr>
              <a:spcBef>
                <a:spcPct val="0"/>
              </a:spcBef>
              <a:buNone/>
            </a:pPr>
            <a:endParaRPr lang="en-US" altLang="en-US" sz="2400" dirty="0">
              <a:ea typeface="MS PGothic" panose="020B0600070205080204" pitchFamily="34" charset="-128"/>
            </a:endParaRPr>
          </a:p>
          <a:p>
            <a:pPr>
              <a:spcBef>
                <a:spcPct val="0"/>
              </a:spcBef>
            </a:pPr>
            <a:r>
              <a:rPr lang="en-US" altLang="en-US" sz="2400" dirty="0">
                <a:ea typeface="MS PGothic" panose="020B0600070205080204" pitchFamily="34" charset="-128"/>
              </a:rPr>
              <a:t>An example topic space for a smart house: </a:t>
            </a:r>
          </a:p>
          <a:p>
            <a:pPr lvl="1">
              <a:spcBef>
                <a:spcPct val="0"/>
              </a:spcBef>
            </a:pPr>
            <a:r>
              <a:rPr lang="en-US" altLang="en-US" sz="2000" b="1" dirty="0"/>
              <a:t>Published Topics:</a:t>
            </a:r>
          </a:p>
          <a:p>
            <a:pPr lvl="2">
              <a:spcBef>
                <a:spcPct val="0"/>
              </a:spcBef>
            </a:pPr>
            <a:r>
              <a:rPr lang="en-US" altLang="en-US" dirty="0">
                <a:solidFill>
                  <a:srgbClr val="800000"/>
                </a:solidFill>
              </a:rPr>
              <a:t>&lt;country&gt;/&lt;region&gt;/&lt;town&gt;/&lt;postcode&gt;/&lt;house&gt;/</a:t>
            </a:r>
            <a:r>
              <a:rPr lang="en-US" altLang="en-US" dirty="0" err="1">
                <a:solidFill>
                  <a:srgbClr val="800000"/>
                </a:solidFill>
              </a:rPr>
              <a:t>energyConsumption</a:t>
            </a:r>
            <a:endParaRPr lang="en-US" altLang="en-US" dirty="0">
              <a:solidFill>
                <a:srgbClr val="800000"/>
              </a:solidFill>
            </a:endParaRPr>
          </a:p>
          <a:p>
            <a:pPr lvl="2">
              <a:spcBef>
                <a:spcPct val="0"/>
              </a:spcBef>
            </a:pPr>
            <a:r>
              <a:rPr lang="en-US" altLang="en-US" dirty="0">
                <a:solidFill>
                  <a:srgbClr val="800000"/>
                </a:solidFill>
              </a:rPr>
              <a:t>&lt;country&gt;/&lt;region&gt;/&lt;town&gt;/&lt;postcode&gt;/&lt;house&gt;/</a:t>
            </a:r>
            <a:r>
              <a:rPr lang="en-US" altLang="en-US" dirty="0" err="1">
                <a:solidFill>
                  <a:srgbClr val="800000"/>
                </a:solidFill>
              </a:rPr>
              <a:t>solarEnergy</a:t>
            </a:r>
            <a:endParaRPr lang="en-US" altLang="en-US" dirty="0">
              <a:solidFill>
                <a:srgbClr val="800000"/>
              </a:solidFill>
            </a:endParaRPr>
          </a:p>
          <a:p>
            <a:pPr lvl="2">
              <a:spcBef>
                <a:spcPct val="0"/>
              </a:spcBef>
            </a:pPr>
            <a:r>
              <a:rPr lang="en-US" altLang="en-US" dirty="0">
                <a:solidFill>
                  <a:srgbClr val="800000"/>
                </a:solidFill>
              </a:rPr>
              <a:t>&lt;country&gt;/&lt;region&gt;/&lt;town&gt;/&lt;postcode&gt;/&lt;house&gt;/</a:t>
            </a:r>
            <a:r>
              <a:rPr lang="en-US" altLang="en-US" dirty="0" err="1">
                <a:solidFill>
                  <a:srgbClr val="800000"/>
                </a:solidFill>
              </a:rPr>
              <a:t>alarmState</a:t>
            </a:r>
            <a:endParaRPr lang="en-US" altLang="en-US" dirty="0">
              <a:solidFill>
                <a:srgbClr val="800000"/>
              </a:solidFill>
            </a:endParaRPr>
          </a:p>
          <a:p>
            <a:pPr lvl="1">
              <a:spcBef>
                <a:spcPct val="0"/>
              </a:spcBef>
            </a:pPr>
            <a:r>
              <a:rPr lang="en-US" altLang="en-US" sz="2000" b="1" dirty="0"/>
              <a:t>Subscribed Topic:</a:t>
            </a:r>
          </a:p>
          <a:p>
            <a:pPr lvl="2">
              <a:spcBef>
                <a:spcPct val="0"/>
              </a:spcBef>
            </a:pPr>
            <a:r>
              <a:rPr lang="en-US" altLang="en-US" dirty="0">
                <a:solidFill>
                  <a:srgbClr val="800000"/>
                </a:solidFill>
              </a:rPr>
              <a:t>&lt;country&gt;/&lt;region&gt;/&lt;town&gt;/&lt;postcode&gt;/&lt;house&gt;/thermostat/</a:t>
            </a:r>
            <a:r>
              <a:rPr lang="en-US" altLang="en-US" dirty="0" err="1">
                <a:solidFill>
                  <a:srgbClr val="800000"/>
                </a:solidFill>
              </a:rPr>
              <a:t>setTemp</a:t>
            </a:r>
            <a:endParaRPr lang="en-US" altLang="en-US" dirty="0">
              <a:solidFill>
                <a:srgbClr val="800000"/>
              </a:solidFill>
            </a:endParaRPr>
          </a:p>
          <a:p>
            <a:pPr lvl="2">
              <a:spcBef>
                <a:spcPct val="0"/>
              </a:spcBef>
              <a:buNone/>
            </a:pPr>
            <a:endParaRPr lang="en-US" altLang="en-US" dirty="0">
              <a:solidFill>
                <a:srgbClr val="800000"/>
              </a:solidFill>
            </a:endParaRPr>
          </a:p>
          <a:p>
            <a:pPr>
              <a:spcBef>
                <a:spcPct val="0"/>
              </a:spcBef>
            </a:pPr>
            <a:r>
              <a:rPr lang="en-US" altLang="en-US" sz="2400" dirty="0">
                <a:ea typeface="MS PGothic" panose="020B0600070205080204" pitchFamily="34" charset="-128"/>
              </a:rPr>
              <a:t>Wildcards can be used (+ and #). </a:t>
            </a:r>
          </a:p>
        </p:txBody>
      </p:sp>
    </p:spTree>
    <p:extLst>
      <p:ext uri="{BB962C8B-B14F-4D97-AF65-F5344CB8AC3E}">
        <p14:creationId xmlns:p14="http://schemas.microsoft.com/office/powerpoint/2010/main" val="2410818340"/>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C9238-EB53-A2C3-82AB-AE8A38DA00DA}"/>
              </a:ext>
            </a:extLst>
          </p:cNvPr>
          <p:cNvSpPr>
            <a:spLocks noGrp="1"/>
          </p:cNvSpPr>
          <p:nvPr>
            <p:ph type="title"/>
          </p:nvPr>
        </p:nvSpPr>
        <p:spPr>
          <a:xfrm>
            <a:off x="1115568" y="548639"/>
            <a:ext cx="2694432" cy="4189615"/>
          </a:xfrm>
        </p:spPr>
        <p:txBody>
          <a:bodyPr/>
          <a:lstStyle/>
          <a:p>
            <a:r>
              <a:rPr lang="en-US" dirty="0"/>
              <a:t>A More Detailed Smart House Example</a:t>
            </a:r>
          </a:p>
        </p:txBody>
      </p:sp>
      <p:pic>
        <p:nvPicPr>
          <p:cNvPr id="7" name="Graphic 6">
            <a:extLst>
              <a:ext uri="{FF2B5EF4-FFF2-40B4-BE49-F238E27FC236}">
                <a16:creationId xmlns:a16="http://schemas.microsoft.com/office/drawing/2014/main" id="{3043873D-119E-E985-8743-03F6E8FB8B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20836" y="124691"/>
            <a:ext cx="8153934" cy="8622010"/>
          </a:xfrm>
          <a:prstGeom prst="rect">
            <a:avLst/>
          </a:prstGeom>
        </p:spPr>
      </p:pic>
    </p:spTree>
    <p:extLst>
      <p:ext uri="{BB962C8B-B14F-4D97-AF65-F5344CB8AC3E}">
        <p14:creationId xmlns:p14="http://schemas.microsoft.com/office/powerpoint/2010/main" val="3152093477"/>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38912"/>
            <a:ext cx="91440" cy="585216"/>
          </a:xfrm>
          <a:prstGeom prst="rect">
            <a:avLst/>
          </a:prstGeom>
          <a:solidFill>
            <a:srgbClr val="DD23B6"/>
          </a:solidFill>
          <a:ln w="12700">
            <a:solidFill>
              <a:srgbClr val="DD23B6"/>
            </a:solidFill>
            <a:prstDash val="solid"/>
          </a:ln>
        </p:spPr>
        <p:txBody>
          <a:bodyPr/>
          <a:lstStyle/>
          <a:p>
            <a:endParaRPr lang="en-US"/>
          </a:p>
        </p:txBody>
      </p:sp>
      <p:sp>
        <p:nvSpPr>
          <p:cNvPr id="3" name="Text 1"/>
          <p:cNvSpPr/>
          <p:nvPr/>
        </p:nvSpPr>
        <p:spPr>
          <a:xfrm>
            <a:off x="731520" y="393192"/>
            <a:ext cx="10835640" cy="658368"/>
          </a:xfrm>
          <a:prstGeom prst="rect">
            <a:avLst/>
          </a:prstGeom>
          <a:noFill/>
          <a:ln/>
        </p:spPr>
        <p:txBody>
          <a:bodyPr wrap="square" lIns="0" tIns="0" rIns="0" bIns="0" rtlCol="0" anchor="ctr">
            <a:normAutofit/>
          </a:bodyPr>
          <a:lstStyle/>
          <a:p>
            <a:pPr marL="0" indent="0" algn="l">
              <a:buNone/>
            </a:pPr>
            <a:r>
              <a:rPr lang="en-US" sz="3100" b="1" dirty="0">
                <a:solidFill>
                  <a:srgbClr val="0C1118"/>
                </a:solidFill>
                <a:latin typeface="Aptos" pitchFamily="34" charset="0"/>
                <a:ea typeface="Aptos" pitchFamily="34" charset="-122"/>
                <a:cs typeface="Aptos" pitchFamily="34" charset="-120"/>
              </a:rPr>
              <a:t>MQTT Topic Names vs. Subscription Filters</a:t>
            </a:r>
            <a:endParaRPr lang="en-US" sz="3100" dirty="0"/>
          </a:p>
        </p:txBody>
      </p:sp>
      <p:sp>
        <p:nvSpPr>
          <p:cNvPr id="4" name="Text 2"/>
          <p:cNvSpPr/>
          <p:nvPr/>
        </p:nvSpPr>
        <p:spPr>
          <a:xfrm>
            <a:off x="731520" y="1097280"/>
            <a:ext cx="10881360" cy="384048"/>
          </a:xfrm>
          <a:prstGeom prst="rect">
            <a:avLst/>
          </a:prstGeom>
          <a:noFill/>
          <a:ln/>
        </p:spPr>
        <p:txBody>
          <a:bodyPr wrap="square" lIns="0" tIns="0" rIns="0" bIns="0" rtlCol="0" anchor="ctr">
            <a:normAutofit/>
          </a:bodyPr>
          <a:lstStyle/>
          <a:p>
            <a:pPr marL="0" indent="0" algn="l">
              <a:buNone/>
            </a:pPr>
            <a:r>
              <a:rPr lang="en-US" sz="1780" dirty="0">
                <a:solidFill>
                  <a:srgbClr val="536275"/>
                </a:solidFill>
                <a:latin typeface="Aptos" pitchFamily="34" charset="0"/>
                <a:ea typeface="Aptos" pitchFamily="34" charset="-122"/>
                <a:cs typeface="Aptos" pitchFamily="34" charset="-120"/>
              </a:rPr>
              <a:t>A publisher specifies one exact topic name; subscribers register filters that determine what they receive.</a:t>
            </a:r>
            <a:endParaRPr lang="en-US" sz="1780" dirty="0"/>
          </a:p>
        </p:txBody>
      </p:sp>
      <p:sp>
        <p:nvSpPr>
          <p:cNvPr id="5" name="Shape 3"/>
          <p:cNvSpPr/>
          <p:nvPr/>
        </p:nvSpPr>
        <p:spPr>
          <a:xfrm>
            <a:off x="594360" y="1627632"/>
            <a:ext cx="3776472" cy="493776"/>
          </a:xfrm>
          <a:prstGeom prst="roundRect">
            <a:avLst>
              <a:gd name="adj" fmla="val 18519"/>
            </a:avLst>
          </a:prstGeom>
          <a:solidFill>
            <a:srgbClr val="EEEAF8"/>
          </a:solidFill>
          <a:ln w="12700">
            <a:solidFill>
              <a:srgbClr val="EEEAF8"/>
            </a:solidFill>
            <a:prstDash val="solid"/>
          </a:ln>
        </p:spPr>
        <p:txBody>
          <a:bodyPr/>
          <a:lstStyle/>
          <a:p>
            <a:endParaRPr lang="en-US"/>
          </a:p>
        </p:txBody>
      </p:sp>
      <p:sp>
        <p:nvSpPr>
          <p:cNvPr id="6" name="Text 4"/>
          <p:cNvSpPr/>
          <p:nvPr/>
        </p:nvSpPr>
        <p:spPr>
          <a:xfrm>
            <a:off x="795528" y="1691640"/>
            <a:ext cx="3383280" cy="347472"/>
          </a:xfrm>
          <a:prstGeom prst="rect">
            <a:avLst/>
          </a:prstGeom>
          <a:noFill/>
          <a:ln/>
        </p:spPr>
        <p:txBody>
          <a:bodyPr wrap="square" lIns="0" tIns="0" rIns="0" bIns="0" rtlCol="0" anchor="ctr">
            <a:normAutofit/>
          </a:bodyPr>
          <a:lstStyle/>
          <a:p>
            <a:pPr marL="0" indent="0" algn="l">
              <a:buNone/>
            </a:pPr>
            <a:r>
              <a:rPr lang="en-US" sz="1670" b="1" dirty="0">
                <a:solidFill>
                  <a:srgbClr val="633E91"/>
                </a:solidFill>
                <a:latin typeface="Aptos" pitchFamily="34" charset="0"/>
                <a:ea typeface="Aptos" pitchFamily="34" charset="-122"/>
                <a:cs typeface="Aptos" pitchFamily="34" charset="-120"/>
              </a:rPr>
              <a:t>SUBSCRIPTION TOPIC FILTER</a:t>
            </a:r>
            <a:endParaRPr lang="en-US" sz="1670" dirty="0"/>
          </a:p>
        </p:txBody>
      </p:sp>
      <p:sp>
        <p:nvSpPr>
          <p:cNvPr id="7" name="Shape 5"/>
          <p:cNvSpPr/>
          <p:nvPr/>
        </p:nvSpPr>
        <p:spPr>
          <a:xfrm>
            <a:off x="4526280" y="1627632"/>
            <a:ext cx="7068312" cy="493776"/>
          </a:xfrm>
          <a:prstGeom prst="roundRect">
            <a:avLst>
              <a:gd name="adj" fmla="val 18519"/>
            </a:avLst>
          </a:prstGeom>
          <a:solidFill>
            <a:srgbClr val="E5F2FA"/>
          </a:solidFill>
          <a:ln w="12700">
            <a:solidFill>
              <a:srgbClr val="E5F2FA"/>
            </a:solidFill>
            <a:prstDash val="solid"/>
          </a:ln>
        </p:spPr>
        <p:txBody>
          <a:bodyPr/>
          <a:lstStyle/>
          <a:p>
            <a:endParaRPr lang="en-US"/>
          </a:p>
        </p:txBody>
      </p:sp>
      <p:sp>
        <p:nvSpPr>
          <p:cNvPr id="8" name="Text 6"/>
          <p:cNvSpPr/>
          <p:nvPr/>
        </p:nvSpPr>
        <p:spPr>
          <a:xfrm>
            <a:off x="4700016" y="1691640"/>
            <a:ext cx="6583680" cy="347472"/>
          </a:xfrm>
          <a:prstGeom prst="rect">
            <a:avLst/>
          </a:prstGeom>
          <a:noFill/>
          <a:ln/>
        </p:spPr>
        <p:txBody>
          <a:bodyPr wrap="square" lIns="0" tIns="0" rIns="0" bIns="0" rtlCol="0" anchor="ctr">
            <a:normAutofit/>
          </a:bodyPr>
          <a:lstStyle/>
          <a:p>
            <a:pPr marL="0" indent="0" algn="l">
              <a:buNone/>
            </a:pPr>
            <a:r>
              <a:rPr lang="en-US" sz="1670" b="1" dirty="0">
                <a:solidFill>
                  <a:srgbClr val="1E638E"/>
                </a:solidFill>
                <a:latin typeface="Aptos" pitchFamily="34" charset="0"/>
                <a:ea typeface="Aptos" pitchFamily="34" charset="-122"/>
                <a:cs typeface="Aptos" pitchFamily="34" charset="-120"/>
              </a:rPr>
              <a:t>PUBLISHED TOPIC NAMES  (exact paths, no wildcards)</a:t>
            </a:r>
            <a:endParaRPr lang="en-US" sz="1670" dirty="0"/>
          </a:p>
        </p:txBody>
      </p:sp>
      <p:sp>
        <p:nvSpPr>
          <p:cNvPr id="9" name="Shape 7"/>
          <p:cNvSpPr/>
          <p:nvPr/>
        </p:nvSpPr>
        <p:spPr>
          <a:xfrm>
            <a:off x="4572000" y="2212848"/>
            <a:ext cx="2249424" cy="658368"/>
          </a:xfrm>
          <a:prstGeom prst="roundRect">
            <a:avLst>
              <a:gd name="adj" fmla="val 12500"/>
            </a:avLst>
          </a:prstGeom>
          <a:solidFill>
            <a:srgbClr val="F0F6FB"/>
          </a:solidFill>
          <a:ln w="12700">
            <a:solidFill>
              <a:srgbClr val="D9E4ED"/>
            </a:solidFill>
            <a:prstDash val="solid"/>
          </a:ln>
        </p:spPr>
        <p:txBody>
          <a:bodyPr/>
          <a:lstStyle/>
          <a:p>
            <a:endParaRPr lang="en-US"/>
          </a:p>
        </p:txBody>
      </p:sp>
      <p:sp>
        <p:nvSpPr>
          <p:cNvPr id="10" name="Text 8"/>
          <p:cNvSpPr/>
          <p:nvPr/>
        </p:nvSpPr>
        <p:spPr>
          <a:xfrm>
            <a:off x="4645152" y="2295144"/>
            <a:ext cx="2103120" cy="210312"/>
          </a:xfrm>
          <a:prstGeom prst="rect">
            <a:avLst/>
          </a:prstGeom>
          <a:noFill/>
          <a:ln/>
        </p:spPr>
        <p:txBody>
          <a:bodyPr wrap="square" lIns="0" tIns="0" rIns="0" bIns="0" rtlCol="0" anchor="ctr">
            <a:normAutofit fontScale="92500" lnSpcReduction="10000"/>
          </a:bodyPr>
          <a:lstStyle/>
          <a:p>
            <a:pPr marL="0" indent="0" algn="ctr">
              <a:buNone/>
            </a:pPr>
            <a:r>
              <a:rPr lang="en-US" sz="1540" b="1" dirty="0">
                <a:solidFill>
                  <a:srgbClr val="16243C"/>
                </a:solidFill>
                <a:latin typeface="Aptos" pitchFamily="34" charset="0"/>
                <a:ea typeface="Aptos" pitchFamily="34" charset="-122"/>
                <a:cs typeface="Aptos" pitchFamily="34" charset="-120"/>
              </a:rPr>
              <a:t>home/kitchen/</a:t>
            </a:r>
            <a:endParaRPr lang="en-US" sz="1540" dirty="0"/>
          </a:p>
        </p:txBody>
      </p:sp>
      <p:sp>
        <p:nvSpPr>
          <p:cNvPr id="11" name="Text 9"/>
          <p:cNvSpPr/>
          <p:nvPr/>
        </p:nvSpPr>
        <p:spPr>
          <a:xfrm>
            <a:off x="4645152" y="2532888"/>
            <a:ext cx="2103120" cy="210312"/>
          </a:xfrm>
          <a:prstGeom prst="rect">
            <a:avLst/>
          </a:prstGeom>
          <a:noFill/>
          <a:ln/>
        </p:spPr>
        <p:txBody>
          <a:bodyPr wrap="square" lIns="0" tIns="0" rIns="0" bIns="0" rtlCol="0" anchor="ctr">
            <a:normAutofit lnSpcReduction="10000"/>
          </a:bodyPr>
          <a:lstStyle/>
          <a:p>
            <a:pPr marL="0" indent="0" algn="ctr">
              <a:buNone/>
            </a:pPr>
            <a:r>
              <a:rPr lang="en-US" sz="1520" b="1" dirty="0">
                <a:solidFill>
                  <a:srgbClr val="16243C"/>
                </a:solidFill>
                <a:latin typeface="Aptos" pitchFamily="34" charset="0"/>
                <a:ea typeface="Aptos" pitchFamily="34" charset="-122"/>
                <a:cs typeface="Aptos" pitchFamily="34" charset="-120"/>
              </a:rPr>
              <a:t>temperature</a:t>
            </a:r>
            <a:endParaRPr lang="en-US" sz="1520" dirty="0"/>
          </a:p>
        </p:txBody>
      </p:sp>
      <p:sp>
        <p:nvSpPr>
          <p:cNvPr id="12" name="Shape 10"/>
          <p:cNvSpPr/>
          <p:nvPr/>
        </p:nvSpPr>
        <p:spPr>
          <a:xfrm>
            <a:off x="6931152" y="2212848"/>
            <a:ext cx="2249424" cy="658368"/>
          </a:xfrm>
          <a:prstGeom prst="roundRect">
            <a:avLst>
              <a:gd name="adj" fmla="val 12500"/>
            </a:avLst>
          </a:prstGeom>
          <a:solidFill>
            <a:srgbClr val="F0F6FB"/>
          </a:solidFill>
          <a:ln w="12700">
            <a:solidFill>
              <a:srgbClr val="D9E4ED"/>
            </a:solidFill>
            <a:prstDash val="solid"/>
          </a:ln>
        </p:spPr>
        <p:txBody>
          <a:bodyPr/>
          <a:lstStyle/>
          <a:p>
            <a:endParaRPr lang="en-US"/>
          </a:p>
        </p:txBody>
      </p:sp>
      <p:sp>
        <p:nvSpPr>
          <p:cNvPr id="13" name="Text 11"/>
          <p:cNvSpPr/>
          <p:nvPr/>
        </p:nvSpPr>
        <p:spPr>
          <a:xfrm>
            <a:off x="7004304" y="2295144"/>
            <a:ext cx="2103120" cy="210312"/>
          </a:xfrm>
          <a:prstGeom prst="rect">
            <a:avLst/>
          </a:prstGeom>
          <a:noFill/>
          <a:ln/>
        </p:spPr>
        <p:txBody>
          <a:bodyPr wrap="square" lIns="0" tIns="0" rIns="0" bIns="0" rtlCol="0" anchor="ctr">
            <a:normAutofit fontScale="92500" lnSpcReduction="10000"/>
          </a:bodyPr>
          <a:lstStyle/>
          <a:p>
            <a:pPr marL="0" indent="0" algn="ctr">
              <a:buNone/>
            </a:pPr>
            <a:r>
              <a:rPr lang="en-US" sz="1540" b="1" dirty="0">
                <a:solidFill>
                  <a:srgbClr val="16243C"/>
                </a:solidFill>
                <a:latin typeface="Aptos" pitchFamily="34" charset="0"/>
                <a:ea typeface="Aptos" pitchFamily="34" charset="-122"/>
                <a:cs typeface="Aptos" pitchFamily="34" charset="-120"/>
              </a:rPr>
              <a:t>home/kitchen/</a:t>
            </a:r>
            <a:endParaRPr lang="en-US" sz="1540" dirty="0"/>
          </a:p>
        </p:txBody>
      </p:sp>
      <p:sp>
        <p:nvSpPr>
          <p:cNvPr id="14" name="Text 12"/>
          <p:cNvSpPr/>
          <p:nvPr/>
        </p:nvSpPr>
        <p:spPr>
          <a:xfrm>
            <a:off x="7004304" y="2532888"/>
            <a:ext cx="2103120" cy="210312"/>
          </a:xfrm>
          <a:prstGeom prst="rect">
            <a:avLst/>
          </a:prstGeom>
          <a:noFill/>
          <a:ln/>
        </p:spPr>
        <p:txBody>
          <a:bodyPr wrap="square" lIns="0" tIns="0" rIns="0" bIns="0" rtlCol="0" anchor="ctr">
            <a:normAutofit lnSpcReduction="10000"/>
          </a:bodyPr>
          <a:lstStyle/>
          <a:p>
            <a:pPr marL="0" indent="0" algn="ctr">
              <a:buNone/>
            </a:pPr>
            <a:r>
              <a:rPr lang="en-US" sz="1520" b="1" dirty="0">
                <a:solidFill>
                  <a:srgbClr val="16243C"/>
                </a:solidFill>
                <a:latin typeface="Aptos" pitchFamily="34" charset="0"/>
                <a:ea typeface="Aptos" pitchFamily="34" charset="-122"/>
                <a:cs typeface="Aptos" pitchFamily="34" charset="-120"/>
              </a:rPr>
              <a:t>humidity</a:t>
            </a:r>
            <a:endParaRPr lang="en-US" sz="1520" dirty="0"/>
          </a:p>
        </p:txBody>
      </p:sp>
      <p:sp>
        <p:nvSpPr>
          <p:cNvPr id="15" name="Shape 13"/>
          <p:cNvSpPr/>
          <p:nvPr/>
        </p:nvSpPr>
        <p:spPr>
          <a:xfrm>
            <a:off x="9290304" y="2212848"/>
            <a:ext cx="2249424" cy="658368"/>
          </a:xfrm>
          <a:prstGeom prst="roundRect">
            <a:avLst>
              <a:gd name="adj" fmla="val 12500"/>
            </a:avLst>
          </a:prstGeom>
          <a:solidFill>
            <a:srgbClr val="F0F6FB"/>
          </a:solidFill>
          <a:ln w="12700">
            <a:solidFill>
              <a:srgbClr val="D9E4ED"/>
            </a:solidFill>
            <a:prstDash val="solid"/>
          </a:ln>
        </p:spPr>
        <p:txBody>
          <a:bodyPr/>
          <a:lstStyle/>
          <a:p>
            <a:endParaRPr lang="en-US"/>
          </a:p>
        </p:txBody>
      </p:sp>
      <p:sp>
        <p:nvSpPr>
          <p:cNvPr id="16" name="Text 14"/>
          <p:cNvSpPr/>
          <p:nvPr/>
        </p:nvSpPr>
        <p:spPr>
          <a:xfrm>
            <a:off x="9363456" y="2295144"/>
            <a:ext cx="2103120" cy="210312"/>
          </a:xfrm>
          <a:prstGeom prst="rect">
            <a:avLst/>
          </a:prstGeom>
          <a:noFill/>
          <a:ln/>
        </p:spPr>
        <p:txBody>
          <a:bodyPr wrap="square" lIns="0" tIns="0" rIns="0" bIns="0" rtlCol="0" anchor="ctr">
            <a:normAutofit fontScale="92500" lnSpcReduction="10000"/>
          </a:bodyPr>
          <a:lstStyle/>
          <a:p>
            <a:pPr marL="0" indent="0" algn="ctr">
              <a:buNone/>
            </a:pPr>
            <a:r>
              <a:rPr lang="en-US" sz="1540" b="1" dirty="0">
                <a:solidFill>
                  <a:srgbClr val="16243C"/>
                </a:solidFill>
                <a:latin typeface="Aptos" pitchFamily="34" charset="0"/>
                <a:ea typeface="Aptos" pitchFamily="34" charset="-122"/>
                <a:cs typeface="Aptos" pitchFamily="34" charset="-120"/>
              </a:rPr>
              <a:t>home/bedroom/</a:t>
            </a:r>
            <a:endParaRPr lang="en-US" sz="1540" dirty="0"/>
          </a:p>
        </p:txBody>
      </p:sp>
      <p:sp>
        <p:nvSpPr>
          <p:cNvPr id="17" name="Text 15"/>
          <p:cNvSpPr/>
          <p:nvPr/>
        </p:nvSpPr>
        <p:spPr>
          <a:xfrm>
            <a:off x="9363456" y="2532888"/>
            <a:ext cx="2103120" cy="210312"/>
          </a:xfrm>
          <a:prstGeom prst="rect">
            <a:avLst/>
          </a:prstGeom>
          <a:noFill/>
          <a:ln/>
        </p:spPr>
        <p:txBody>
          <a:bodyPr wrap="square" lIns="0" tIns="0" rIns="0" bIns="0" rtlCol="0" anchor="ctr">
            <a:normAutofit lnSpcReduction="10000"/>
          </a:bodyPr>
          <a:lstStyle/>
          <a:p>
            <a:pPr marL="0" indent="0" algn="ctr">
              <a:buNone/>
            </a:pPr>
            <a:r>
              <a:rPr lang="en-US" sz="1520" b="1" dirty="0">
                <a:solidFill>
                  <a:srgbClr val="16243C"/>
                </a:solidFill>
                <a:latin typeface="Aptos" pitchFamily="34" charset="0"/>
                <a:ea typeface="Aptos" pitchFamily="34" charset="-122"/>
                <a:cs typeface="Aptos" pitchFamily="34" charset="-120"/>
              </a:rPr>
              <a:t>temperature</a:t>
            </a:r>
            <a:endParaRPr lang="en-US" sz="1520" dirty="0"/>
          </a:p>
        </p:txBody>
      </p:sp>
      <p:sp>
        <p:nvSpPr>
          <p:cNvPr id="18" name="Shape 16"/>
          <p:cNvSpPr/>
          <p:nvPr/>
        </p:nvSpPr>
        <p:spPr>
          <a:xfrm>
            <a:off x="594360" y="2999232"/>
            <a:ext cx="3776472" cy="594360"/>
          </a:xfrm>
          <a:prstGeom prst="roundRect">
            <a:avLst>
              <a:gd name="adj" fmla="val 13846"/>
            </a:avLst>
          </a:prstGeom>
          <a:solidFill>
            <a:srgbClr val="F4F1FA"/>
          </a:solidFill>
          <a:ln w="12700">
            <a:solidFill>
              <a:srgbClr val="F4F1FA"/>
            </a:solidFill>
            <a:prstDash val="solid"/>
          </a:ln>
        </p:spPr>
        <p:txBody>
          <a:bodyPr/>
          <a:lstStyle/>
          <a:p>
            <a:endParaRPr lang="en-US"/>
          </a:p>
        </p:txBody>
      </p:sp>
      <p:sp>
        <p:nvSpPr>
          <p:cNvPr id="19" name="Text 17"/>
          <p:cNvSpPr/>
          <p:nvPr/>
        </p:nvSpPr>
        <p:spPr>
          <a:xfrm>
            <a:off x="804672" y="3058668"/>
            <a:ext cx="3401568" cy="274320"/>
          </a:xfrm>
          <a:prstGeom prst="rect">
            <a:avLst/>
          </a:prstGeom>
          <a:noFill/>
          <a:ln/>
        </p:spPr>
        <p:txBody>
          <a:bodyPr wrap="square" lIns="0" tIns="0" rIns="0" bIns="0" rtlCol="0" anchor="ctr">
            <a:normAutofit lnSpcReduction="10000"/>
          </a:bodyPr>
          <a:lstStyle/>
          <a:p>
            <a:pPr marL="0" indent="0" algn="l">
              <a:buNone/>
            </a:pPr>
            <a:r>
              <a:rPr lang="en-US" sz="1920" b="1" dirty="0">
                <a:solidFill>
                  <a:srgbClr val="422E6A"/>
                </a:solidFill>
                <a:latin typeface="Aptos" pitchFamily="34" charset="0"/>
                <a:ea typeface="Aptos" pitchFamily="34" charset="-122"/>
                <a:cs typeface="Aptos" pitchFamily="34" charset="-120"/>
              </a:rPr>
              <a:t>home/+/temperature</a:t>
            </a:r>
            <a:endParaRPr lang="en-US" sz="1920" dirty="0"/>
          </a:p>
        </p:txBody>
      </p:sp>
      <p:sp>
        <p:nvSpPr>
          <p:cNvPr id="20" name="Text 18"/>
          <p:cNvSpPr/>
          <p:nvPr/>
        </p:nvSpPr>
        <p:spPr>
          <a:xfrm>
            <a:off x="804672" y="3346704"/>
            <a:ext cx="3401568" cy="173736"/>
          </a:xfrm>
          <a:prstGeom prst="rect">
            <a:avLst/>
          </a:prstGeom>
          <a:noFill/>
          <a:ln/>
        </p:spPr>
        <p:txBody>
          <a:bodyPr wrap="square" lIns="0" tIns="0" rIns="0" bIns="0" rtlCol="0" anchor="ctr">
            <a:normAutofit fontScale="92500" lnSpcReduction="10000"/>
          </a:bodyPr>
          <a:lstStyle/>
          <a:p>
            <a:pPr marL="0" indent="0" algn="l">
              <a:buNone/>
            </a:pPr>
            <a:r>
              <a:rPr lang="en-US" sz="1270" dirty="0">
                <a:solidFill>
                  <a:srgbClr val="735B85"/>
                </a:solidFill>
                <a:latin typeface="Aptos" pitchFamily="34" charset="0"/>
                <a:ea typeface="Aptos" pitchFamily="34" charset="-122"/>
                <a:cs typeface="Aptos" pitchFamily="34" charset="-120"/>
              </a:rPr>
              <a:t>+ = one level</a:t>
            </a:r>
            <a:endParaRPr lang="en-US" sz="1270" dirty="0"/>
          </a:p>
        </p:txBody>
      </p:sp>
      <p:sp>
        <p:nvSpPr>
          <p:cNvPr id="21" name="Shape 19"/>
          <p:cNvSpPr/>
          <p:nvPr/>
        </p:nvSpPr>
        <p:spPr>
          <a:xfrm>
            <a:off x="4572000" y="2999232"/>
            <a:ext cx="2249424" cy="594360"/>
          </a:xfrm>
          <a:prstGeom prst="roundRect">
            <a:avLst>
              <a:gd name="adj" fmla="val 13846"/>
            </a:avLst>
          </a:prstGeom>
          <a:solidFill>
            <a:srgbClr val="E7F6EE"/>
          </a:solidFill>
          <a:ln w="12700">
            <a:solidFill>
              <a:srgbClr val="E7F6EE"/>
            </a:solidFill>
            <a:prstDash val="solid"/>
          </a:ln>
        </p:spPr>
        <p:txBody>
          <a:bodyPr/>
          <a:lstStyle/>
          <a:p>
            <a:endParaRPr lang="en-US"/>
          </a:p>
        </p:txBody>
      </p:sp>
      <p:sp>
        <p:nvSpPr>
          <p:cNvPr id="22" name="Text 20"/>
          <p:cNvSpPr/>
          <p:nvPr/>
        </p:nvSpPr>
        <p:spPr>
          <a:xfrm>
            <a:off x="4636008" y="3090672"/>
            <a:ext cx="2121408" cy="402336"/>
          </a:xfrm>
          <a:prstGeom prst="rect">
            <a:avLst/>
          </a:prstGeom>
          <a:noFill/>
          <a:ln/>
        </p:spPr>
        <p:txBody>
          <a:bodyPr wrap="square" lIns="0" tIns="0" rIns="0" bIns="0" rtlCol="0" anchor="ctr">
            <a:normAutofit/>
          </a:bodyPr>
          <a:lstStyle/>
          <a:p>
            <a:pPr marL="0" indent="0" algn="ctr">
              <a:buNone/>
            </a:pPr>
            <a:r>
              <a:rPr lang="en-US" sz="1750" b="1" dirty="0">
                <a:solidFill>
                  <a:srgbClr val="13815A"/>
                </a:solidFill>
                <a:latin typeface="Aptos" pitchFamily="34" charset="0"/>
                <a:ea typeface="Aptos" pitchFamily="34" charset="-122"/>
                <a:cs typeface="Aptos" pitchFamily="34" charset="-120"/>
              </a:rPr>
              <a:t>✓ MATCH</a:t>
            </a:r>
            <a:endParaRPr lang="en-US" sz="1750" dirty="0"/>
          </a:p>
        </p:txBody>
      </p:sp>
      <p:sp>
        <p:nvSpPr>
          <p:cNvPr id="23" name="Shape 21"/>
          <p:cNvSpPr/>
          <p:nvPr/>
        </p:nvSpPr>
        <p:spPr>
          <a:xfrm>
            <a:off x="6931152" y="2999232"/>
            <a:ext cx="2249424" cy="594360"/>
          </a:xfrm>
          <a:prstGeom prst="roundRect">
            <a:avLst>
              <a:gd name="adj" fmla="val 13846"/>
            </a:avLst>
          </a:prstGeom>
          <a:solidFill>
            <a:srgbClr val="F8ECEC"/>
          </a:solidFill>
          <a:ln w="12700">
            <a:solidFill>
              <a:srgbClr val="F8ECEC"/>
            </a:solidFill>
            <a:prstDash val="solid"/>
          </a:ln>
        </p:spPr>
        <p:txBody>
          <a:bodyPr/>
          <a:lstStyle/>
          <a:p>
            <a:endParaRPr lang="en-US"/>
          </a:p>
        </p:txBody>
      </p:sp>
      <p:sp>
        <p:nvSpPr>
          <p:cNvPr id="24" name="Text 22"/>
          <p:cNvSpPr/>
          <p:nvPr/>
        </p:nvSpPr>
        <p:spPr>
          <a:xfrm>
            <a:off x="6995160" y="3090672"/>
            <a:ext cx="2121408" cy="402336"/>
          </a:xfrm>
          <a:prstGeom prst="rect">
            <a:avLst/>
          </a:prstGeom>
          <a:noFill/>
          <a:ln/>
        </p:spPr>
        <p:txBody>
          <a:bodyPr wrap="square" lIns="0" tIns="0" rIns="0" bIns="0" rtlCol="0" anchor="ctr">
            <a:normAutofit/>
          </a:bodyPr>
          <a:lstStyle/>
          <a:p>
            <a:pPr marL="0" indent="0" algn="ctr">
              <a:buNone/>
            </a:pPr>
            <a:r>
              <a:rPr lang="en-US" sz="1750" b="1" dirty="0">
                <a:solidFill>
                  <a:srgbClr val="C03E45"/>
                </a:solidFill>
                <a:latin typeface="Aptos" pitchFamily="34" charset="0"/>
                <a:ea typeface="Aptos" pitchFamily="34" charset="-122"/>
                <a:cs typeface="Aptos" pitchFamily="34" charset="-120"/>
              </a:rPr>
              <a:t>✕ NO MATCH</a:t>
            </a:r>
            <a:endParaRPr lang="en-US" sz="1750" dirty="0"/>
          </a:p>
        </p:txBody>
      </p:sp>
      <p:sp>
        <p:nvSpPr>
          <p:cNvPr id="25" name="Shape 23"/>
          <p:cNvSpPr/>
          <p:nvPr/>
        </p:nvSpPr>
        <p:spPr>
          <a:xfrm>
            <a:off x="9290304" y="2999232"/>
            <a:ext cx="2249424" cy="594360"/>
          </a:xfrm>
          <a:prstGeom prst="roundRect">
            <a:avLst>
              <a:gd name="adj" fmla="val 13846"/>
            </a:avLst>
          </a:prstGeom>
          <a:solidFill>
            <a:srgbClr val="E7F6EE"/>
          </a:solidFill>
          <a:ln w="12700">
            <a:solidFill>
              <a:srgbClr val="E7F6EE"/>
            </a:solidFill>
            <a:prstDash val="solid"/>
          </a:ln>
        </p:spPr>
        <p:txBody>
          <a:bodyPr/>
          <a:lstStyle/>
          <a:p>
            <a:endParaRPr lang="en-US"/>
          </a:p>
        </p:txBody>
      </p:sp>
      <p:sp>
        <p:nvSpPr>
          <p:cNvPr id="26" name="Text 24"/>
          <p:cNvSpPr/>
          <p:nvPr/>
        </p:nvSpPr>
        <p:spPr>
          <a:xfrm>
            <a:off x="9354312" y="3090672"/>
            <a:ext cx="2121408" cy="402336"/>
          </a:xfrm>
          <a:prstGeom prst="rect">
            <a:avLst/>
          </a:prstGeom>
          <a:noFill/>
          <a:ln/>
        </p:spPr>
        <p:txBody>
          <a:bodyPr wrap="square" lIns="0" tIns="0" rIns="0" bIns="0" rtlCol="0" anchor="ctr">
            <a:normAutofit/>
          </a:bodyPr>
          <a:lstStyle/>
          <a:p>
            <a:pPr marL="0" indent="0" algn="ctr">
              <a:buNone/>
            </a:pPr>
            <a:r>
              <a:rPr lang="en-US" sz="1750" b="1" dirty="0">
                <a:solidFill>
                  <a:srgbClr val="13815A"/>
                </a:solidFill>
                <a:latin typeface="Aptos" pitchFamily="34" charset="0"/>
                <a:ea typeface="Aptos" pitchFamily="34" charset="-122"/>
                <a:cs typeface="Aptos" pitchFamily="34" charset="-120"/>
              </a:rPr>
              <a:t>✓ MATCH</a:t>
            </a:r>
            <a:endParaRPr lang="en-US" sz="1750" dirty="0"/>
          </a:p>
        </p:txBody>
      </p:sp>
      <p:sp>
        <p:nvSpPr>
          <p:cNvPr id="27" name="Shape 25"/>
          <p:cNvSpPr/>
          <p:nvPr/>
        </p:nvSpPr>
        <p:spPr>
          <a:xfrm>
            <a:off x="594360" y="3666744"/>
            <a:ext cx="3776472" cy="594360"/>
          </a:xfrm>
          <a:prstGeom prst="roundRect">
            <a:avLst>
              <a:gd name="adj" fmla="val 13846"/>
            </a:avLst>
          </a:prstGeom>
          <a:solidFill>
            <a:srgbClr val="F8F5FC"/>
          </a:solidFill>
          <a:ln w="12700">
            <a:solidFill>
              <a:srgbClr val="F8F5FC"/>
            </a:solidFill>
            <a:prstDash val="solid"/>
          </a:ln>
        </p:spPr>
        <p:txBody>
          <a:bodyPr/>
          <a:lstStyle/>
          <a:p>
            <a:endParaRPr lang="en-US"/>
          </a:p>
        </p:txBody>
      </p:sp>
      <p:sp>
        <p:nvSpPr>
          <p:cNvPr id="28" name="Text 26"/>
          <p:cNvSpPr/>
          <p:nvPr/>
        </p:nvSpPr>
        <p:spPr>
          <a:xfrm>
            <a:off x="804672" y="3726180"/>
            <a:ext cx="3401568" cy="274320"/>
          </a:xfrm>
          <a:prstGeom prst="rect">
            <a:avLst/>
          </a:prstGeom>
          <a:noFill/>
          <a:ln/>
        </p:spPr>
        <p:txBody>
          <a:bodyPr wrap="square" lIns="0" tIns="0" rIns="0" bIns="0" rtlCol="0" anchor="ctr">
            <a:normAutofit lnSpcReduction="10000"/>
          </a:bodyPr>
          <a:lstStyle/>
          <a:p>
            <a:pPr marL="0" indent="0" algn="l">
              <a:buNone/>
            </a:pPr>
            <a:r>
              <a:rPr lang="en-US" sz="1920" b="1" dirty="0">
                <a:solidFill>
                  <a:srgbClr val="422E6A"/>
                </a:solidFill>
                <a:latin typeface="Aptos" pitchFamily="34" charset="0"/>
                <a:ea typeface="Aptos" pitchFamily="34" charset="-122"/>
                <a:cs typeface="Aptos" pitchFamily="34" charset="-120"/>
              </a:rPr>
              <a:t>home/kitchen/#</a:t>
            </a:r>
            <a:endParaRPr lang="en-US" sz="1920" dirty="0"/>
          </a:p>
        </p:txBody>
      </p:sp>
      <p:sp>
        <p:nvSpPr>
          <p:cNvPr id="29" name="Text 27"/>
          <p:cNvSpPr/>
          <p:nvPr/>
        </p:nvSpPr>
        <p:spPr>
          <a:xfrm>
            <a:off x="804672" y="4014216"/>
            <a:ext cx="3401568" cy="173736"/>
          </a:xfrm>
          <a:prstGeom prst="rect">
            <a:avLst/>
          </a:prstGeom>
          <a:noFill/>
          <a:ln/>
        </p:spPr>
        <p:txBody>
          <a:bodyPr wrap="square" lIns="0" tIns="0" rIns="0" bIns="0" rtlCol="0" anchor="ctr">
            <a:normAutofit fontScale="92500" lnSpcReduction="10000"/>
          </a:bodyPr>
          <a:lstStyle/>
          <a:p>
            <a:pPr marL="0" indent="0" algn="l">
              <a:buNone/>
            </a:pPr>
            <a:r>
              <a:rPr lang="en-US" sz="1270" dirty="0">
                <a:solidFill>
                  <a:srgbClr val="735B85"/>
                </a:solidFill>
                <a:latin typeface="Aptos" pitchFamily="34" charset="0"/>
                <a:ea typeface="Aptos" pitchFamily="34" charset="-122"/>
                <a:cs typeface="Aptos" pitchFamily="34" charset="-120"/>
              </a:rPr>
              <a:t># = zero or more levels</a:t>
            </a:r>
            <a:endParaRPr lang="en-US" sz="1270" dirty="0"/>
          </a:p>
        </p:txBody>
      </p:sp>
      <p:sp>
        <p:nvSpPr>
          <p:cNvPr id="30" name="Shape 28"/>
          <p:cNvSpPr/>
          <p:nvPr/>
        </p:nvSpPr>
        <p:spPr>
          <a:xfrm>
            <a:off x="4572000" y="3666744"/>
            <a:ext cx="2249424" cy="594360"/>
          </a:xfrm>
          <a:prstGeom prst="roundRect">
            <a:avLst>
              <a:gd name="adj" fmla="val 13846"/>
            </a:avLst>
          </a:prstGeom>
          <a:solidFill>
            <a:srgbClr val="E7F6EE"/>
          </a:solidFill>
          <a:ln w="12700">
            <a:solidFill>
              <a:srgbClr val="E7F6EE"/>
            </a:solidFill>
            <a:prstDash val="solid"/>
          </a:ln>
        </p:spPr>
        <p:txBody>
          <a:bodyPr/>
          <a:lstStyle/>
          <a:p>
            <a:endParaRPr lang="en-US"/>
          </a:p>
        </p:txBody>
      </p:sp>
      <p:sp>
        <p:nvSpPr>
          <p:cNvPr id="31" name="Text 29"/>
          <p:cNvSpPr/>
          <p:nvPr/>
        </p:nvSpPr>
        <p:spPr>
          <a:xfrm>
            <a:off x="4636008" y="3758184"/>
            <a:ext cx="2121408" cy="402336"/>
          </a:xfrm>
          <a:prstGeom prst="rect">
            <a:avLst/>
          </a:prstGeom>
          <a:noFill/>
          <a:ln/>
        </p:spPr>
        <p:txBody>
          <a:bodyPr wrap="square" lIns="0" tIns="0" rIns="0" bIns="0" rtlCol="0" anchor="ctr">
            <a:normAutofit/>
          </a:bodyPr>
          <a:lstStyle/>
          <a:p>
            <a:pPr marL="0" indent="0" algn="ctr">
              <a:buNone/>
            </a:pPr>
            <a:r>
              <a:rPr lang="en-US" sz="1750" b="1" dirty="0">
                <a:solidFill>
                  <a:srgbClr val="13815A"/>
                </a:solidFill>
                <a:latin typeface="Aptos" pitchFamily="34" charset="0"/>
                <a:ea typeface="Aptos" pitchFamily="34" charset="-122"/>
                <a:cs typeface="Aptos" pitchFamily="34" charset="-120"/>
              </a:rPr>
              <a:t>✓ MATCH</a:t>
            </a:r>
            <a:endParaRPr lang="en-US" sz="1750" dirty="0"/>
          </a:p>
        </p:txBody>
      </p:sp>
      <p:sp>
        <p:nvSpPr>
          <p:cNvPr id="32" name="Shape 30"/>
          <p:cNvSpPr/>
          <p:nvPr/>
        </p:nvSpPr>
        <p:spPr>
          <a:xfrm>
            <a:off x="6931152" y="3666744"/>
            <a:ext cx="2249424" cy="594360"/>
          </a:xfrm>
          <a:prstGeom prst="roundRect">
            <a:avLst>
              <a:gd name="adj" fmla="val 13846"/>
            </a:avLst>
          </a:prstGeom>
          <a:solidFill>
            <a:srgbClr val="E7F6EE"/>
          </a:solidFill>
          <a:ln w="12700">
            <a:solidFill>
              <a:srgbClr val="E7F6EE"/>
            </a:solidFill>
            <a:prstDash val="solid"/>
          </a:ln>
        </p:spPr>
        <p:txBody>
          <a:bodyPr/>
          <a:lstStyle/>
          <a:p>
            <a:endParaRPr lang="en-US"/>
          </a:p>
        </p:txBody>
      </p:sp>
      <p:sp>
        <p:nvSpPr>
          <p:cNvPr id="33" name="Text 31"/>
          <p:cNvSpPr/>
          <p:nvPr/>
        </p:nvSpPr>
        <p:spPr>
          <a:xfrm>
            <a:off x="6995160" y="3758184"/>
            <a:ext cx="2121408" cy="402336"/>
          </a:xfrm>
          <a:prstGeom prst="rect">
            <a:avLst/>
          </a:prstGeom>
          <a:noFill/>
          <a:ln/>
        </p:spPr>
        <p:txBody>
          <a:bodyPr wrap="square" lIns="0" tIns="0" rIns="0" bIns="0" rtlCol="0" anchor="ctr">
            <a:normAutofit/>
          </a:bodyPr>
          <a:lstStyle/>
          <a:p>
            <a:pPr marL="0" indent="0" algn="ctr">
              <a:buNone/>
            </a:pPr>
            <a:r>
              <a:rPr lang="en-US" sz="1750" b="1" dirty="0">
                <a:solidFill>
                  <a:srgbClr val="13815A"/>
                </a:solidFill>
                <a:latin typeface="Aptos" pitchFamily="34" charset="0"/>
                <a:ea typeface="Aptos" pitchFamily="34" charset="-122"/>
                <a:cs typeface="Aptos" pitchFamily="34" charset="-120"/>
              </a:rPr>
              <a:t>✓ MATCH</a:t>
            </a:r>
            <a:endParaRPr lang="en-US" sz="1750" dirty="0"/>
          </a:p>
        </p:txBody>
      </p:sp>
      <p:sp>
        <p:nvSpPr>
          <p:cNvPr id="34" name="Shape 32"/>
          <p:cNvSpPr/>
          <p:nvPr/>
        </p:nvSpPr>
        <p:spPr>
          <a:xfrm>
            <a:off x="9290304" y="3666744"/>
            <a:ext cx="2249424" cy="594360"/>
          </a:xfrm>
          <a:prstGeom prst="roundRect">
            <a:avLst>
              <a:gd name="adj" fmla="val 13846"/>
            </a:avLst>
          </a:prstGeom>
          <a:solidFill>
            <a:srgbClr val="F8ECEC"/>
          </a:solidFill>
          <a:ln w="12700">
            <a:solidFill>
              <a:srgbClr val="F8ECEC"/>
            </a:solidFill>
            <a:prstDash val="solid"/>
          </a:ln>
        </p:spPr>
        <p:txBody>
          <a:bodyPr/>
          <a:lstStyle/>
          <a:p>
            <a:endParaRPr lang="en-US"/>
          </a:p>
        </p:txBody>
      </p:sp>
      <p:sp>
        <p:nvSpPr>
          <p:cNvPr id="35" name="Text 33"/>
          <p:cNvSpPr/>
          <p:nvPr/>
        </p:nvSpPr>
        <p:spPr>
          <a:xfrm>
            <a:off x="9354312" y="3758184"/>
            <a:ext cx="2121408" cy="402336"/>
          </a:xfrm>
          <a:prstGeom prst="rect">
            <a:avLst/>
          </a:prstGeom>
          <a:noFill/>
          <a:ln/>
        </p:spPr>
        <p:txBody>
          <a:bodyPr wrap="square" lIns="0" tIns="0" rIns="0" bIns="0" rtlCol="0" anchor="ctr">
            <a:normAutofit/>
          </a:bodyPr>
          <a:lstStyle/>
          <a:p>
            <a:pPr marL="0" indent="0" algn="ctr">
              <a:buNone/>
            </a:pPr>
            <a:r>
              <a:rPr lang="en-US" sz="1750" b="1" dirty="0">
                <a:solidFill>
                  <a:srgbClr val="C03E45"/>
                </a:solidFill>
                <a:latin typeface="Aptos" pitchFamily="34" charset="0"/>
                <a:ea typeface="Aptos" pitchFamily="34" charset="-122"/>
                <a:cs typeface="Aptos" pitchFamily="34" charset="-120"/>
              </a:rPr>
              <a:t>✕ NO MATCH</a:t>
            </a:r>
            <a:endParaRPr lang="en-US" sz="1750" dirty="0"/>
          </a:p>
        </p:txBody>
      </p:sp>
      <p:sp>
        <p:nvSpPr>
          <p:cNvPr id="36" name="Shape 34"/>
          <p:cNvSpPr/>
          <p:nvPr/>
        </p:nvSpPr>
        <p:spPr>
          <a:xfrm>
            <a:off x="594360" y="4334256"/>
            <a:ext cx="3776472" cy="594360"/>
          </a:xfrm>
          <a:prstGeom prst="roundRect">
            <a:avLst>
              <a:gd name="adj" fmla="val 13846"/>
            </a:avLst>
          </a:prstGeom>
          <a:solidFill>
            <a:srgbClr val="F4F1FA"/>
          </a:solidFill>
          <a:ln w="12700">
            <a:solidFill>
              <a:srgbClr val="F4F1FA"/>
            </a:solidFill>
            <a:prstDash val="solid"/>
          </a:ln>
        </p:spPr>
        <p:txBody>
          <a:bodyPr/>
          <a:lstStyle/>
          <a:p>
            <a:endParaRPr lang="en-US"/>
          </a:p>
        </p:txBody>
      </p:sp>
      <p:sp>
        <p:nvSpPr>
          <p:cNvPr id="37" name="Text 35"/>
          <p:cNvSpPr/>
          <p:nvPr/>
        </p:nvSpPr>
        <p:spPr>
          <a:xfrm>
            <a:off x="804672" y="4393692"/>
            <a:ext cx="3401568" cy="274320"/>
          </a:xfrm>
          <a:prstGeom prst="rect">
            <a:avLst/>
          </a:prstGeom>
          <a:noFill/>
          <a:ln/>
        </p:spPr>
        <p:txBody>
          <a:bodyPr wrap="square" lIns="0" tIns="0" rIns="0" bIns="0" rtlCol="0" anchor="ctr">
            <a:normAutofit lnSpcReduction="10000"/>
          </a:bodyPr>
          <a:lstStyle/>
          <a:p>
            <a:pPr marL="0" indent="0" algn="l">
              <a:buNone/>
            </a:pPr>
            <a:r>
              <a:rPr lang="en-US" sz="1920" b="1" dirty="0">
                <a:solidFill>
                  <a:srgbClr val="422E6A"/>
                </a:solidFill>
                <a:latin typeface="Aptos" pitchFamily="34" charset="0"/>
                <a:ea typeface="Aptos" pitchFamily="34" charset="-122"/>
                <a:cs typeface="Aptos" pitchFamily="34" charset="-120"/>
              </a:rPr>
              <a:t>home/kitchen/temperature</a:t>
            </a:r>
            <a:endParaRPr lang="en-US" sz="1920" dirty="0"/>
          </a:p>
        </p:txBody>
      </p:sp>
      <p:sp>
        <p:nvSpPr>
          <p:cNvPr id="38" name="Text 36"/>
          <p:cNvSpPr/>
          <p:nvPr/>
        </p:nvSpPr>
        <p:spPr>
          <a:xfrm>
            <a:off x="804672" y="4681728"/>
            <a:ext cx="3401568" cy="173736"/>
          </a:xfrm>
          <a:prstGeom prst="rect">
            <a:avLst/>
          </a:prstGeom>
          <a:noFill/>
          <a:ln/>
        </p:spPr>
        <p:txBody>
          <a:bodyPr wrap="square" lIns="0" tIns="0" rIns="0" bIns="0" rtlCol="0" anchor="ctr">
            <a:normAutofit fontScale="92500" lnSpcReduction="10000"/>
          </a:bodyPr>
          <a:lstStyle/>
          <a:p>
            <a:pPr marL="0" indent="0" algn="l">
              <a:buNone/>
            </a:pPr>
            <a:r>
              <a:rPr lang="en-US" sz="1270" dirty="0">
                <a:solidFill>
                  <a:srgbClr val="735B85"/>
                </a:solidFill>
                <a:latin typeface="Aptos" pitchFamily="34" charset="0"/>
                <a:ea typeface="Aptos" pitchFamily="34" charset="-122"/>
                <a:cs typeface="Aptos" pitchFamily="34" charset="-120"/>
              </a:rPr>
              <a:t>Exact-match subscription</a:t>
            </a:r>
            <a:endParaRPr lang="en-US" sz="1270" dirty="0"/>
          </a:p>
        </p:txBody>
      </p:sp>
      <p:sp>
        <p:nvSpPr>
          <p:cNvPr id="39" name="Shape 37"/>
          <p:cNvSpPr/>
          <p:nvPr/>
        </p:nvSpPr>
        <p:spPr>
          <a:xfrm>
            <a:off x="4572000" y="4334256"/>
            <a:ext cx="2249424" cy="594360"/>
          </a:xfrm>
          <a:prstGeom prst="roundRect">
            <a:avLst>
              <a:gd name="adj" fmla="val 13846"/>
            </a:avLst>
          </a:prstGeom>
          <a:solidFill>
            <a:srgbClr val="E7F6EE"/>
          </a:solidFill>
          <a:ln w="12700">
            <a:solidFill>
              <a:srgbClr val="E7F6EE"/>
            </a:solidFill>
            <a:prstDash val="solid"/>
          </a:ln>
        </p:spPr>
        <p:txBody>
          <a:bodyPr/>
          <a:lstStyle/>
          <a:p>
            <a:endParaRPr lang="en-US"/>
          </a:p>
        </p:txBody>
      </p:sp>
      <p:sp>
        <p:nvSpPr>
          <p:cNvPr id="40" name="Text 38"/>
          <p:cNvSpPr/>
          <p:nvPr/>
        </p:nvSpPr>
        <p:spPr>
          <a:xfrm>
            <a:off x="4636008" y="4425696"/>
            <a:ext cx="2121408" cy="402336"/>
          </a:xfrm>
          <a:prstGeom prst="rect">
            <a:avLst/>
          </a:prstGeom>
          <a:noFill/>
          <a:ln/>
        </p:spPr>
        <p:txBody>
          <a:bodyPr wrap="square" lIns="0" tIns="0" rIns="0" bIns="0" rtlCol="0" anchor="ctr">
            <a:normAutofit/>
          </a:bodyPr>
          <a:lstStyle/>
          <a:p>
            <a:pPr marL="0" indent="0" algn="ctr">
              <a:buNone/>
            </a:pPr>
            <a:r>
              <a:rPr lang="en-US" sz="1750" b="1" dirty="0">
                <a:solidFill>
                  <a:srgbClr val="13815A"/>
                </a:solidFill>
                <a:latin typeface="Aptos" pitchFamily="34" charset="0"/>
                <a:ea typeface="Aptos" pitchFamily="34" charset="-122"/>
                <a:cs typeface="Aptos" pitchFamily="34" charset="-120"/>
              </a:rPr>
              <a:t>✓ MATCH</a:t>
            </a:r>
            <a:endParaRPr lang="en-US" sz="1750" dirty="0"/>
          </a:p>
        </p:txBody>
      </p:sp>
      <p:sp>
        <p:nvSpPr>
          <p:cNvPr id="41" name="Shape 39"/>
          <p:cNvSpPr/>
          <p:nvPr/>
        </p:nvSpPr>
        <p:spPr>
          <a:xfrm>
            <a:off x="6931152" y="4334256"/>
            <a:ext cx="2249424" cy="594360"/>
          </a:xfrm>
          <a:prstGeom prst="roundRect">
            <a:avLst>
              <a:gd name="adj" fmla="val 13846"/>
            </a:avLst>
          </a:prstGeom>
          <a:solidFill>
            <a:srgbClr val="F8ECEC"/>
          </a:solidFill>
          <a:ln w="12700">
            <a:solidFill>
              <a:srgbClr val="F8ECEC"/>
            </a:solidFill>
            <a:prstDash val="solid"/>
          </a:ln>
        </p:spPr>
        <p:txBody>
          <a:bodyPr/>
          <a:lstStyle/>
          <a:p>
            <a:endParaRPr lang="en-US"/>
          </a:p>
        </p:txBody>
      </p:sp>
      <p:sp>
        <p:nvSpPr>
          <p:cNvPr id="42" name="Text 40"/>
          <p:cNvSpPr/>
          <p:nvPr/>
        </p:nvSpPr>
        <p:spPr>
          <a:xfrm>
            <a:off x="6995160" y="4425696"/>
            <a:ext cx="2121408" cy="402336"/>
          </a:xfrm>
          <a:prstGeom prst="rect">
            <a:avLst/>
          </a:prstGeom>
          <a:noFill/>
          <a:ln/>
        </p:spPr>
        <p:txBody>
          <a:bodyPr wrap="square" lIns="0" tIns="0" rIns="0" bIns="0" rtlCol="0" anchor="ctr">
            <a:normAutofit/>
          </a:bodyPr>
          <a:lstStyle/>
          <a:p>
            <a:pPr marL="0" indent="0" algn="ctr">
              <a:buNone/>
            </a:pPr>
            <a:r>
              <a:rPr lang="en-US" sz="1750" b="1" dirty="0">
                <a:solidFill>
                  <a:srgbClr val="C03E45"/>
                </a:solidFill>
                <a:latin typeface="Aptos" pitchFamily="34" charset="0"/>
                <a:ea typeface="Aptos" pitchFamily="34" charset="-122"/>
                <a:cs typeface="Aptos" pitchFamily="34" charset="-120"/>
              </a:rPr>
              <a:t>✕ NO MATCH</a:t>
            </a:r>
            <a:endParaRPr lang="en-US" sz="1750" dirty="0"/>
          </a:p>
        </p:txBody>
      </p:sp>
      <p:sp>
        <p:nvSpPr>
          <p:cNvPr id="43" name="Shape 41"/>
          <p:cNvSpPr/>
          <p:nvPr/>
        </p:nvSpPr>
        <p:spPr>
          <a:xfrm>
            <a:off x="9290304" y="4334256"/>
            <a:ext cx="2249424" cy="594360"/>
          </a:xfrm>
          <a:prstGeom prst="roundRect">
            <a:avLst>
              <a:gd name="adj" fmla="val 13846"/>
            </a:avLst>
          </a:prstGeom>
          <a:solidFill>
            <a:srgbClr val="F8ECEC"/>
          </a:solidFill>
          <a:ln w="12700">
            <a:solidFill>
              <a:srgbClr val="F8ECEC"/>
            </a:solidFill>
            <a:prstDash val="solid"/>
          </a:ln>
        </p:spPr>
        <p:txBody>
          <a:bodyPr/>
          <a:lstStyle/>
          <a:p>
            <a:endParaRPr lang="en-US"/>
          </a:p>
        </p:txBody>
      </p:sp>
      <p:sp>
        <p:nvSpPr>
          <p:cNvPr id="44" name="Text 42"/>
          <p:cNvSpPr/>
          <p:nvPr/>
        </p:nvSpPr>
        <p:spPr>
          <a:xfrm>
            <a:off x="9354312" y="4425696"/>
            <a:ext cx="2121408" cy="402336"/>
          </a:xfrm>
          <a:prstGeom prst="rect">
            <a:avLst/>
          </a:prstGeom>
          <a:noFill/>
          <a:ln/>
        </p:spPr>
        <p:txBody>
          <a:bodyPr wrap="square" lIns="0" tIns="0" rIns="0" bIns="0" rtlCol="0" anchor="ctr">
            <a:normAutofit/>
          </a:bodyPr>
          <a:lstStyle/>
          <a:p>
            <a:pPr marL="0" indent="0" algn="ctr">
              <a:buNone/>
            </a:pPr>
            <a:r>
              <a:rPr lang="en-US" sz="1750" b="1" dirty="0">
                <a:solidFill>
                  <a:srgbClr val="C03E45"/>
                </a:solidFill>
                <a:latin typeface="Aptos" pitchFamily="34" charset="0"/>
                <a:ea typeface="Aptos" pitchFamily="34" charset="-122"/>
                <a:cs typeface="Aptos" pitchFamily="34" charset="-120"/>
              </a:rPr>
              <a:t>✕ NO MATCH</a:t>
            </a:r>
            <a:endParaRPr lang="en-US" sz="1750" dirty="0"/>
          </a:p>
        </p:txBody>
      </p:sp>
      <p:sp>
        <p:nvSpPr>
          <p:cNvPr id="45" name="Shape 43"/>
          <p:cNvSpPr/>
          <p:nvPr/>
        </p:nvSpPr>
        <p:spPr>
          <a:xfrm>
            <a:off x="594360" y="5175504"/>
            <a:ext cx="3557016" cy="932688"/>
          </a:xfrm>
          <a:prstGeom prst="roundRect">
            <a:avLst>
              <a:gd name="adj" fmla="val 10784"/>
            </a:avLst>
          </a:prstGeom>
          <a:solidFill>
            <a:srgbClr val="F4F1FA"/>
          </a:solidFill>
          <a:ln w="12700">
            <a:solidFill>
              <a:srgbClr val="F4F1FA"/>
            </a:solidFill>
            <a:prstDash val="solid"/>
          </a:ln>
        </p:spPr>
        <p:txBody>
          <a:bodyPr/>
          <a:lstStyle/>
          <a:p>
            <a:endParaRPr lang="en-US"/>
          </a:p>
        </p:txBody>
      </p:sp>
      <p:sp>
        <p:nvSpPr>
          <p:cNvPr id="46" name="Text 44"/>
          <p:cNvSpPr/>
          <p:nvPr/>
        </p:nvSpPr>
        <p:spPr>
          <a:xfrm>
            <a:off x="786384" y="5285232"/>
            <a:ext cx="3182112" cy="246888"/>
          </a:xfrm>
          <a:prstGeom prst="rect">
            <a:avLst/>
          </a:prstGeom>
          <a:noFill/>
          <a:ln/>
        </p:spPr>
        <p:txBody>
          <a:bodyPr wrap="square" lIns="0" tIns="0" rIns="0" bIns="0" rtlCol="0" anchor="ctr">
            <a:normAutofit lnSpcReduction="10000"/>
          </a:bodyPr>
          <a:lstStyle/>
          <a:p>
            <a:pPr marL="0" indent="0" algn="l">
              <a:buNone/>
            </a:pPr>
            <a:r>
              <a:rPr lang="en-US" sz="1750" b="1" dirty="0">
                <a:solidFill>
                  <a:srgbClr val="654192"/>
                </a:solidFill>
                <a:latin typeface="Aptos" pitchFamily="34" charset="0"/>
                <a:ea typeface="Aptos" pitchFamily="34" charset="-122"/>
                <a:cs typeface="Aptos" pitchFamily="34" charset="-120"/>
              </a:rPr>
              <a:t> +   SINGLE-LEVEL</a:t>
            </a:r>
            <a:endParaRPr lang="en-US" sz="1750" dirty="0"/>
          </a:p>
        </p:txBody>
      </p:sp>
      <p:sp>
        <p:nvSpPr>
          <p:cNvPr id="47" name="Text 45"/>
          <p:cNvSpPr/>
          <p:nvPr/>
        </p:nvSpPr>
        <p:spPr>
          <a:xfrm>
            <a:off x="786384" y="5623560"/>
            <a:ext cx="3172968" cy="274320"/>
          </a:xfrm>
          <a:prstGeom prst="rect">
            <a:avLst/>
          </a:prstGeom>
          <a:noFill/>
          <a:ln/>
        </p:spPr>
        <p:txBody>
          <a:bodyPr wrap="square" lIns="0" tIns="0" rIns="0" bIns="0" rtlCol="0" anchor="ctr">
            <a:normAutofit/>
          </a:bodyPr>
          <a:lstStyle/>
          <a:p>
            <a:pPr marL="0" indent="0" algn="l">
              <a:buNone/>
            </a:pPr>
            <a:r>
              <a:rPr lang="en-US" sz="1400" dirty="0">
                <a:solidFill>
                  <a:srgbClr val="16243C"/>
                </a:solidFill>
                <a:latin typeface="Aptos" pitchFamily="34" charset="0"/>
                <a:ea typeface="Aptos" pitchFamily="34" charset="-122"/>
                <a:cs typeface="Aptos" pitchFamily="34" charset="-120"/>
              </a:rPr>
              <a:t>Exactly one full level, anywhere in filter</a:t>
            </a:r>
            <a:endParaRPr lang="en-US" sz="1400" dirty="0"/>
          </a:p>
        </p:txBody>
      </p:sp>
      <p:sp>
        <p:nvSpPr>
          <p:cNvPr id="48" name="Shape 46"/>
          <p:cNvSpPr/>
          <p:nvPr/>
        </p:nvSpPr>
        <p:spPr>
          <a:xfrm>
            <a:off x="4315968" y="5175504"/>
            <a:ext cx="3557016" cy="932688"/>
          </a:xfrm>
          <a:prstGeom prst="roundRect">
            <a:avLst>
              <a:gd name="adj" fmla="val 10784"/>
            </a:avLst>
          </a:prstGeom>
          <a:solidFill>
            <a:srgbClr val="EEF5FD"/>
          </a:solidFill>
          <a:ln w="12700">
            <a:solidFill>
              <a:srgbClr val="EEF5FD"/>
            </a:solidFill>
            <a:prstDash val="solid"/>
          </a:ln>
        </p:spPr>
        <p:txBody>
          <a:bodyPr/>
          <a:lstStyle/>
          <a:p>
            <a:endParaRPr lang="en-US"/>
          </a:p>
        </p:txBody>
      </p:sp>
      <p:sp>
        <p:nvSpPr>
          <p:cNvPr id="49" name="Text 47"/>
          <p:cNvSpPr/>
          <p:nvPr/>
        </p:nvSpPr>
        <p:spPr>
          <a:xfrm>
            <a:off x="4498848" y="5285232"/>
            <a:ext cx="3182112" cy="246888"/>
          </a:xfrm>
          <a:prstGeom prst="rect">
            <a:avLst/>
          </a:prstGeom>
          <a:noFill/>
          <a:ln/>
        </p:spPr>
        <p:txBody>
          <a:bodyPr wrap="square" lIns="0" tIns="0" rIns="0" bIns="0" rtlCol="0" anchor="ctr">
            <a:normAutofit lnSpcReduction="10000"/>
          </a:bodyPr>
          <a:lstStyle/>
          <a:p>
            <a:pPr marL="0" indent="0" algn="l">
              <a:buNone/>
            </a:pPr>
            <a:r>
              <a:rPr lang="en-US" sz="1750" b="1" dirty="0">
                <a:solidFill>
                  <a:srgbClr val="1E638E"/>
                </a:solidFill>
                <a:latin typeface="Aptos" pitchFamily="34" charset="0"/>
                <a:ea typeface="Aptos" pitchFamily="34" charset="-122"/>
                <a:cs typeface="Aptos" pitchFamily="34" charset="-120"/>
              </a:rPr>
              <a:t> #   MULTI-LEVEL</a:t>
            </a:r>
            <a:endParaRPr lang="en-US" sz="1750" dirty="0"/>
          </a:p>
        </p:txBody>
      </p:sp>
      <p:sp>
        <p:nvSpPr>
          <p:cNvPr id="50" name="Text 48"/>
          <p:cNvSpPr/>
          <p:nvPr/>
        </p:nvSpPr>
        <p:spPr>
          <a:xfrm>
            <a:off x="4498848" y="5623560"/>
            <a:ext cx="3182112" cy="274320"/>
          </a:xfrm>
          <a:prstGeom prst="rect">
            <a:avLst/>
          </a:prstGeom>
          <a:noFill/>
          <a:ln/>
        </p:spPr>
        <p:txBody>
          <a:bodyPr wrap="square" lIns="0" tIns="0" rIns="0" bIns="0" rtlCol="0" anchor="ctr">
            <a:normAutofit/>
          </a:bodyPr>
          <a:lstStyle/>
          <a:p>
            <a:pPr marL="0" indent="0" algn="l">
              <a:buNone/>
            </a:pPr>
            <a:r>
              <a:rPr lang="en-US" sz="1400" dirty="0">
                <a:solidFill>
                  <a:srgbClr val="16243C"/>
                </a:solidFill>
                <a:latin typeface="Aptos" pitchFamily="34" charset="0"/>
                <a:ea typeface="Aptos" pitchFamily="34" charset="-122"/>
                <a:cs typeface="Aptos" pitchFamily="34" charset="-120"/>
              </a:rPr>
              <a:t>Zero or more levels; final level only</a:t>
            </a:r>
            <a:endParaRPr lang="en-US" sz="1400" dirty="0"/>
          </a:p>
        </p:txBody>
      </p:sp>
      <p:sp>
        <p:nvSpPr>
          <p:cNvPr id="51" name="Shape 49"/>
          <p:cNvSpPr/>
          <p:nvPr/>
        </p:nvSpPr>
        <p:spPr>
          <a:xfrm>
            <a:off x="8037576" y="5175504"/>
            <a:ext cx="3557016" cy="932688"/>
          </a:xfrm>
          <a:prstGeom prst="roundRect">
            <a:avLst>
              <a:gd name="adj" fmla="val 10784"/>
            </a:avLst>
          </a:prstGeom>
          <a:solidFill>
            <a:srgbClr val="FFF2F9"/>
          </a:solidFill>
          <a:ln w="12700">
            <a:solidFill>
              <a:srgbClr val="FFF2F9"/>
            </a:solidFill>
            <a:prstDash val="solid"/>
          </a:ln>
        </p:spPr>
        <p:txBody>
          <a:bodyPr/>
          <a:lstStyle/>
          <a:p>
            <a:endParaRPr lang="en-US"/>
          </a:p>
        </p:txBody>
      </p:sp>
      <p:sp>
        <p:nvSpPr>
          <p:cNvPr id="52" name="Text 50"/>
          <p:cNvSpPr/>
          <p:nvPr/>
        </p:nvSpPr>
        <p:spPr>
          <a:xfrm>
            <a:off x="8229600" y="5285232"/>
            <a:ext cx="3172968" cy="246888"/>
          </a:xfrm>
          <a:prstGeom prst="rect">
            <a:avLst/>
          </a:prstGeom>
          <a:noFill/>
          <a:ln/>
        </p:spPr>
        <p:txBody>
          <a:bodyPr wrap="square" lIns="0" tIns="0" rIns="0" bIns="0" rtlCol="0" anchor="ctr">
            <a:normAutofit lnSpcReduction="10000"/>
          </a:bodyPr>
          <a:lstStyle/>
          <a:p>
            <a:pPr marL="0" indent="0" algn="l">
              <a:buNone/>
            </a:pPr>
            <a:r>
              <a:rPr lang="en-US" sz="1750" b="1" dirty="0">
                <a:solidFill>
                  <a:srgbClr val="A71475"/>
                </a:solidFill>
                <a:latin typeface="Aptos" pitchFamily="34" charset="0"/>
                <a:ea typeface="Aptos" pitchFamily="34" charset="-122"/>
                <a:cs typeface="Aptos" pitchFamily="34" charset="-120"/>
              </a:rPr>
              <a:t>KEY RULE</a:t>
            </a:r>
            <a:endParaRPr lang="en-US" sz="1750" dirty="0"/>
          </a:p>
        </p:txBody>
      </p:sp>
      <p:sp>
        <p:nvSpPr>
          <p:cNvPr id="53" name="Text 51"/>
          <p:cNvSpPr/>
          <p:nvPr/>
        </p:nvSpPr>
        <p:spPr>
          <a:xfrm>
            <a:off x="8229600" y="5623560"/>
            <a:ext cx="3172968" cy="301752"/>
          </a:xfrm>
          <a:prstGeom prst="rect">
            <a:avLst/>
          </a:prstGeom>
          <a:noFill/>
          <a:ln/>
        </p:spPr>
        <p:txBody>
          <a:bodyPr wrap="square" lIns="0" tIns="0" rIns="0" bIns="0" rtlCol="0" anchor="ctr">
            <a:normAutofit fontScale="92500"/>
          </a:bodyPr>
          <a:lstStyle/>
          <a:p>
            <a:pPr marL="0" indent="0" algn="l">
              <a:buNone/>
            </a:pPr>
            <a:r>
              <a:rPr lang="en-US" sz="1350" dirty="0">
                <a:solidFill>
                  <a:srgbClr val="16243C"/>
                </a:solidFill>
                <a:latin typeface="Aptos" pitchFamily="34" charset="0"/>
                <a:ea typeface="Aptos" pitchFamily="34" charset="-122"/>
                <a:cs typeface="Aptos" pitchFamily="34" charset="-120"/>
              </a:rPr>
              <a:t>Wildcards appear only in subscription filters</a:t>
            </a:r>
            <a:endParaRPr lang="en-US" sz="1350" dirty="0"/>
          </a:p>
        </p:txBody>
      </p:sp>
      <p:sp>
        <p:nvSpPr>
          <p:cNvPr id="54" name="Shape 52"/>
          <p:cNvSpPr/>
          <p:nvPr/>
        </p:nvSpPr>
        <p:spPr>
          <a:xfrm>
            <a:off x="594360" y="6327648"/>
            <a:ext cx="10972800" cy="0"/>
          </a:xfrm>
          <a:prstGeom prst="line">
            <a:avLst/>
          </a:prstGeom>
          <a:noFill/>
          <a:ln w="8890">
            <a:solidFill>
              <a:srgbClr val="DBDFE6"/>
            </a:solidFill>
            <a:prstDash val="solid"/>
          </a:ln>
        </p:spPr>
        <p:txBody>
          <a:bodyPr/>
          <a:lstStyle/>
          <a:p>
            <a:endParaRPr lang="en-US"/>
          </a:p>
        </p:txBody>
      </p:sp>
      <p:sp>
        <p:nvSpPr>
          <p:cNvPr id="55" name="Text 53"/>
          <p:cNvSpPr/>
          <p:nvPr/>
        </p:nvSpPr>
        <p:spPr>
          <a:xfrm>
            <a:off x="658368" y="6400800"/>
            <a:ext cx="10789920" cy="246888"/>
          </a:xfrm>
          <a:prstGeom prst="rect">
            <a:avLst/>
          </a:prstGeom>
          <a:noFill/>
          <a:ln/>
        </p:spPr>
        <p:txBody>
          <a:bodyPr wrap="square" lIns="0" tIns="0" rIns="0" bIns="0" rtlCol="0" anchor="ctr">
            <a:normAutofit/>
          </a:bodyPr>
          <a:lstStyle/>
          <a:p>
            <a:pPr marL="0" indent="0" algn="l">
              <a:buNone/>
            </a:pPr>
            <a:r>
              <a:rPr lang="en-US" sz="1240" dirty="0">
                <a:solidFill>
                  <a:srgbClr val="536275"/>
                </a:solidFill>
                <a:latin typeface="Aptos" pitchFamily="34" charset="0"/>
                <a:ea typeface="Aptos" pitchFamily="34" charset="-122"/>
                <a:cs typeface="Aptos" pitchFamily="34" charset="-120"/>
              </a:rPr>
              <a:t>Example: home/kitchen/# also matches the published topic home/kitchen (zero additional levels).</a:t>
            </a:r>
            <a:endParaRPr lang="en-US" sz="12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11FF6-6C41-3D41-8673-4A88DDF7F416}"/>
              </a:ext>
            </a:extLst>
          </p:cNvPr>
          <p:cNvSpPr>
            <a:spLocks noGrp="1"/>
          </p:cNvSpPr>
          <p:nvPr>
            <p:ph type="title"/>
          </p:nvPr>
        </p:nvSpPr>
        <p:spPr/>
        <p:txBody>
          <a:bodyPr/>
          <a:lstStyle/>
          <a:p>
            <a:r>
              <a:rPr lang="en-US" dirty="0"/>
              <a:t>Caching in MQTT</a:t>
            </a:r>
          </a:p>
        </p:txBody>
      </p:sp>
      <p:sp>
        <p:nvSpPr>
          <p:cNvPr id="3" name="Content Placeholder 2">
            <a:extLst>
              <a:ext uri="{FF2B5EF4-FFF2-40B4-BE49-F238E27FC236}">
                <a16:creationId xmlns:a16="http://schemas.microsoft.com/office/drawing/2014/main" id="{23F7A7D9-6688-0145-9946-41AA52C577A5}"/>
              </a:ext>
            </a:extLst>
          </p:cNvPr>
          <p:cNvSpPr>
            <a:spLocks noGrp="1"/>
          </p:cNvSpPr>
          <p:nvPr>
            <p:ph idx="1"/>
          </p:nvPr>
        </p:nvSpPr>
        <p:spPr/>
        <p:txBody>
          <a:bodyPr/>
          <a:lstStyle/>
          <a:p>
            <a:pPr>
              <a:spcBef>
                <a:spcPct val="0"/>
              </a:spcBef>
            </a:pPr>
            <a:r>
              <a:rPr lang="en-US" altLang="en-US" dirty="0">
                <a:ea typeface="MS PGothic" panose="020B0600070205080204" pitchFamily="34" charset="-128"/>
              </a:rPr>
              <a:t>A Subscriber may be </a:t>
            </a:r>
            <a:r>
              <a:rPr lang="en-US" altLang="en-US" b="1" dirty="0">
                <a:ea typeface="MS PGothic" panose="020B0600070205080204" pitchFamily="34" charset="-128"/>
              </a:rPr>
              <a:t>Durable</a:t>
            </a:r>
          </a:p>
          <a:p>
            <a:pPr lvl="1">
              <a:spcBef>
                <a:spcPct val="0"/>
              </a:spcBef>
            </a:pPr>
            <a:r>
              <a:rPr lang="en-US" altLang="en-US" dirty="0"/>
              <a:t>If a message arrives and the subscriber is disconnected, the message is queued and delivered when the subscriber reappears</a:t>
            </a:r>
          </a:p>
          <a:p>
            <a:pPr lvl="1">
              <a:spcBef>
                <a:spcPct val="0"/>
              </a:spcBef>
            </a:pPr>
            <a:endParaRPr lang="en-US" altLang="en-US" dirty="0"/>
          </a:p>
          <a:p>
            <a:pPr>
              <a:spcBef>
                <a:spcPct val="0"/>
              </a:spcBef>
            </a:pPr>
            <a:r>
              <a:rPr lang="en-US" altLang="en-US" dirty="0">
                <a:ea typeface="MS PGothic" panose="020B0600070205080204" pitchFamily="34" charset="-128"/>
              </a:rPr>
              <a:t>A Publication may be </a:t>
            </a:r>
            <a:r>
              <a:rPr lang="en-US" altLang="en-US" b="1" dirty="0">
                <a:ea typeface="MS PGothic" panose="020B0600070205080204" pitchFamily="34" charset="-128"/>
              </a:rPr>
              <a:t>Retained</a:t>
            </a:r>
          </a:p>
          <a:p>
            <a:pPr lvl="1">
              <a:spcBef>
                <a:spcPct val="0"/>
              </a:spcBef>
            </a:pPr>
            <a:r>
              <a:rPr lang="en-US" altLang="en-US" dirty="0"/>
              <a:t>If a publisher marks a message as retained, it remains as a lively message. Newer subscribers get the retained message on the topic as they start subscribing. </a:t>
            </a:r>
          </a:p>
          <a:p>
            <a:endParaRPr lang="en-US" dirty="0"/>
          </a:p>
        </p:txBody>
      </p:sp>
    </p:spTree>
    <p:extLst>
      <p:ext uri="{BB962C8B-B14F-4D97-AF65-F5344CB8AC3E}">
        <p14:creationId xmlns:p14="http://schemas.microsoft.com/office/powerpoint/2010/main" val="1461451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11FF6-6C41-3D41-8673-4A88DDF7F416}"/>
              </a:ext>
            </a:extLst>
          </p:cNvPr>
          <p:cNvSpPr>
            <a:spLocks noGrp="1"/>
          </p:cNvSpPr>
          <p:nvPr>
            <p:ph type="title"/>
          </p:nvPr>
        </p:nvSpPr>
        <p:spPr/>
        <p:txBody>
          <a:bodyPr/>
          <a:lstStyle/>
          <a:p>
            <a:r>
              <a:rPr lang="en-US" altLang="en-US" dirty="0">
                <a:ea typeface="MS PGothic" panose="020B0600070205080204" pitchFamily="34" charset="-128"/>
              </a:rPr>
              <a:t>MQTT Messaging Performance Advantage</a:t>
            </a:r>
            <a:endParaRPr lang="en-US" dirty="0"/>
          </a:p>
        </p:txBody>
      </p:sp>
      <p:sp>
        <p:nvSpPr>
          <p:cNvPr id="3" name="Content Placeholder 2">
            <a:extLst>
              <a:ext uri="{FF2B5EF4-FFF2-40B4-BE49-F238E27FC236}">
                <a16:creationId xmlns:a16="http://schemas.microsoft.com/office/drawing/2014/main" id="{23F7A7D9-6688-0145-9946-41AA52C577A5}"/>
              </a:ext>
            </a:extLst>
          </p:cNvPr>
          <p:cNvSpPr>
            <a:spLocks noGrp="1"/>
          </p:cNvSpPr>
          <p:nvPr>
            <p:ph idx="1"/>
          </p:nvPr>
        </p:nvSpPr>
        <p:spPr>
          <a:xfrm>
            <a:off x="809898" y="2478024"/>
            <a:ext cx="8062254" cy="3696353"/>
          </a:xfrm>
        </p:spPr>
        <p:txBody>
          <a:bodyPr>
            <a:normAutofit fontScale="92500" lnSpcReduction="20000"/>
          </a:bodyPr>
          <a:lstStyle/>
          <a:p>
            <a:pPr>
              <a:spcBef>
                <a:spcPct val="0"/>
              </a:spcBef>
              <a:buFont typeface="Arial"/>
              <a:buChar char="•"/>
              <a:defRPr/>
            </a:pPr>
            <a:r>
              <a:rPr lang="en-US" altLang="en-US" dirty="0">
                <a:ea typeface="ＭＳ Ｐゴシック" charset="-128"/>
              </a:rPr>
              <a:t>A message consists of a compressed bit-wise 2 bytes header plus a variable load.</a:t>
            </a:r>
          </a:p>
          <a:p>
            <a:pPr lvl="1">
              <a:spcBef>
                <a:spcPct val="0"/>
              </a:spcBef>
              <a:buFont typeface="Arial"/>
              <a:buChar char="•"/>
              <a:defRPr/>
            </a:pPr>
            <a:r>
              <a:rPr lang="en-US" altLang="en-US" dirty="0"/>
              <a:t>Smallest load is 0 bytes!</a:t>
            </a:r>
          </a:p>
          <a:p>
            <a:pPr marL="457200" lvl="1" indent="0">
              <a:spcBef>
                <a:spcPct val="0"/>
              </a:spcBef>
              <a:buNone/>
              <a:defRPr/>
            </a:pPr>
            <a:endParaRPr lang="en-US" altLang="en-US" dirty="0"/>
          </a:p>
          <a:p>
            <a:pPr>
              <a:spcBef>
                <a:spcPct val="0"/>
              </a:spcBef>
              <a:buFont typeface="Arial"/>
              <a:buChar char="•"/>
              <a:defRPr/>
            </a:pPr>
            <a:r>
              <a:rPr lang="en-US" altLang="en-US" dirty="0">
                <a:ea typeface="ＭＳ Ｐゴシック" charset="-128"/>
              </a:rPr>
              <a:t>Provides multiple message delivery guarantees</a:t>
            </a:r>
          </a:p>
          <a:p>
            <a:pPr lvl="1">
              <a:spcBef>
                <a:spcPct val="0"/>
              </a:spcBef>
              <a:buFont typeface="Arial"/>
              <a:buChar char="•"/>
              <a:defRPr/>
            </a:pPr>
            <a:r>
              <a:rPr lang="en-US" altLang="en-US" dirty="0"/>
              <a:t>0 – message delivered at most once</a:t>
            </a:r>
          </a:p>
          <a:p>
            <a:pPr lvl="1">
              <a:spcBef>
                <a:spcPct val="0"/>
              </a:spcBef>
              <a:buFont typeface="Arial"/>
              <a:buChar char="•"/>
              <a:defRPr/>
            </a:pPr>
            <a:r>
              <a:rPr lang="en-US" altLang="en-US" dirty="0"/>
              <a:t>1 – message will be delivered, but may be duplicated</a:t>
            </a:r>
          </a:p>
          <a:p>
            <a:pPr lvl="1">
              <a:spcBef>
                <a:spcPct val="0"/>
              </a:spcBef>
              <a:buFont typeface="Arial"/>
              <a:buChar char="•"/>
              <a:defRPr/>
            </a:pPr>
            <a:r>
              <a:rPr lang="en-US" altLang="en-US" dirty="0"/>
              <a:t>2- message will be delivered exactly once.</a:t>
            </a:r>
          </a:p>
          <a:p>
            <a:pPr marL="457200" lvl="1" indent="0">
              <a:spcBef>
                <a:spcPct val="0"/>
              </a:spcBef>
              <a:buNone/>
              <a:defRPr/>
            </a:pPr>
            <a:endParaRPr lang="en-US" altLang="en-US" dirty="0"/>
          </a:p>
          <a:p>
            <a:pPr>
              <a:spcBef>
                <a:spcPct val="0"/>
              </a:spcBef>
              <a:buFont typeface="Arial"/>
              <a:buChar char="•"/>
              <a:defRPr/>
            </a:pPr>
            <a:r>
              <a:rPr lang="en-US" altLang="en-US" sz="2400" dirty="0">
                <a:ea typeface="ＭＳ Ｐゴシック" charset="-128"/>
              </a:rPr>
              <a:t>Remarkable MQTT vs HTTP performance difference, especially throughput. Varies with Delivery Guarantees</a:t>
            </a:r>
          </a:p>
          <a:p>
            <a:endParaRPr lang="en-US" dirty="0"/>
          </a:p>
        </p:txBody>
      </p:sp>
      <p:sp>
        <p:nvSpPr>
          <p:cNvPr id="4" name="TextBox 3">
            <a:extLst>
              <a:ext uri="{FF2B5EF4-FFF2-40B4-BE49-F238E27FC236}">
                <a16:creationId xmlns:a16="http://schemas.microsoft.com/office/drawing/2014/main" id="{32C60A7E-1563-2044-AAC0-5A53DD8FAE48}"/>
              </a:ext>
            </a:extLst>
          </p:cNvPr>
          <p:cNvSpPr txBox="1">
            <a:spLocks noChangeArrowheads="1"/>
          </p:cNvSpPr>
          <p:nvPr/>
        </p:nvSpPr>
        <p:spPr bwMode="auto">
          <a:xfrm>
            <a:off x="8615380" y="4851246"/>
            <a:ext cx="35766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z="1400" dirty="0"/>
              <a:t>http://</a:t>
            </a:r>
            <a:r>
              <a:rPr lang="en-US" altLang="en-US" sz="1400" dirty="0" err="1"/>
              <a:t>stephendnicholas.com</a:t>
            </a:r>
            <a:r>
              <a:rPr lang="en-US" altLang="en-US" sz="1400" dirty="0"/>
              <a:t>/archives/1217</a:t>
            </a:r>
          </a:p>
        </p:txBody>
      </p:sp>
      <p:pic>
        <p:nvPicPr>
          <p:cNvPr id="5" name="Picture 4" descr="Screen Shot 2016-11-03 at 2.08.16 AM.png">
            <a:extLst>
              <a:ext uri="{FF2B5EF4-FFF2-40B4-BE49-F238E27FC236}">
                <a16:creationId xmlns:a16="http://schemas.microsoft.com/office/drawing/2014/main" id="{87C10C57-50FF-F94B-A8D8-7AF4CB61AE7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615380" y="3122458"/>
            <a:ext cx="3492500" cy="172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450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E38E2-1705-63D8-6AA2-87B538896AB4}"/>
              </a:ext>
            </a:extLst>
          </p:cNvPr>
          <p:cNvSpPr>
            <a:spLocks noGrp="1"/>
          </p:cNvSpPr>
          <p:nvPr>
            <p:ph type="title"/>
          </p:nvPr>
        </p:nvSpPr>
        <p:spPr/>
        <p:txBody>
          <a:bodyPr>
            <a:normAutofit fontScale="90000"/>
          </a:bodyPr>
          <a:lstStyle/>
          <a:p>
            <a:r>
              <a:rPr lang="en-US" dirty="0"/>
              <a:t>Simple Client Example</a:t>
            </a:r>
            <a:br>
              <a:rPr lang="en-US" dirty="0"/>
            </a:br>
            <a:r>
              <a:rPr lang="en-US" sz="2700" dirty="0"/>
              <a:t>MQTT is event-driven. Instead of polling for messages, the application registers callbacks that MQTT invokes when events occur.</a:t>
            </a:r>
          </a:p>
        </p:txBody>
      </p:sp>
      <p:pic>
        <p:nvPicPr>
          <p:cNvPr id="7" name="Content Placeholder 6">
            <a:extLst>
              <a:ext uri="{FF2B5EF4-FFF2-40B4-BE49-F238E27FC236}">
                <a16:creationId xmlns:a16="http://schemas.microsoft.com/office/drawing/2014/main" id="{B68EB7E5-6F2F-A3D3-A559-4CA76C70462D}"/>
              </a:ext>
            </a:extLst>
          </p:cNvPr>
          <p:cNvPicPr>
            <a:picLocks noGrp="1" noChangeAspect="1"/>
          </p:cNvPicPr>
          <p:nvPr>
            <p:ph idx="1"/>
          </p:nvPr>
        </p:nvPicPr>
        <p:blipFill>
          <a:blip r:embed="rId2"/>
          <a:stretch>
            <a:fillRect/>
          </a:stretch>
        </p:blipFill>
        <p:spPr>
          <a:xfrm>
            <a:off x="180070" y="2523708"/>
            <a:ext cx="6296241" cy="3785652"/>
          </a:xfrm>
          <a:prstGeom prst="rect">
            <a:avLst/>
          </a:prstGeom>
        </p:spPr>
      </p:pic>
      <p:sp>
        <p:nvSpPr>
          <p:cNvPr id="8" name="TextBox 7">
            <a:extLst>
              <a:ext uri="{FF2B5EF4-FFF2-40B4-BE49-F238E27FC236}">
                <a16:creationId xmlns:a16="http://schemas.microsoft.com/office/drawing/2014/main" id="{2175A479-4D0E-D771-FAFA-59E83D1F679E}"/>
              </a:ext>
            </a:extLst>
          </p:cNvPr>
          <p:cNvSpPr txBox="1"/>
          <p:nvPr/>
        </p:nvSpPr>
        <p:spPr>
          <a:xfrm>
            <a:off x="6451747" y="2523708"/>
            <a:ext cx="5640170" cy="3785652"/>
          </a:xfrm>
          <a:prstGeom prst="rect">
            <a:avLst/>
          </a:prstGeom>
          <a:solidFill>
            <a:schemeClr val="bg1">
              <a:lumMod val="85000"/>
            </a:schemeClr>
          </a:solidFill>
        </p:spPr>
        <p:txBody>
          <a:bodyPr wrap="square" rtlCol="0">
            <a:spAutoFit/>
          </a:bodyPr>
          <a:lstStyle/>
          <a:p>
            <a:pPr lvl="0"/>
            <a:r>
              <a:rPr lang="en-US" sz="2000" b="1" dirty="0" err="1"/>
              <a:t>on_connect</a:t>
            </a:r>
            <a:r>
              <a:rPr lang="en-US" sz="2000" b="1" dirty="0"/>
              <a:t>() </a:t>
            </a:r>
            <a:r>
              <a:rPr lang="en-US" sz="2000" dirty="0"/>
              <a:t>— Called upon connection to the broker; subscribes to the </a:t>
            </a:r>
            <a:r>
              <a:rPr lang="en-US" sz="2000" b="1" dirty="0" err="1"/>
              <a:t>front_door</a:t>
            </a:r>
            <a:r>
              <a:rPr lang="en-US" sz="2000" b="1" dirty="0"/>
              <a:t> </a:t>
            </a:r>
            <a:r>
              <a:rPr lang="en-US" sz="2000" dirty="0"/>
              <a:t>topic.</a:t>
            </a:r>
          </a:p>
          <a:p>
            <a:pPr lvl="0"/>
            <a:r>
              <a:rPr lang="en-US" sz="2000" b="1" dirty="0" err="1"/>
              <a:t>on_message</a:t>
            </a:r>
            <a:r>
              <a:rPr lang="en-US" sz="2000" b="1" dirty="0"/>
              <a:t>() </a:t>
            </a:r>
            <a:r>
              <a:rPr lang="en-US" sz="2000" dirty="0"/>
              <a:t>— Called when a matching message arrives; displays its topic and decoded payload.</a:t>
            </a:r>
          </a:p>
          <a:p>
            <a:pPr lvl="0"/>
            <a:r>
              <a:rPr lang="en-US" sz="2000" b="1" dirty="0" err="1"/>
              <a:t>mqtt.Client</a:t>
            </a:r>
            <a:r>
              <a:rPr lang="en-US" sz="2000" b="1" dirty="0"/>
              <a:t>()</a:t>
            </a:r>
            <a:r>
              <a:rPr lang="en-US" sz="2000" dirty="0"/>
              <a:t> — Creates the MQTT client and registers the two callback functions.</a:t>
            </a:r>
          </a:p>
          <a:p>
            <a:pPr lvl="0"/>
            <a:r>
              <a:rPr lang="en-US" sz="2000" b="1" dirty="0"/>
              <a:t>connect() </a:t>
            </a:r>
            <a:r>
              <a:rPr lang="en-US" sz="2000" dirty="0"/>
              <a:t>— Connects to the broker using TCP port 1883.</a:t>
            </a:r>
          </a:p>
          <a:p>
            <a:pPr lvl="0"/>
            <a:r>
              <a:rPr lang="en-US" sz="2000" b="1" dirty="0" err="1"/>
              <a:t>loop_forever</a:t>
            </a:r>
            <a:r>
              <a:rPr lang="en-US" sz="2000" b="1" dirty="0"/>
              <a:t>() </a:t>
            </a:r>
            <a:r>
              <a:rPr lang="en-US" sz="2000" dirty="0"/>
              <a:t>— Runs the event loop, continuously receiving messages and invoking callbacks.</a:t>
            </a:r>
          </a:p>
        </p:txBody>
      </p:sp>
    </p:spTree>
    <p:extLst>
      <p:ext uri="{BB962C8B-B14F-4D97-AF65-F5344CB8AC3E}">
        <p14:creationId xmlns:p14="http://schemas.microsoft.com/office/powerpoint/2010/main" val="18130365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11FF6-6C41-3D41-8673-4A88DDF7F416}"/>
              </a:ext>
            </a:extLst>
          </p:cNvPr>
          <p:cNvSpPr>
            <a:spLocks noGrp="1"/>
          </p:cNvSpPr>
          <p:nvPr>
            <p:ph type="title"/>
          </p:nvPr>
        </p:nvSpPr>
        <p:spPr/>
        <p:txBody>
          <a:bodyPr/>
          <a:lstStyle/>
          <a:p>
            <a:r>
              <a:rPr lang="en-US" dirty="0"/>
              <a:t>MQTT-SN Variant</a:t>
            </a:r>
          </a:p>
        </p:txBody>
      </p:sp>
      <p:sp>
        <p:nvSpPr>
          <p:cNvPr id="3" name="Content Placeholder 2">
            <a:extLst>
              <a:ext uri="{FF2B5EF4-FFF2-40B4-BE49-F238E27FC236}">
                <a16:creationId xmlns:a16="http://schemas.microsoft.com/office/drawing/2014/main" id="{23F7A7D9-6688-0145-9946-41AA52C577A5}"/>
              </a:ext>
            </a:extLst>
          </p:cNvPr>
          <p:cNvSpPr>
            <a:spLocks noGrp="1"/>
          </p:cNvSpPr>
          <p:nvPr>
            <p:ph idx="1"/>
          </p:nvPr>
        </p:nvSpPr>
        <p:spPr/>
        <p:txBody>
          <a:bodyPr>
            <a:normAutofit fontScale="92500" lnSpcReduction="10000"/>
          </a:bodyPr>
          <a:lstStyle/>
          <a:p>
            <a:pPr>
              <a:spcBef>
                <a:spcPct val="0"/>
              </a:spcBef>
              <a:buNone/>
            </a:pPr>
            <a:r>
              <a:rPr lang="en-US" altLang="en-US" dirty="0">
                <a:solidFill>
                  <a:srgbClr val="000000"/>
                </a:solidFill>
                <a:ea typeface="MS PGothic" panose="020B0600070205080204" pitchFamily="34" charset="-128"/>
              </a:rPr>
              <a:t>MQTT-SN (sensor network) is a variation of MQTT aimed at embedded devices on non-TCP/IP networks, such as Zigbee. </a:t>
            </a:r>
          </a:p>
          <a:p>
            <a:pPr>
              <a:spcBef>
                <a:spcPct val="0"/>
              </a:spcBef>
              <a:buNone/>
            </a:pPr>
            <a:endParaRPr lang="en-US" altLang="en-US" dirty="0">
              <a:solidFill>
                <a:srgbClr val="000000"/>
              </a:solidFill>
              <a:ea typeface="MS PGothic" panose="020B0600070205080204" pitchFamily="34" charset="-128"/>
            </a:endParaRPr>
          </a:p>
          <a:p>
            <a:pPr>
              <a:spcBef>
                <a:spcPct val="0"/>
              </a:spcBef>
              <a:buNone/>
            </a:pPr>
            <a:r>
              <a:rPr lang="en-US" altLang="en-US" dirty="0">
                <a:ea typeface="MS PGothic" panose="020B0600070205080204" pitchFamily="34" charset="-128"/>
              </a:rPr>
              <a:t>Latest version standardized under the nick name: Oasis (</a:t>
            </a:r>
            <a:r>
              <a:rPr lang="en-US" dirty="0"/>
              <a:t>MQTT-SN v2.0 under the OASIS MQTT Technical Committee)</a:t>
            </a:r>
            <a:r>
              <a:rPr lang="en-US" altLang="en-US" dirty="0">
                <a:ea typeface="MS PGothic" panose="020B0600070205080204" pitchFamily="34" charset="-128"/>
              </a:rPr>
              <a:t>. </a:t>
            </a:r>
          </a:p>
          <a:p>
            <a:pPr>
              <a:spcBef>
                <a:spcPct val="0"/>
              </a:spcBef>
              <a:buNone/>
            </a:pPr>
            <a:endParaRPr lang="en-US" altLang="en-US" dirty="0">
              <a:solidFill>
                <a:srgbClr val="000000"/>
              </a:solidFill>
              <a:ea typeface="MS PGothic" panose="020B0600070205080204" pitchFamily="34" charset="-128"/>
            </a:endParaRPr>
          </a:p>
          <a:p>
            <a:pPr>
              <a:spcBef>
                <a:spcPct val="0"/>
              </a:spcBef>
              <a:buNone/>
            </a:pPr>
            <a:r>
              <a:rPr lang="en-US" altLang="en-US" sz="2200" b="1" dirty="0">
                <a:solidFill>
                  <a:srgbClr val="000000"/>
                </a:solidFill>
                <a:ea typeface="MS PGothic" panose="020B0600070205080204" pitchFamily="34" charset="-128"/>
              </a:rPr>
              <a:t>Resources:</a:t>
            </a:r>
          </a:p>
          <a:p>
            <a:pPr>
              <a:spcBef>
                <a:spcPct val="0"/>
              </a:spcBef>
              <a:buClr>
                <a:srgbClr val="000000"/>
              </a:buClr>
              <a:buFont typeface="Arial" panose="020B0604020202020204" pitchFamily="34" charset="0"/>
              <a:buAutoNum type="arabicPeriod"/>
            </a:pPr>
            <a:r>
              <a:rPr lang="en-US" altLang="en-US" sz="2200" dirty="0">
                <a:solidFill>
                  <a:srgbClr val="000000"/>
                </a:solidFill>
                <a:ea typeface="MS PGothic" panose="020B0600070205080204" pitchFamily="34" charset="-128"/>
              </a:rPr>
              <a:t>http://</a:t>
            </a:r>
            <a:r>
              <a:rPr lang="en-US" altLang="en-US" sz="2200" dirty="0" err="1">
                <a:solidFill>
                  <a:srgbClr val="000000"/>
                </a:solidFill>
                <a:ea typeface="MS PGothic" panose="020B0600070205080204" pitchFamily="34" charset="-128"/>
              </a:rPr>
              <a:t>mqtt.org</a:t>
            </a:r>
            <a:r>
              <a:rPr lang="en-US" altLang="en-US" sz="2200" dirty="0">
                <a:solidFill>
                  <a:srgbClr val="000000"/>
                </a:solidFill>
                <a:ea typeface="MS PGothic" panose="020B0600070205080204" pitchFamily="34" charset="-128"/>
              </a:rPr>
              <a:t>/</a:t>
            </a:r>
          </a:p>
          <a:p>
            <a:pPr>
              <a:spcBef>
                <a:spcPct val="0"/>
              </a:spcBef>
              <a:buClr>
                <a:srgbClr val="000000"/>
              </a:buClr>
              <a:buFont typeface="Arial" panose="020B0604020202020204" pitchFamily="34" charset="0"/>
              <a:buAutoNum type="arabicPeriod"/>
            </a:pPr>
            <a:r>
              <a:rPr lang="en-US" altLang="en-US" sz="2200" dirty="0">
                <a:solidFill>
                  <a:srgbClr val="000000"/>
                </a:solidFill>
                <a:ea typeface="MS PGothic" panose="020B0600070205080204" pitchFamily="34" charset="-128"/>
              </a:rPr>
              <a:t>http://</a:t>
            </a:r>
            <a:r>
              <a:rPr lang="en-US" altLang="en-US" sz="2200" dirty="0" err="1">
                <a:solidFill>
                  <a:srgbClr val="000000"/>
                </a:solidFill>
                <a:ea typeface="MS PGothic" panose="020B0600070205080204" pitchFamily="34" charset="-128"/>
              </a:rPr>
              <a:t>www.eclipse.org</a:t>
            </a:r>
            <a:r>
              <a:rPr lang="en-US" altLang="en-US" sz="2200" dirty="0">
                <a:solidFill>
                  <a:srgbClr val="000000"/>
                </a:solidFill>
                <a:ea typeface="MS PGothic" panose="020B0600070205080204" pitchFamily="34" charset="-128"/>
              </a:rPr>
              <a:t>/community/</a:t>
            </a:r>
            <a:r>
              <a:rPr lang="en-US" altLang="en-US" sz="2200" dirty="0" err="1">
                <a:solidFill>
                  <a:srgbClr val="000000"/>
                </a:solidFill>
                <a:ea typeface="MS PGothic" panose="020B0600070205080204" pitchFamily="34" charset="-128"/>
              </a:rPr>
              <a:t>eclipse_newsletter</a:t>
            </a:r>
            <a:r>
              <a:rPr lang="en-US" altLang="en-US" sz="2200" dirty="0">
                <a:solidFill>
                  <a:srgbClr val="000000"/>
                </a:solidFill>
                <a:ea typeface="MS PGothic" panose="020B0600070205080204" pitchFamily="34" charset="-128"/>
              </a:rPr>
              <a:t>/2014/</a:t>
            </a:r>
            <a:r>
              <a:rPr lang="en-US" altLang="en-US" sz="2200" dirty="0" err="1">
                <a:solidFill>
                  <a:srgbClr val="000000"/>
                </a:solidFill>
                <a:ea typeface="MS PGothic" panose="020B0600070205080204" pitchFamily="34" charset="-128"/>
              </a:rPr>
              <a:t>february</a:t>
            </a:r>
            <a:r>
              <a:rPr lang="en-US" altLang="en-US" sz="2200" dirty="0">
                <a:solidFill>
                  <a:srgbClr val="000000"/>
                </a:solidFill>
                <a:ea typeface="MS PGothic" panose="020B0600070205080204" pitchFamily="34" charset="-128"/>
              </a:rPr>
              <a:t>/article2.php</a:t>
            </a:r>
          </a:p>
          <a:p>
            <a:endParaRPr lang="en-US" dirty="0"/>
          </a:p>
        </p:txBody>
      </p:sp>
    </p:spTree>
    <p:extLst>
      <p:ext uri="{BB962C8B-B14F-4D97-AF65-F5344CB8AC3E}">
        <p14:creationId xmlns:p14="http://schemas.microsoft.com/office/powerpoint/2010/main" val="42099499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96AD1-7553-E1B3-DBB5-EBDE3AB401EE}"/>
              </a:ext>
            </a:extLst>
          </p:cNvPr>
          <p:cNvSpPr>
            <a:spLocks noGrp="1"/>
          </p:cNvSpPr>
          <p:nvPr>
            <p:ph type="title"/>
          </p:nvPr>
        </p:nvSpPr>
        <p:spPr/>
        <p:txBody>
          <a:bodyPr/>
          <a:lstStyle/>
          <a:p>
            <a:r>
              <a:rPr lang="en-US" dirty="0"/>
              <a:t>At a Glance Comparison</a:t>
            </a:r>
          </a:p>
        </p:txBody>
      </p:sp>
      <p:pic>
        <p:nvPicPr>
          <p:cNvPr id="3" name="Picture 2">
            <a:extLst>
              <a:ext uri="{FF2B5EF4-FFF2-40B4-BE49-F238E27FC236}">
                <a16:creationId xmlns:a16="http://schemas.microsoft.com/office/drawing/2014/main" id="{20052339-D34E-B80A-583D-2F726D67644D}"/>
              </a:ext>
            </a:extLst>
          </p:cNvPr>
          <p:cNvPicPr>
            <a:picLocks noChangeAspect="1"/>
          </p:cNvPicPr>
          <p:nvPr/>
        </p:nvPicPr>
        <p:blipFill>
          <a:blip r:embed="rId2"/>
          <a:stretch>
            <a:fillRect/>
          </a:stretch>
        </p:blipFill>
        <p:spPr>
          <a:xfrm>
            <a:off x="1115568" y="1510925"/>
            <a:ext cx="8608299" cy="5002729"/>
          </a:xfrm>
          <a:prstGeom prst="rect">
            <a:avLst/>
          </a:prstGeom>
        </p:spPr>
      </p:pic>
    </p:spTree>
    <p:extLst>
      <p:ext uri="{BB962C8B-B14F-4D97-AF65-F5344CB8AC3E}">
        <p14:creationId xmlns:p14="http://schemas.microsoft.com/office/powerpoint/2010/main" val="9920592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B2849-AEF9-17EA-D4F2-8089AA1857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9E45-7823-B9E6-957B-CB0ADA43DFDB}"/>
              </a:ext>
            </a:extLst>
          </p:cNvPr>
          <p:cNvSpPr>
            <a:spLocks noGrp="1"/>
          </p:cNvSpPr>
          <p:nvPr>
            <p:ph type="title"/>
          </p:nvPr>
        </p:nvSpPr>
        <p:spPr/>
        <p:txBody>
          <a:bodyPr/>
          <a:lstStyle/>
          <a:p>
            <a:r>
              <a:rPr lang="en-US" dirty="0"/>
              <a:t>Detailed Comparison!</a:t>
            </a:r>
          </a:p>
        </p:txBody>
      </p:sp>
      <p:graphicFrame>
        <p:nvGraphicFramePr>
          <p:cNvPr id="4" name="Table 3">
            <a:extLst>
              <a:ext uri="{FF2B5EF4-FFF2-40B4-BE49-F238E27FC236}">
                <a16:creationId xmlns:a16="http://schemas.microsoft.com/office/drawing/2014/main" id="{FA6E5A18-C959-9879-1DB3-A2C6A7773398}"/>
              </a:ext>
            </a:extLst>
          </p:cNvPr>
          <p:cNvGraphicFramePr>
            <a:graphicFrameLocks noGrp="1"/>
          </p:cNvGraphicFramePr>
          <p:nvPr/>
        </p:nvGraphicFramePr>
        <p:xfrm>
          <a:off x="1108364" y="1990612"/>
          <a:ext cx="10175332" cy="4744334"/>
        </p:xfrm>
        <a:graphic>
          <a:graphicData uri="http://schemas.openxmlformats.org/drawingml/2006/table">
            <a:tbl>
              <a:tblPr>
                <a:tableStyleId>{E8B1032C-EA38-4F05-BA0D-38AFFFC7BED3}</a:tableStyleId>
              </a:tblPr>
              <a:tblGrid>
                <a:gridCol w="2549236">
                  <a:extLst>
                    <a:ext uri="{9D8B030D-6E8A-4147-A177-3AD203B41FA5}">
                      <a16:colId xmlns:a16="http://schemas.microsoft.com/office/drawing/2014/main" val="493586599"/>
                    </a:ext>
                  </a:extLst>
                </a:gridCol>
                <a:gridCol w="2542032">
                  <a:extLst>
                    <a:ext uri="{9D8B030D-6E8A-4147-A177-3AD203B41FA5}">
                      <a16:colId xmlns:a16="http://schemas.microsoft.com/office/drawing/2014/main" val="1365860246"/>
                    </a:ext>
                  </a:extLst>
                </a:gridCol>
                <a:gridCol w="2542032">
                  <a:extLst>
                    <a:ext uri="{9D8B030D-6E8A-4147-A177-3AD203B41FA5}">
                      <a16:colId xmlns:a16="http://schemas.microsoft.com/office/drawing/2014/main" val="4156672693"/>
                    </a:ext>
                  </a:extLst>
                </a:gridCol>
                <a:gridCol w="2542032">
                  <a:extLst>
                    <a:ext uri="{9D8B030D-6E8A-4147-A177-3AD203B41FA5}">
                      <a16:colId xmlns:a16="http://schemas.microsoft.com/office/drawing/2014/main" val="1648772264"/>
                    </a:ext>
                  </a:extLst>
                </a:gridCol>
              </a:tblGrid>
              <a:tr h="234091">
                <a:tc>
                  <a:txBody>
                    <a:bodyPr/>
                    <a:lstStyle/>
                    <a:p>
                      <a:pPr algn="l">
                        <a:buNone/>
                      </a:pPr>
                      <a:r>
                        <a:rPr lang="en-US" sz="1600" b="1" dirty="0">
                          <a:effectLst/>
                        </a:rPr>
                        <a:t>Dimension</a:t>
                      </a:r>
                    </a:p>
                  </a:txBody>
                  <a:tcPr marL="57375" marR="57375" marT="34425" marB="34425" anchor="ctr"/>
                </a:tc>
                <a:tc>
                  <a:txBody>
                    <a:bodyPr/>
                    <a:lstStyle/>
                    <a:p>
                      <a:pPr algn="l">
                        <a:buNone/>
                      </a:pPr>
                      <a:r>
                        <a:rPr lang="en-US" sz="1600" b="1" dirty="0">
                          <a:solidFill>
                            <a:srgbClr val="0C447C"/>
                          </a:solidFill>
                          <a:effectLst/>
                        </a:rPr>
                        <a:t>REST / HTTP</a:t>
                      </a:r>
                      <a:endParaRPr lang="en-US" sz="1600" b="1" dirty="0">
                        <a:effectLst/>
                      </a:endParaRPr>
                    </a:p>
                  </a:txBody>
                  <a:tcPr marL="57375" marR="57375" marT="34425" marB="34425" anchor="ctr"/>
                </a:tc>
                <a:tc>
                  <a:txBody>
                    <a:bodyPr/>
                    <a:lstStyle/>
                    <a:p>
                      <a:pPr algn="l">
                        <a:buNone/>
                      </a:pPr>
                      <a:r>
                        <a:rPr lang="en-US" sz="1600" b="1" dirty="0">
                          <a:solidFill>
                            <a:srgbClr val="085041"/>
                          </a:solidFill>
                          <a:effectLst/>
                        </a:rPr>
                        <a:t>CoAP</a:t>
                      </a:r>
                      <a:endParaRPr lang="en-US" sz="1600" b="1" dirty="0">
                        <a:effectLst/>
                      </a:endParaRPr>
                    </a:p>
                  </a:txBody>
                  <a:tcPr marL="57375" marR="57375" marT="34425" marB="34425" anchor="ctr"/>
                </a:tc>
                <a:tc>
                  <a:txBody>
                    <a:bodyPr/>
                    <a:lstStyle/>
                    <a:p>
                      <a:pPr algn="l">
                        <a:buNone/>
                      </a:pPr>
                      <a:r>
                        <a:rPr lang="en-US" sz="1600" b="1" dirty="0">
                          <a:solidFill>
                            <a:srgbClr val="633806"/>
                          </a:solidFill>
                          <a:effectLst/>
                        </a:rPr>
                        <a:t>MQTT</a:t>
                      </a:r>
                      <a:endParaRPr lang="en-US" sz="1600" b="1" dirty="0">
                        <a:effectLst/>
                      </a:endParaRPr>
                    </a:p>
                  </a:txBody>
                  <a:tcPr marL="57375" marR="57375" marT="34425" marB="34425" anchor="ctr"/>
                </a:tc>
                <a:extLst>
                  <a:ext uri="{0D108BD9-81ED-4DB2-BD59-A6C34878D82A}">
                    <a16:rowId xmlns:a16="http://schemas.microsoft.com/office/drawing/2014/main" val="4282332591"/>
                  </a:ext>
                </a:extLst>
              </a:tr>
              <a:tr h="399332">
                <a:tc>
                  <a:txBody>
                    <a:bodyPr/>
                    <a:lstStyle/>
                    <a:p>
                      <a:pPr fontAlgn="t">
                        <a:buNone/>
                      </a:pPr>
                      <a:r>
                        <a:rPr lang="en-US" sz="1600">
                          <a:effectLst/>
                        </a:rPr>
                        <a:t>Transport</a:t>
                      </a:r>
                    </a:p>
                  </a:txBody>
                  <a:tcPr marL="57375" marR="57375" marT="34425" marB="34425"/>
                </a:tc>
                <a:tc>
                  <a:txBody>
                    <a:bodyPr/>
                    <a:lstStyle/>
                    <a:p>
                      <a:pPr fontAlgn="t">
                        <a:buNone/>
                      </a:pPr>
                      <a:r>
                        <a:rPr lang="en-US" sz="1600" dirty="0">
                          <a:effectLst/>
                        </a:rPr>
                        <a:t>TCP</a:t>
                      </a:r>
                    </a:p>
                  </a:txBody>
                  <a:tcPr marL="57375" marR="57375" marT="34425" marB="34425"/>
                </a:tc>
                <a:tc>
                  <a:txBody>
                    <a:bodyPr/>
                    <a:lstStyle/>
                    <a:p>
                      <a:pPr fontAlgn="t">
                        <a:buNone/>
                      </a:pPr>
                      <a:r>
                        <a:rPr lang="en-US" sz="1600">
                          <a:effectLst/>
                        </a:rPr>
                        <a:t>UDP (DTLS); TCP optional</a:t>
                      </a:r>
                    </a:p>
                  </a:txBody>
                  <a:tcPr marL="57375" marR="57375" marT="34425" marB="34425"/>
                </a:tc>
                <a:tc>
                  <a:txBody>
                    <a:bodyPr/>
                    <a:lstStyle/>
                    <a:p>
                      <a:pPr fontAlgn="t">
                        <a:buNone/>
                      </a:pPr>
                      <a:r>
                        <a:rPr lang="en-US" sz="1600">
                          <a:effectLst/>
                        </a:rPr>
                        <a:t>TCP (TLS optional)</a:t>
                      </a:r>
                    </a:p>
                  </a:txBody>
                  <a:tcPr marL="57375" marR="57375" marT="34425" marB="34425"/>
                </a:tc>
                <a:extLst>
                  <a:ext uri="{0D108BD9-81ED-4DB2-BD59-A6C34878D82A}">
                    <a16:rowId xmlns:a16="http://schemas.microsoft.com/office/drawing/2014/main" val="1253922389"/>
                  </a:ext>
                </a:extLst>
              </a:tr>
              <a:tr h="399332">
                <a:tc>
                  <a:txBody>
                    <a:bodyPr/>
                    <a:lstStyle/>
                    <a:p>
                      <a:pPr fontAlgn="t">
                        <a:buNone/>
                      </a:pPr>
                      <a:r>
                        <a:rPr lang="en-US" sz="1600">
                          <a:effectLst/>
                        </a:rPr>
                        <a:t>Encoding</a:t>
                      </a:r>
                    </a:p>
                  </a:txBody>
                  <a:tcPr marL="57375" marR="57375" marT="34425" marB="34425"/>
                </a:tc>
                <a:tc>
                  <a:txBody>
                    <a:bodyPr/>
                    <a:lstStyle/>
                    <a:p>
                      <a:pPr fontAlgn="t">
                        <a:buNone/>
                      </a:pPr>
                      <a:r>
                        <a:rPr lang="en-US" sz="1600">
                          <a:effectLst/>
                        </a:rPr>
                        <a:t>Text (JSON, XML, HTML)</a:t>
                      </a:r>
                    </a:p>
                  </a:txBody>
                  <a:tcPr marL="57375" marR="57375" marT="34425" marB="34425"/>
                </a:tc>
                <a:tc>
                  <a:txBody>
                    <a:bodyPr/>
                    <a:lstStyle/>
                    <a:p>
                      <a:pPr fontAlgn="t">
                        <a:buNone/>
                      </a:pPr>
                      <a:r>
                        <a:rPr lang="en-US" sz="1600">
                          <a:effectLst/>
                        </a:rPr>
                        <a:t>Binary + text (CBOR, JSON)</a:t>
                      </a:r>
                    </a:p>
                  </a:txBody>
                  <a:tcPr marL="57375" marR="57375" marT="34425" marB="34425"/>
                </a:tc>
                <a:tc>
                  <a:txBody>
                    <a:bodyPr/>
                    <a:lstStyle/>
                    <a:p>
                      <a:pPr fontAlgn="t">
                        <a:buNone/>
                      </a:pPr>
                      <a:r>
                        <a:rPr lang="en-US" sz="1600">
                          <a:effectLst/>
                        </a:rPr>
                        <a:t>Binary header + any payload</a:t>
                      </a:r>
                    </a:p>
                  </a:txBody>
                  <a:tcPr marL="57375" marR="57375" marT="34425" marB="34425"/>
                </a:tc>
                <a:extLst>
                  <a:ext uri="{0D108BD9-81ED-4DB2-BD59-A6C34878D82A}">
                    <a16:rowId xmlns:a16="http://schemas.microsoft.com/office/drawing/2014/main" val="357163447"/>
                  </a:ext>
                </a:extLst>
              </a:tr>
              <a:tr h="729813">
                <a:tc>
                  <a:txBody>
                    <a:bodyPr/>
                    <a:lstStyle/>
                    <a:p>
                      <a:pPr fontAlgn="t">
                        <a:buNone/>
                      </a:pPr>
                      <a:r>
                        <a:rPr lang="en-US" sz="1600">
                          <a:effectLst/>
                        </a:rPr>
                        <a:t>Message model</a:t>
                      </a:r>
                    </a:p>
                  </a:txBody>
                  <a:tcPr marL="57375" marR="57375" marT="34425" marB="34425"/>
                </a:tc>
                <a:tc>
                  <a:txBody>
                    <a:bodyPr/>
                    <a:lstStyle/>
                    <a:p>
                      <a:pPr fontAlgn="t">
                        <a:buNone/>
                      </a:pPr>
                      <a:r>
                        <a:rPr lang="en-US" sz="1600">
                          <a:effectLst/>
                        </a:rPr>
                        <a:t>Request/response</a:t>
                      </a:r>
                    </a:p>
                  </a:txBody>
                  <a:tcPr marL="57375" marR="57375" marT="34425" marB="34425"/>
                </a:tc>
                <a:tc>
                  <a:txBody>
                    <a:bodyPr/>
                    <a:lstStyle/>
                    <a:p>
                      <a:pPr fontAlgn="t">
                        <a:buNone/>
                      </a:pPr>
                      <a:r>
                        <a:rPr lang="en-US" sz="1600">
                          <a:effectLst/>
                        </a:rPr>
                        <a:t>Request/response + observe (push)</a:t>
                      </a:r>
                    </a:p>
                  </a:txBody>
                  <a:tcPr marL="57375" marR="57375" marT="34425" marB="34425"/>
                </a:tc>
                <a:tc>
                  <a:txBody>
                    <a:bodyPr/>
                    <a:lstStyle/>
                    <a:p>
                      <a:pPr fontAlgn="t">
                        <a:buNone/>
                      </a:pPr>
                      <a:r>
                        <a:rPr lang="en-US" sz="1600">
                          <a:effectLst/>
                        </a:rPr>
                        <a:t>Publish/subscribe</a:t>
                      </a:r>
                    </a:p>
                  </a:txBody>
                  <a:tcPr marL="57375" marR="57375" marT="34425" marB="34425"/>
                </a:tc>
                <a:extLst>
                  <a:ext uri="{0D108BD9-81ED-4DB2-BD59-A6C34878D82A}">
                    <a16:rowId xmlns:a16="http://schemas.microsoft.com/office/drawing/2014/main" val="3888779746"/>
                  </a:ext>
                </a:extLst>
              </a:tr>
              <a:tr h="564572">
                <a:tc>
                  <a:txBody>
                    <a:bodyPr/>
                    <a:lstStyle/>
                    <a:p>
                      <a:pPr fontAlgn="t">
                        <a:buNone/>
                      </a:pPr>
                      <a:r>
                        <a:rPr lang="en-US" sz="1600">
                          <a:effectLst/>
                        </a:rPr>
                        <a:t>Addressing</a:t>
                      </a:r>
                    </a:p>
                  </a:txBody>
                  <a:tcPr marL="57375" marR="57375" marT="34425" marB="34425"/>
                </a:tc>
                <a:tc>
                  <a:txBody>
                    <a:bodyPr/>
                    <a:lstStyle/>
                    <a:p>
                      <a:pPr fontAlgn="t">
                        <a:buNone/>
                      </a:pPr>
                      <a:r>
                        <a:rPr lang="en-US" sz="1600">
                          <a:effectLst/>
                        </a:rPr>
                        <a:t>URI per resource</a:t>
                      </a:r>
                    </a:p>
                  </a:txBody>
                  <a:tcPr marL="57375" marR="57375" marT="34425" marB="34425"/>
                </a:tc>
                <a:tc>
                  <a:txBody>
                    <a:bodyPr/>
                    <a:lstStyle/>
                    <a:p>
                      <a:pPr fontAlgn="t">
                        <a:buNone/>
                      </a:pPr>
                      <a:r>
                        <a:rPr lang="en-US" sz="1600">
                          <a:effectLst/>
                        </a:rPr>
                        <a:t>URI per resource</a:t>
                      </a:r>
                    </a:p>
                  </a:txBody>
                  <a:tcPr marL="57375" marR="57375" marT="34425" marB="34425"/>
                </a:tc>
                <a:tc>
                  <a:txBody>
                    <a:bodyPr/>
                    <a:lstStyle/>
                    <a:p>
                      <a:pPr fontAlgn="t">
                        <a:buNone/>
                      </a:pPr>
                      <a:r>
                        <a:rPr lang="en-US" sz="1600">
                          <a:effectLst/>
                        </a:rPr>
                        <a:t>Topic namespace (hierarchical)</a:t>
                      </a:r>
                    </a:p>
                  </a:txBody>
                  <a:tcPr marL="57375" marR="57375" marT="34425" marB="34425"/>
                </a:tc>
                <a:extLst>
                  <a:ext uri="{0D108BD9-81ED-4DB2-BD59-A6C34878D82A}">
                    <a16:rowId xmlns:a16="http://schemas.microsoft.com/office/drawing/2014/main" val="920847071"/>
                  </a:ext>
                </a:extLst>
              </a:tr>
              <a:tr h="399332">
                <a:tc>
                  <a:txBody>
                    <a:bodyPr/>
                    <a:lstStyle/>
                    <a:p>
                      <a:pPr fontAlgn="t">
                        <a:buNone/>
                      </a:pPr>
                      <a:r>
                        <a:rPr lang="en-US" sz="1600">
                          <a:effectLst/>
                        </a:rPr>
                        <a:t>Broker needed?</a:t>
                      </a:r>
                    </a:p>
                  </a:txBody>
                  <a:tcPr marL="57375" marR="57375" marT="34425" marB="34425"/>
                </a:tc>
                <a:tc>
                  <a:txBody>
                    <a:bodyPr/>
                    <a:lstStyle/>
                    <a:p>
                      <a:pPr fontAlgn="t">
                        <a:buNone/>
                      </a:pPr>
                      <a:r>
                        <a:rPr lang="en-US" sz="1600">
                          <a:effectLst/>
                        </a:rPr>
                        <a:t>No</a:t>
                      </a:r>
                    </a:p>
                  </a:txBody>
                  <a:tcPr marL="57375" marR="57375" marT="34425" marB="34425"/>
                </a:tc>
                <a:tc>
                  <a:txBody>
                    <a:bodyPr/>
                    <a:lstStyle/>
                    <a:p>
                      <a:pPr fontAlgn="t">
                        <a:buNone/>
                      </a:pPr>
                      <a:r>
                        <a:rPr lang="en-US" sz="1600">
                          <a:effectLst/>
                        </a:rPr>
                        <a:t>No (proxy for HTTP bridge)</a:t>
                      </a:r>
                    </a:p>
                  </a:txBody>
                  <a:tcPr marL="57375" marR="57375" marT="34425" marB="34425"/>
                </a:tc>
                <a:tc>
                  <a:txBody>
                    <a:bodyPr/>
                    <a:lstStyle/>
                    <a:p>
                      <a:pPr fontAlgn="t">
                        <a:buNone/>
                      </a:pPr>
                      <a:r>
                        <a:rPr lang="en-US" sz="1600">
                          <a:effectLst/>
                        </a:rPr>
                        <a:t>Yes</a:t>
                      </a:r>
                    </a:p>
                  </a:txBody>
                  <a:tcPr marL="57375" marR="57375" marT="34425" marB="34425"/>
                </a:tc>
                <a:extLst>
                  <a:ext uri="{0D108BD9-81ED-4DB2-BD59-A6C34878D82A}">
                    <a16:rowId xmlns:a16="http://schemas.microsoft.com/office/drawing/2014/main" val="620417150"/>
                  </a:ext>
                </a:extLst>
              </a:tr>
              <a:tr h="729813">
                <a:tc>
                  <a:txBody>
                    <a:bodyPr/>
                    <a:lstStyle/>
                    <a:p>
                      <a:pPr fontAlgn="t">
                        <a:buNone/>
                      </a:pPr>
                      <a:r>
                        <a:rPr lang="en-US" sz="1600">
                          <a:effectLst/>
                        </a:rPr>
                        <a:t>Device role</a:t>
                      </a:r>
                    </a:p>
                  </a:txBody>
                  <a:tcPr marL="57375" marR="57375" marT="34425" marB="34425"/>
                </a:tc>
                <a:tc>
                  <a:txBody>
                    <a:bodyPr/>
                    <a:lstStyle/>
                    <a:p>
                      <a:pPr fontAlgn="t">
                        <a:buNone/>
                      </a:pPr>
                      <a:r>
                        <a:rPr lang="en-US" sz="1600">
                          <a:effectLst/>
                        </a:rPr>
                        <a:t>Client or server</a:t>
                      </a:r>
                    </a:p>
                  </a:txBody>
                  <a:tcPr marL="57375" marR="57375" marT="34425" marB="34425"/>
                </a:tc>
                <a:tc>
                  <a:txBody>
                    <a:bodyPr/>
                    <a:lstStyle/>
                    <a:p>
                      <a:pPr fontAlgn="t">
                        <a:buNone/>
                      </a:pPr>
                      <a:r>
                        <a:rPr lang="en-US" sz="1600">
                          <a:effectLst/>
                        </a:rPr>
                        <a:t>Client and server simultaneously</a:t>
                      </a:r>
                    </a:p>
                  </a:txBody>
                  <a:tcPr marL="57375" marR="57375" marT="34425" marB="34425"/>
                </a:tc>
                <a:tc>
                  <a:txBody>
                    <a:bodyPr/>
                    <a:lstStyle/>
                    <a:p>
                      <a:pPr fontAlgn="t">
                        <a:buNone/>
                      </a:pPr>
                      <a:r>
                        <a:rPr lang="en-US" sz="1600">
                          <a:effectLst/>
                        </a:rPr>
                        <a:t>Publisher, subscriber, or both</a:t>
                      </a:r>
                    </a:p>
                  </a:txBody>
                  <a:tcPr marL="57375" marR="57375" marT="34425" marB="34425"/>
                </a:tc>
                <a:extLst>
                  <a:ext uri="{0D108BD9-81ED-4DB2-BD59-A6C34878D82A}">
                    <a16:rowId xmlns:a16="http://schemas.microsoft.com/office/drawing/2014/main" val="285343237"/>
                  </a:ext>
                </a:extLst>
              </a:tr>
              <a:tr h="895054">
                <a:tc>
                  <a:txBody>
                    <a:bodyPr/>
                    <a:lstStyle/>
                    <a:p>
                      <a:pPr fontAlgn="t">
                        <a:buNone/>
                      </a:pPr>
                      <a:r>
                        <a:rPr lang="en-US" sz="1600" dirty="0">
                          <a:effectLst/>
                        </a:rPr>
                        <a:t>Best for</a:t>
                      </a:r>
                    </a:p>
                  </a:txBody>
                  <a:tcPr marL="57375" marR="57375" marT="34425" marB="34425"/>
                </a:tc>
                <a:tc>
                  <a:txBody>
                    <a:bodyPr/>
                    <a:lstStyle/>
                    <a:p>
                      <a:pPr fontAlgn="t">
                        <a:buNone/>
                      </a:pPr>
                      <a:r>
                        <a:rPr lang="en-US" sz="1600" dirty="0">
                          <a:effectLst/>
                        </a:rPr>
                        <a:t>Web-facing APIs, human-readable data (Data Dashboards for IoT)</a:t>
                      </a:r>
                    </a:p>
                  </a:txBody>
                  <a:tcPr marL="57375" marR="57375" marT="34425" marB="34425"/>
                </a:tc>
                <a:tc>
                  <a:txBody>
                    <a:bodyPr/>
                    <a:lstStyle/>
                    <a:p>
                      <a:pPr fontAlgn="t">
                        <a:buNone/>
                      </a:pPr>
                      <a:r>
                        <a:rPr lang="en-US" sz="1600" dirty="0">
                          <a:effectLst/>
                        </a:rPr>
                        <a:t>Constrained devices, P2P, multicast</a:t>
                      </a:r>
                    </a:p>
                  </a:txBody>
                  <a:tcPr marL="57375" marR="57375" marT="34425" marB="34425"/>
                </a:tc>
                <a:tc>
                  <a:txBody>
                    <a:bodyPr/>
                    <a:lstStyle/>
                    <a:p>
                      <a:pPr fontAlgn="t">
                        <a:buNone/>
                      </a:pPr>
                      <a:r>
                        <a:rPr lang="en-US" sz="1600" dirty="0">
                          <a:effectLst/>
                        </a:rPr>
                        <a:t>Fan-out telemetry, event streams, low-power sensors</a:t>
                      </a:r>
                    </a:p>
                  </a:txBody>
                  <a:tcPr marL="57375" marR="57375" marT="34425" marB="34425"/>
                </a:tc>
                <a:extLst>
                  <a:ext uri="{0D108BD9-81ED-4DB2-BD59-A6C34878D82A}">
                    <a16:rowId xmlns:a16="http://schemas.microsoft.com/office/drawing/2014/main" val="1074906797"/>
                  </a:ext>
                </a:extLst>
              </a:tr>
            </a:tbl>
          </a:graphicData>
        </a:graphic>
      </p:graphicFrame>
    </p:spTree>
    <p:extLst>
      <p:ext uri="{BB962C8B-B14F-4D97-AF65-F5344CB8AC3E}">
        <p14:creationId xmlns:p14="http://schemas.microsoft.com/office/powerpoint/2010/main" val="33461425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F5203FEE-3267-9E4C-950C-27E9551C9FD5}"/>
              </a:ext>
            </a:extLst>
          </p:cNvPr>
          <p:cNvSpPr>
            <a:spLocks noGrp="1"/>
          </p:cNvSpPr>
          <p:nvPr>
            <p:ph type="title"/>
          </p:nvPr>
        </p:nvSpPr>
        <p:spPr>
          <a:xfrm>
            <a:off x="1" y="1745673"/>
            <a:ext cx="12192000" cy="1796597"/>
          </a:xfrm>
          <a:solidFill>
            <a:schemeClr val="bg2">
              <a:lumMod val="90000"/>
            </a:schemeClr>
          </a:solidFill>
        </p:spPr>
        <p:txBody>
          <a:bodyPr vert="horz" lIns="91425" tIns="91425" rIns="91425" bIns="91425" rtlCol="0" anchor="ctr">
            <a:normAutofit fontScale="90000"/>
          </a:bodyPr>
          <a:lstStyle/>
          <a:p>
            <a:pPr>
              <a:spcBef>
                <a:spcPct val="0"/>
              </a:spcBef>
            </a:pPr>
            <a:r>
              <a:rPr lang="en-US" altLang="en-US" sz="5400" dirty="0">
                <a:ea typeface="MS PGothic" panose="020B0600070205080204" pitchFamily="34" charset="-128"/>
              </a:rPr>
              <a:t>6LoWPAN</a:t>
            </a:r>
            <a:br>
              <a:rPr lang="en-US" altLang="en-US" sz="5400" dirty="0">
                <a:ea typeface="MS PGothic" panose="020B0600070205080204" pitchFamily="34" charset="-128"/>
              </a:rPr>
            </a:br>
            <a:r>
              <a:rPr lang="en-US" altLang="en-US" sz="4000" dirty="0">
                <a:ea typeface="MS PGothic" panose="020B0600070205080204" pitchFamily="34" charset="-128"/>
              </a:rPr>
              <a:t>IPv6 based Low Power Wireless Personal Area Network  </a:t>
            </a:r>
            <a:endParaRPr lang="en-US" altLang="en-US" sz="5400" dirty="0">
              <a:ea typeface="MS PGothic" panose="020B0600070205080204" pitchFamily="34" charset="-128"/>
            </a:endParaRPr>
          </a:p>
        </p:txBody>
      </p:sp>
    </p:spTree>
    <p:extLst>
      <p:ext uri="{BB962C8B-B14F-4D97-AF65-F5344CB8AC3E}">
        <p14:creationId xmlns:p14="http://schemas.microsoft.com/office/powerpoint/2010/main" val="3054304415"/>
      </p:ext>
    </p:extLst>
  </p:cSld>
  <p:clrMapOvr>
    <a:masterClrMapping/>
  </p:clrMapOvr>
  <p:transition spd="slow">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11FF6-6C41-3D41-8673-4A88DDF7F416}"/>
              </a:ext>
            </a:extLst>
          </p:cNvPr>
          <p:cNvSpPr>
            <a:spLocks noGrp="1"/>
          </p:cNvSpPr>
          <p:nvPr>
            <p:ph type="title"/>
          </p:nvPr>
        </p:nvSpPr>
        <p:spPr/>
        <p:txBody>
          <a:bodyPr>
            <a:normAutofit fontScale="90000"/>
          </a:bodyPr>
          <a:lstStyle/>
          <a:p>
            <a:r>
              <a:rPr lang="en-US" dirty="0"/>
              <a:t>IPv6 over Low-power Wireless Personal Area Networks</a:t>
            </a:r>
          </a:p>
        </p:txBody>
      </p:sp>
      <p:sp>
        <p:nvSpPr>
          <p:cNvPr id="3" name="Content Placeholder 2">
            <a:extLst>
              <a:ext uri="{FF2B5EF4-FFF2-40B4-BE49-F238E27FC236}">
                <a16:creationId xmlns:a16="http://schemas.microsoft.com/office/drawing/2014/main" id="{23F7A7D9-6688-0145-9946-41AA52C577A5}"/>
              </a:ext>
            </a:extLst>
          </p:cNvPr>
          <p:cNvSpPr>
            <a:spLocks noGrp="1"/>
          </p:cNvSpPr>
          <p:nvPr>
            <p:ph idx="1"/>
          </p:nvPr>
        </p:nvSpPr>
        <p:spPr/>
        <p:txBody>
          <a:bodyPr>
            <a:normAutofit fontScale="92500" lnSpcReduction="10000"/>
          </a:bodyPr>
          <a:lstStyle/>
          <a:p>
            <a:pPr>
              <a:spcBef>
                <a:spcPts val="600"/>
              </a:spcBef>
            </a:pPr>
            <a:r>
              <a:rPr lang="en-US" b="1" dirty="0"/>
              <a:t>6LoWPAN</a:t>
            </a:r>
            <a:r>
              <a:rPr lang="en-US" dirty="0"/>
              <a:t>  is a</a:t>
            </a:r>
            <a:r>
              <a:rPr lang="en-US" altLang="en-US" dirty="0">
                <a:solidFill>
                  <a:srgbClr val="000000"/>
                </a:solidFill>
                <a:ea typeface="MS PGothic" panose="020B0600070205080204" pitchFamily="34" charset="-128"/>
              </a:rPr>
              <a:t>n IETF working group that targets enabling small devices to participate in the IoT using IP. </a:t>
            </a:r>
          </a:p>
          <a:p>
            <a:pPr>
              <a:spcBef>
                <a:spcPts val="600"/>
              </a:spcBef>
            </a:pPr>
            <a:r>
              <a:rPr lang="en-US" altLang="en-US" dirty="0">
                <a:solidFill>
                  <a:srgbClr val="000000"/>
                </a:solidFill>
                <a:ea typeface="MS PGothic" panose="020B0600070205080204" pitchFamily="34" charset="-128"/>
              </a:rPr>
              <a:t>Low-power wireless mesh network where every node has its own IPv6 address, allowing it to connect directly to the Internet using open standards. </a:t>
            </a:r>
          </a:p>
          <a:p>
            <a:pPr>
              <a:spcBef>
                <a:spcPts val="600"/>
              </a:spcBef>
            </a:pPr>
            <a:r>
              <a:rPr lang="en-US" altLang="en-US" dirty="0">
                <a:solidFill>
                  <a:srgbClr val="000000"/>
                </a:solidFill>
                <a:ea typeface="MS PGothic" panose="020B0600070205080204" pitchFamily="34" charset="-128"/>
              </a:rPr>
              <a:t>Defined mechanisms that allow IPv6 packets to be sent and received over </a:t>
            </a:r>
            <a:r>
              <a:rPr lang="en-US" altLang="en-US" b="1" dirty="0">
                <a:solidFill>
                  <a:srgbClr val="000000"/>
                </a:solidFill>
                <a:ea typeface="MS PGothic" panose="020B0600070205080204" pitchFamily="34" charset="-128"/>
              </a:rPr>
              <a:t>IEEE 802.15.4 </a:t>
            </a:r>
            <a:r>
              <a:rPr lang="en-US" altLang="en-US" dirty="0">
                <a:solidFill>
                  <a:srgbClr val="000000"/>
                </a:solidFill>
                <a:ea typeface="MS PGothic" panose="020B0600070205080204" pitchFamily="34" charset="-128"/>
              </a:rPr>
              <a:t>based networks like ZigBee. </a:t>
            </a:r>
          </a:p>
          <a:p>
            <a:pPr>
              <a:spcBef>
                <a:spcPts val="600"/>
              </a:spcBef>
            </a:pPr>
            <a:r>
              <a:rPr lang="en-US" altLang="en-US" b="1" dirty="0">
                <a:solidFill>
                  <a:srgbClr val="000000"/>
                </a:solidFill>
                <a:ea typeface="MS PGothic" panose="020B0600070205080204" pitchFamily="34" charset="-128"/>
              </a:rPr>
              <a:t>Why IPv6 is relevant here? Why is it used in 6LoWPAN?</a:t>
            </a:r>
          </a:p>
        </p:txBody>
      </p:sp>
      <p:pic>
        <p:nvPicPr>
          <p:cNvPr id="4" name="Shape 99">
            <a:extLst>
              <a:ext uri="{FF2B5EF4-FFF2-40B4-BE49-F238E27FC236}">
                <a16:creationId xmlns:a16="http://schemas.microsoft.com/office/drawing/2014/main" id="{3D7EED53-BF4D-F44A-B06E-4F5291C5BE0A}"/>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58400" y="1139253"/>
            <a:ext cx="1470025"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7887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63530-1C00-37FB-D861-E3A587182526}"/>
              </a:ext>
            </a:extLst>
          </p:cNvPr>
          <p:cNvSpPr>
            <a:spLocks noGrp="1"/>
          </p:cNvSpPr>
          <p:nvPr>
            <p:ph type="title"/>
          </p:nvPr>
        </p:nvSpPr>
        <p:spPr/>
        <p:txBody>
          <a:bodyPr>
            <a:normAutofit/>
          </a:bodyPr>
          <a:lstStyle/>
          <a:p>
            <a:r>
              <a:rPr lang="en-US" dirty="0"/>
              <a:t>But What is IEEE 802.15.4? </a:t>
            </a:r>
          </a:p>
        </p:txBody>
      </p:sp>
      <p:graphicFrame>
        <p:nvGraphicFramePr>
          <p:cNvPr id="6" name="Table 5">
            <a:extLst>
              <a:ext uri="{FF2B5EF4-FFF2-40B4-BE49-F238E27FC236}">
                <a16:creationId xmlns:a16="http://schemas.microsoft.com/office/drawing/2014/main" id="{A025CBB9-875B-A194-DFB6-A1BA360E9CBA}"/>
              </a:ext>
            </a:extLst>
          </p:cNvPr>
          <p:cNvGraphicFramePr>
            <a:graphicFrameLocks noGrp="1"/>
          </p:cNvGraphicFramePr>
          <p:nvPr>
            <p:extLst>
              <p:ext uri="{D42A27DB-BD31-4B8C-83A1-F6EECF244321}">
                <p14:modId xmlns:p14="http://schemas.microsoft.com/office/powerpoint/2010/main" val="4048045018"/>
              </p:ext>
            </p:extLst>
          </p:nvPr>
        </p:nvGraphicFramePr>
        <p:xfrm>
          <a:off x="755073" y="2765468"/>
          <a:ext cx="10674928" cy="3690750"/>
        </p:xfrm>
        <a:graphic>
          <a:graphicData uri="http://schemas.openxmlformats.org/drawingml/2006/table">
            <a:tbl>
              <a:tblPr>
                <a:tableStyleId>{7DF18680-E054-41AD-8BC1-D1AEF772440D}</a:tableStyleId>
              </a:tblPr>
              <a:tblGrid>
                <a:gridCol w="1680703">
                  <a:extLst>
                    <a:ext uri="{9D8B030D-6E8A-4147-A177-3AD203B41FA5}">
                      <a16:colId xmlns:a16="http://schemas.microsoft.com/office/drawing/2014/main" val="1619137004"/>
                    </a:ext>
                  </a:extLst>
                </a:gridCol>
                <a:gridCol w="3530181">
                  <a:extLst>
                    <a:ext uri="{9D8B030D-6E8A-4147-A177-3AD203B41FA5}">
                      <a16:colId xmlns:a16="http://schemas.microsoft.com/office/drawing/2014/main" val="485782448"/>
                    </a:ext>
                  </a:extLst>
                </a:gridCol>
                <a:gridCol w="5464044">
                  <a:extLst>
                    <a:ext uri="{9D8B030D-6E8A-4147-A177-3AD203B41FA5}">
                      <a16:colId xmlns:a16="http://schemas.microsoft.com/office/drawing/2014/main" val="2499648061"/>
                    </a:ext>
                  </a:extLst>
                </a:gridCol>
              </a:tblGrid>
              <a:tr h="527250">
                <a:tc>
                  <a:txBody>
                    <a:bodyPr/>
                    <a:lstStyle/>
                    <a:p>
                      <a:pPr>
                        <a:buNone/>
                      </a:pPr>
                      <a:endParaRPr lang="en-US"/>
                    </a:p>
                  </a:txBody>
                  <a:tcPr anchor="ctr"/>
                </a:tc>
                <a:tc>
                  <a:txBody>
                    <a:bodyPr/>
                    <a:lstStyle/>
                    <a:p>
                      <a:pPr>
                        <a:buNone/>
                      </a:pPr>
                      <a:r>
                        <a:rPr lang="en-US" b="1" dirty="0"/>
                        <a:t>IEEE 802.15.4</a:t>
                      </a:r>
                    </a:p>
                  </a:txBody>
                  <a:tcPr anchor="ctr"/>
                </a:tc>
                <a:tc>
                  <a:txBody>
                    <a:bodyPr/>
                    <a:lstStyle/>
                    <a:p>
                      <a:pPr>
                        <a:buNone/>
                      </a:pPr>
                      <a:r>
                        <a:rPr lang="en-US" b="1" dirty="0"/>
                        <a:t>Wi-Fi (IEEE 802.11)</a:t>
                      </a:r>
                    </a:p>
                  </a:txBody>
                  <a:tcPr anchor="ctr"/>
                </a:tc>
                <a:extLst>
                  <a:ext uri="{0D108BD9-81ED-4DB2-BD59-A6C34878D82A}">
                    <a16:rowId xmlns:a16="http://schemas.microsoft.com/office/drawing/2014/main" val="3210320540"/>
                  </a:ext>
                </a:extLst>
              </a:tr>
              <a:tr h="527250">
                <a:tc>
                  <a:txBody>
                    <a:bodyPr/>
                    <a:lstStyle/>
                    <a:p>
                      <a:pPr>
                        <a:buNone/>
                      </a:pPr>
                      <a:r>
                        <a:rPr lang="en-US"/>
                        <a:t>Range</a:t>
                      </a:r>
                    </a:p>
                  </a:txBody>
                  <a:tcPr anchor="ctr"/>
                </a:tc>
                <a:tc>
                  <a:txBody>
                    <a:bodyPr/>
                    <a:lstStyle/>
                    <a:p>
                      <a:pPr>
                        <a:buNone/>
                      </a:pPr>
                      <a:r>
                        <a:rPr lang="en-US" dirty="0"/>
                        <a:t>~10–100 m</a:t>
                      </a:r>
                    </a:p>
                  </a:txBody>
                  <a:tcPr anchor="ctr"/>
                </a:tc>
                <a:tc>
                  <a:txBody>
                    <a:bodyPr/>
                    <a:lstStyle/>
                    <a:p>
                      <a:pPr>
                        <a:buNone/>
                      </a:pPr>
                      <a:r>
                        <a:rPr lang="en-US"/>
                        <a:t>~50–100 m indoors</a:t>
                      </a:r>
                    </a:p>
                  </a:txBody>
                  <a:tcPr anchor="ctr"/>
                </a:tc>
                <a:extLst>
                  <a:ext uri="{0D108BD9-81ED-4DB2-BD59-A6C34878D82A}">
                    <a16:rowId xmlns:a16="http://schemas.microsoft.com/office/drawing/2014/main" val="288583839"/>
                  </a:ext>
                </a:extLst>
              </a:tr>
              <a:tr h="527250">
                <a:tc>
                  <a:txBody>
                    <a:bodyPr/>
                    <a:lstStyle/>
                    <a:p>
                      <a:pPr>
                        <a:buNone/>
                      </a:pPr>
                      <a:r>
                        <a:rPr lang="en-US"/>
                        <a:t>Data rate</a:t>
                      </a:r>
                    </a:p>
                  </a:txBody>
                  <a:tcPr anchor="ctr"/>
                </a:tc>
                <a:tc>
                  <a:txBody>
                    <a:bodyPr/>
                    <a:lstStyle/>
                    <a:p>
                      <a:pPr>
                        <a:buNone/>
                      </a:pPr>
                      <a:r>
                        <a:rPr lang="en-US"/>
                        <a:t>250 kbps</a:t>
                      </a:r>
                    </a:p>
                  </a:txBody>
                  <a:tcPr anchor="ctr"/>
                </a:tc>
                <a:tc>
                  <a:txBody>
                    <a:bodyPr/>
                    <a:lstStyle/>
                    <a:p>
                      <a:pPr>
                        <a:buNone/>
                      </a:pPr>
                      <a:r>
                        <a:rPr lang="en-US"/>
                        <a:t>100 Mbps – several Gbps</a:t>
                      </a:r>
                    </a:p>
                  </a:txBody>
                  <a:tcPr anchor="ctr"/>
                </a:tc>
                <a:extLst>
                  <a:ext uri="{0D108BD9-81ED-4DB2-BD59-A6C34878D82A}">
                    <a16:rowId xmlns:a16="http://schemas.microsoft.com/office/drawing/2014/main" val="2100200771"/>
                  </a:ext>
                </a:extLst>
              </a:tr>
              <a:tr h="527250">
                <a:tc>
                  <a:txBody>
                    <a:bodyPr/>
                    <a:lstStyle/>
                    <a:p>
                      <a:pPr>
                        <a:buNone/>
                      </a:pPr>
                      <a:r>
                        <a:rPr lang="en-US"/>
                        <a:t>Power</a:t>
                      </a:r>
                    </a:p>
                  </a:txBody>
                  <a:tcPr anchor="ctr"/>
                </a:tc>
                <a:tc>
                  <a:txBody>
                    <a:bodyPr/>
                    <a:lstStyle/>
                    <a:p>
                      <a:pPr>
                        <a:buNone/>
                      </a:pPr>
                      <a:r>
                        <a:rPr lang="en-US"/>
                        <a:t>Ultra-low (years on a battery)</a:t>
                      </a:r>
                    </a:p>
                  </a:txBody>
                  <a:tcPr anchor="ctr"/>
                </a:tc>
                <a:tc>
                  <a:txBody>
                    <a:bodyPr/>
                    <a:lstStyle/>
                    <a:p>
                      <a:pPr>
                        <a:buNone/>
                      </a:pPr>
                      <a:r>
                        <a:rPr lang="en-US"/>
                        <a:t>High (needs mains or frequent charging)</a:t>
                      </a:r>
                    </a:p>
                  </a:txBody>
                  <a:tcPr anchor="ctr"/>
                </a:tc>
                <a:extLst>
                  <a:ext uri="{0D108BD9-81ED-4DB2-BD59-A6C34878D82A}">
                    <a16:rowId xmlns:a16="http://schemas.microsoft.com/office/drawing/2014/main" val="1425793769"/>
                  </a:ext>
                </a:extLst>
              </a:tr>
              <a:tr h="527250">
                <a:tc>
                  <a:txBody>
                    <a:bodyPr/>
                    <a:lstStyle/>
                    <a:p>
                      <a:pPr>
                        <a:buNone/>
                      </a:pPr>
                      <a:r>
                        <a:rPr lang="en-US"/>
                        <a:t>Topology</a:t>
                      </a:r>
                    </a:p>
                  </a:txBody>
                  <a:tcPr anchor="ctr"/>
                </a:tc>
                <a:tc>
                  <a:txBody>
                    <a:bodyPr/>
                    <a:lstStyle/>
                    <a:p>
                      <a:pPr>
                        <a:buNone/>
                      </a:pPr>
                      <a:r>
                        <a:rPr lang="en-US"/>
                        <a:t>Mesh, star</a:t>
                      </a:r>
                    </a:p>
                  </a:txBody>
                  <a:tcPr anchor="ctr"/>
                </a:tc>
                <a:tc>
                  <a:txBody>
                    <a:bodyPr/>
                    <a:lstStyle/>
                    <a:p>
                      <a:pPr>
                        <a:buNone/>
                      </a:pPr>
                      <a:r>
                        <a:rPr lang="en-US"/>
                        <a:t>Star (access point)</a:t>
                      </a:r>
                    </a:p>
                  </a:txBody>
                  <a:tcPr anchor="ctr"/>
                </a:tc>
                <a:extLst>
                  <a:ext uri="{0D108BD9-81ED-4DB2-BD59-A6C34878D82A}">
                    <a16:rowId xmlns:a16="http://schemas.microsoft.com/office/drawing/2014/main" val="1116321118"/>
                  </a:ext>
                </a:extLst>
              </a:tr>
              <a:tr h="527250">
                <a:tc>
                  <a:txBody>
                    <a:bodyPr/>
                    <a:lstStyle/>
                    <a:p>
                      <a:pPr>
                        <a:buNone/>
                      </a:pPr>
                      <a:r>
                        <a:rPr lang="en-US"/>
                        <a:t>Use case</a:t>
                      </a:r>
                    </a:p>
                  </a:txBody>
                  <a:tcPr anchor="ctr"/>
                </a:tc>
                <a:tc>
                  <a:txBody>
                    <a:bodyPr/>
                    <a:lstStyle/>
                    <a:p>
                      <a:pPr>
                        <a:buNone/>
                      </a:pPr>
                      <a:r>
                        <a:rPr lang="en-US"/>
                        <a:t>Sensors, IoT edge devices</a:t>
                      </a:r>
                    </a:p>
                  </a:txBody>
                  <a:tcPr anchor="ctr"/>
                </a:tc>
                <a:tc>
                  <a:txBody>
                    <a:bodyPr/>
                    <a:lstStyle/>
                    <a:p>
                      <a:pPr>
                        <a:buNone/>
                      </a:pPr>
                      <a:r>
                        <a:rPr lang="en-US"/>
                        <a:t>Laptops, phones, cameras</a:t>
                      </a:r>
                    </a:p>
                  </a:txBody>
                  <a:tcPr anchor="ctr"/>
                </a:tc>
                <a:extLst>
                  <a:ext uri="{0D108BD9-81ED-4DB2-BD59-A6C34878D82A}">
                    <a16:rowId xmlns:a16="http://schemas.microsoft.com/office/drawing/2014/main" val="1306520386"/>
                  </a:ext>
                </a:extLst>
              </a:tr>
              <a:tr h="527250">
                <a:tc>
                  <a:txBody>
                    <a:bodyPr/>
                    <a:lstStyle/>
                    <a:p>
                      <a:pPr>
                        <a:buNone/>
                      </a:pPr>
                      <a:r>
                        <a:rPr lang="en-US"/>
                        <a:t>Examples</a:t>
                      </a:r>
                    </a:p>
                  </a:txBody>
                  <a:tcPr anchor="ctr"/>
                </a:tc>
                <a:tc>
                  <a:txBody>
                    <a:bodyPr/>
                    <a:lstStyle/>
                    <a:p>
                      <a:pPr>
                        <a:buNone/>
                      </a:pPr>
                      <a:r>
                        <a:rPr lang="en-US"/>
                        <a:t>Zigbee, Thread, Matter</a:t>
                      </a:r>
                    </a:p>
                  </a:txBody>
                  <a:tcPr anchor="ctr"/>
                </a:tc>
                <a:tc>
                  <a:txBody>
                    <a:bodyPr/>
                    <a:lstStyle/>
                    <a:p>
                      <a:pPr>
                        <a:buNone/>
                      </a:pPr>
                      <a:r>
                        <a:rPr lang="en-US" dirty="0"/>
                        <a:t>802.11n, 802.11ac, 802.11ax (Wi-Fi 6)</a:t>
                      </a:r>
                    </a:p>
                  </a:txBody>
                  <a:tcPr anchor="ctr"/>
                </a:tc>
                <a:extLst>
                  <a:ext uri="{0D108BD9-81ED-4DB2-BD59-A6C34878D82A}">
                    <a16:rowId xmlns:a16="http://schemas.microsoft.com/office/drawing/2014/main" val="3637674730"/>
                  </a:ext>
                </a:extLst>
              </a:tr>
            </a:tbl>
          </a:graphicData>
        </a:graphic>
      </p:graphicFrame>
      <p:sp>
        <p:nvSpPr>
          <p:cNvPr id="7" name="Rectangle 1">
            <a:extLst>
              <a:ext uri="{FF2B5EF4-FFF2-40B4-BE49-F238E27FC236}">
                <a16:creationId xmlns:a16="http://schemas.microsoft.com/office/drawing/2014/main" id="{41E20AFA-FD19-9CC4-6DEB-1939F5BD38C2}"/>
              </a:ext>
            </a:extLst>
          </p:cNvPr>
          <p:cNvSpPr>
            <a:spLocks noChangeArrowheads="1"/>
          </p:cNvSpPr>
          <p:nvPr/>
        </p:nvSpPr>
        <p:spPr bwMode="auto">
          <a:xfrm>
            <a:off x="616528" y="1756900"/>
            <a:ext cx="9906943"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IEEE 802.15.4 is not Wi-Fi.</a:t>
            </a:r>
            <a:r>
              <a:rPr kumimoji="0" lang="en-US" altLang="en-US" sz="2800" b="0" i="0" u="none" strike="noStrike" cap="none" normalizeH="0" baseline="0" dirty="0">
                <a:ln>
                  <a:noFill/>
                </a:ln>
                <a:solidFill>
                  <a:schemeClr val="tx1"/>
                </a:solidFill>
                <a:effectLst/>
                <a:latin typeface="Arial" panose="020B0604020202020204" pitchFamily="34" charset="0"/>
              </a:rPr>
              <a:t> Wi-Fi is defined by a completely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different standard family.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35900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8961D-DFDA-E624-50BD-B127D30B0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6B90B8-9D90-916E-B867-4164A05124D6}"/>
              </a:ext>
            </a:extLst>
          </p:cNvPr>
          <p:cNvSpPr>
            <a:spLocks noGrp="1"/>
          </p:cNvSpPr>
          <p:nvPr>
            <p:ph type="title"/>
          </p:nvPr>
        </p:nvSpPr>
        <p:spPr/>
        <p:txBody>
          <a:bodyPr>
            <a:normAutofit/>
          </a:bodyPr>
          <a:lstStyle/>
          <a:p>
            <a:r>
              <a:rPr lang="en-US" b="1" dirty="0"/>
              <a:t>6LoWPAN</a:t>
            </a:r>
            <a:r>
              <a:rPr lang="en-US" dirty="0"/>
              <a:t> over </a:t>
            </a:r>
            <a:r>
              <a:rPr lang="en-US" b="1" dirty="0"/>
              <a:t>Thread</a:t>
            </a:r>
            <a:r>
              <a:rPr lang="en-US" dirty="0"/>
              <a:t> for </a:t>
            </a:r>
            <a:r>
              <a:rPr lang="en-US" b="1" dirty="0"/>
              <a:t>Matter</a:t>
            </a:r>
          </a:p>
        </p:txBody>
      </p:sp>
      <p:sp>
        <p:nvSpPr>
          <p:cNvPr id="3" name="Content Placeholder 2">
            <a:extLst>
              <a:ext uri="{FF2B5EF4-FFF2-40B4-BE49-F238E27FC236}">
                <a16:creationId xmlns:a16="http://schemas.microsoft.com/office/drawing/2014/main" id="{CF20576D-6186-BA1A-19E1-0135530BF6AE}"/>
              </a:ext>
            </a:extLst>
          </p:cNvPr>
          <p:cNvSpPr>
            <a:spLocks noGrp="1"/>
          </p:cNvSpPr>
          <p:nvPr>
            <p:ph idx="1"/>
          </p:nvPr>
        </p:nvSpPr>
        <p:spPr/>
        <p:txBody>
          <a:bodyPr>
            <a:normAutofit fontScale="85000" lnSpcReduction="10000"/>
          </a:bodyPr>
          <a:lstStyle/>
          <a:p>
            <a:pPr>
              <a:spcBef>
                <a:spcPts val="600"/>
              </a:spcBef>
            </a:pPr>
            <a:r>
              <a:rPr lang="en-US" altLang="en-US" b="1" dirty="0">
                <a:solidFill>
                  <a:srgbClr val="C00000"/>
                </a:solidFill>
                <a:ea typeface="MS PGothic" panose="020B0600070205080204" pitchFamily="34" charset="-128"/>
              </a:rPr>
              <a:t>IEEE 802.15.4 is therefore an ultra low power low bandwidth wireless communication standard for IoT devices. </a:t>
            </a:r>
          </a:p>
          <a:p>
            <a:pPr>
              <a:spcBef>
                <a:spcPts val="600"/>
              </a:spcBef>
            </a:pPr>
            <a:r>
              <a:rPr lang="en-US" b="1" dirty="0"/>
              <a:t>6LoWPAN is a s</a:t>
            </a:r>
            <a:r>
              <a:rPr lang="en-US" altLang="en-US" b="1" dirty="0">
                <a:solidFill>
                  <a:srgbClr val="000000"/>
                </a:solidFill>
                <a:ea typeface="MS PGothic" panose="020B0600070205080204" pitchFamily="34" charset="-128"/>
              </a:rPr>
              <a:t>pecial low-power routing protocols</a:t>
            </a:r>
          </a:p>
          <a:p>
            <a:pPr>
              <a:spcBef>
                <a:spcPts val="600"/>
              </a:spcBef>
            </a:pPr>
            <a:r>
              <a:rPr lang="en-US" b="1" dirty="0"/>
              <a:t>6LoWPAN</a:t>
            </a:r>
            <a:r>
              <a:rPr lang="en-US" dirty="0"/>
              <a:t> is today the foundation layer of </a:t>
            </a:r>
            <a:r>
              <a:rPr lang="en-US" b="1" dirty="0"/>
              <a:t>Thread</a:t>
            </a:r>
            <a:r>
              <a:rPr lang="en-US" dirty="0"/>
              <a:t>, which is now the networking backbone of </a:t>
            </a:r>
            <a:r>
              <a:rPr lang="en-US" b="1" dirty="0"/>
              <a:t>Matter</a:t>
            </a:r>
            <a:r>
              <a:rPr lang="en-US" dirty="0"/>
              <a:t>, the </a:t>
            </a:r>
            <a:r>
              <a:rPr lang="en-US" b="1" dirty="0"/>
              <a:t>smart home interoperability standard</a:t>
            </a:r>
            <a:r>
              <a:rPr lang="en-US" dirty="0"/>
              <a:t> backed by Apple, Google, Amazon, IKEA, and Samsung.</a:t>
            </a:r>
            <a:r>
              <a:rPr lang="en-US" altLang="en-US" b="1" dirty="0">
                <a:solidFill>
                  <a:srgbClr val="000000"/>
                </a:solidFill>
                <a:ea typeface="MS PGothic" panose="020B0600070205080204" pitchFamily="34" charset="-128"/>
              </a:rPr>
              <a:t> </a:t>
            </a:r>
          </a:p>
          <a:p>
            <a:pPr>
              <a:spcBef>
                <a:spcPts val="600"/>
              </a:spcBef>
            </a:pPr>
            <a:r>
              <a:rPr lang="en-US" b="1" dirty="0"/>
              <a:t>Thread</a:t>
            </a:r>
            <a:r>
              <a:rPr lang="en-US" dirty="0"/>
              <a:t> uses 6LoWPAN over the IEEE 802.15.4 wireless protocol.</a:t>
            </a:r>
          </a:p>
          <a:p>
            <a:pPr>
              <a:spcBef>
                <a:spcPts val="600"/>
              </a:spcBef>
            </a:pPr>
            <a:r>
              <a:rPr lang="en-US" dirty="0"/>
              <a:t>Every Thread device has its own IPv6 address, allowing it to connect directly to the internet — something Zigbee does not offer.</a:t>
            </a:r>
            <a:endParaRPr lang="en-US" altLang="en-US" b="1" dirty="0">
              <a:solidFill>
                <a:srgbClr val="000000"/>
              </a:solidFill>
              <a:ea typeface="MS PGothic" panose="020B0600070205080204" pitchFamily="34" charset="-128"/>
            </a:endParaRPr>
          </a:p>
        </p:txBody>
      </p:sp>
      <p:pic>
        <p:nvPicPr>
          <p:cNvPr id="4" name="Shape 99">
            <a:extLst>
              <a:ext uri="{FF2B5EF4-FFF2-40B4-BE49-F238E27FC236}">
                <a16:creationId xmlns:a16="http://schemas.microsoft.com/office/drawing/2014/main" id="{56E86F65-C80B-48BD-520D-097D4C5302F0}"/>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58400" y="1139253"/>
            <a:ext cx="1470025"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71956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8FF9F-9F12-6D35-9CEB-CB98AAA3F733}"/>
              </a:ext>
            </a:extLst>
          </p:cNvPr>
          <p:cNvSpPr>
            <a:spLocks noGrp="1"/>
          </p:cNvSpPr>
          <p:nvPr>
            <p:ph type="title"/>
          </p:nvPr>
        </p:nvSpPr>
        <p:spPr/>
        <p:txBody>
          <a:bodyPr>
            <a:normAutofit fontScale="90000"/>
          </a:bodyPr>
          <a:lstStyle/>
          <a:p>
            <a:r>
              <a:rPr lang="en-US" dirty="0"/>
              <a:t>Technically, What does </a:t>
            </a:r>
            <a:r>
              <a:rPr lang="en-US" b="1" dirty="0"/>
              <a:t>6LoWPAN </a:t>
            </a:r>
            <a:r>
              <a:rPr lang="en-US" dirty="0"/>
              <a:t>really do?</a:t>
            </a:r>
          </a:p>
        </p:txBody>
      </p:sp>
      <p:sp>
        <p:nvSpPr>
          <p:cNvPr id="3" name="Content Placeholder 2">
            <a:extLst>
              <a:ext uri="{FF2B5EF4-FFF2-40B4-BE49-F238E27FC236}">
                <a16:creationId xmlns:a16="http://schemas.microsoft.com/office/drawing/2014/main" id="{49487CE6-730E-2296-59ED-DC1FA79354FD}"/>
              </a:ext>
            </a:extLst>
          </p:cNvPr>
          <p:cNvSpPr>
            <a:spLocks noGrp="1"/>
          </p:cNvSpPr>
          <p:nvPr>
            <p:ph idx="1"/>
          </p:nvPr>
        </p:nvSpPr>
        <p:spPr>
          <a:xfrm>
            <a:off x="1115568" y="1953491"/>
            <a:ext cx="10168128" cy="4218709"/>
          </a:xfrm>
        </p:spPr>
        <p:txBody>
          <a:bodyPr>
            <a:normAutofit/>
          </a:bodyPr>
          <a:lstStyle/>
          <a:p>
            <a:r>
              <a:rPr lang="en-US" sz="2400" dirty="0"/>
              <a:t>The core problem is a size mismatch. IPv6 requires a maximum transmission unit (MTU) of at least 1280 bytes. IEEE 802.15.4's standard packet size is only 127 octets — kept short deliberately to reduce power consumption.</a:t>
            </a:r>
          </a:p>
          <a:p>
            <a:r>
              <a:rPr lang="en-US" sz="2400" dirty="0"/>
              <a:t>It solves this through three mechanisms:</a:t>
            </a:r>
          </a:p>
        </p:txBody>
      </p:sp>
      <p:pic>
        <p:nvPicPr>
          <p:cNvPr id="4" name="Shape 99">
            <a:extLst>
              <a:ext uri="{FF2B5EF4-FFF2-40B4-BE49-F238E27FC236}">
                <a16:creationId xmlns:a16="http://schemas.microsoft.com/office/drawing/2014/main" id="{248A6F64-4B7F-6A19-24D9-DD9C8362231C}"/>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41419" y="1139253"/>
            <a:ext cx="1470025"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a:extLst>
              <a:ext uri="{FF2B5EF4-FFF2-40B4-BE49-F238E27FC236}">
                <a16:creationId xmlns:a16="http://schemas.microsoft.com/office/drawing/2014/main" id="{57785E36-7C44-A020-FFC2-DECB5F753DDF}"/>
              </a:ext>
            </a:extLst>
          </p:cNvPr>
          <p:cNvGraphicFramePr>
            <a:graphicFrameLocks noGrp="1"/>
          </p:cNvGraphicFramePr>
          <p:nvPr>
            <p:extLst>
              <p:ext uri="{D42A27DB-BD31-4B8C-83A1-F6EECF244321}">
                <p14:modId xmlns:p14="http://schemas.microsoft.com/office/powerpoint/2010/main" val="944546990"/>
              </p:ext>
            </p:extLst>
          </p:nvPr>
        </p:nvGraphicFramePr>
        <p:xfrm>
          <a:off x="1399309" y="4326775"/>
          <a:ext cx="9393382" cy="2240280"/>
        </p:xfrm>
        <a:graphic>
          <a:graphicData uri="http://schemas.openxmlformats.org/drawingml/2006/table">
            <a:tbl>
              <a:tblPr firstRow="1" bandRow="1">
                <a:tableStyleId>{16D9F66E-5EB9-4882-86FB-DCBF35E3C3E4}</a:tableStyleId>
              </a:tblPr>
              <a:tblGrid>
                <a:gridCol w="9393382">
                  <a:extLst>
                    <a:ext uri="{9D8B030D-6E8A-4147-A177-3AD203B41FA5}">
                      <a16:colId xmlns:a16="http://schemas.microsoft.com/office/drawing/2014/main" val="2519900321"/>
                    </a:ext>
                  </a:extLst>
                </a:gridCol>
              </a:tblGrid>
              <a:tr h="746760">
                <a:tc>
                  <a:txBody>
                    <a:bodyPr/>
                    <a:lstStyle/>
                    <a:p>
                      <a:r>
                        <a:rPr lang="en-US" b="1" dirty="0"/>
                        <a:t>Header compression</a:t>
                      </a:r>
                      <a:r>
                        <a:rPr lang="en-US" dirty="0"/>
                        <a:t> — the 6LoWPAN adaptation layer reduces the standard 40-byte IPv6 header to as little as 6–7 bytes through aggressive compression. </a:t>
                      </a:r>
                    </a:p>
                  </a:txBody>
                  <a:tcPr/>
                </a:tc>
                <a:extLst>
                  <a:ext uri="{0D108BD9-81ED-4DB2-BD59-A6C34878D82A}">
                    <a16:rowId xmlns:a16="http://schemas.microsoft.com/office/drawing/2014/main" val="513526028"/>
                  </a:ext>
                </a:extLst>
              </a:tr>
              <a:tr h="746760">
                <a:tc>
                  <a:txBody>
                    <a:bodyPr/>
                    <a:lstStyle/>
                    <a:p>
                      <a:r>
                        <a:rPr lang="en-US" b="1" dirty="0"/>
                        <a:t>Fragmentation and reassembly</a:t>
                      </a:r>
                      <a:r>
                        <a:rPr lang="en-US" dirty="0"/>
                        <a:t> — large IPv6 packets are split into multiple 802.15.4 frames and reassembled at the destination. </a:t>
                      </a:r>
                    </a:p>
                  </a:txBody>
                  <a:tcPr/>
                </a:tc>
                <a:extLst>
                  <a:ext uri="{0D108BD9-81ED-4DB2-BD59-A6C34878D82A}">
                    <a16:rowId xmlns:a16="http://schemas.microsoft.com/office/drawing/2014/main" val="3060952604"/>
                  </a:ext>
                </a:extLst>
              </a:tr>
              <a:tr h="746760">
                <a:tc>
                  <a:txBody>
                    <a:bodyPr/>
                    <a:lstStyle/>
                    <a:p>
                      <a:r>
                        <a:rPr lang="en-US" b="1" dirty="0"/>
                        <a:t>Mesh addressing</a:t>
                      </a:r>
                      <a:r>
                        <a:rPr lang="en-US" dirty="0"/>
                        <a:t> — devices can relay packets across multiple hops without needing full IP routing at every node.</a:t>
                      </a:r>
                    </a:p>
                  </a:txBody>
                  <a:tcPr/>
                </a:tc>
                <a:extLst>
                  <a:ext uri="{0D108BD9-81ED-4DB2-BD59-A6C34878D82A}">
                    <a16:rowId xmlns:a16="http://schemas.microsoft.com/office/drawing/2014/main" val="1051724893"/>
                  </a:ext>
                </a:extLst>
              </a:tr>
            </a:tbl>
          </a:graphicData>
        </a:graphic>
      </p:graphicFrame>
    </p:spTree>
    <p:extLst>
      <p:ext uri="{BB962C8B-B14F-4D97-AF65-F5344CB8AC3E}">
        <p14:creationId xmlns:p14="http://schemas.microsoft.com/office/powerpoint/2010/main" val="21450035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F5203FEE-3267-9E4C-950C-27E9551C9FD5}"/>
              </a:ext>
            </a:extLst>
          </p:cNvPr>
          <p:cNvSpPr>
            <a:spLocks noGrp="1"/>
          </p:cNvSpPr>
          <p:nvPr>
            <p:ph type="title"/>
          </p:nvPr>
        </p:nvSpPr>
        <p:spPr>
          <a:xfrm>
            <a:off x="1" y="2246870"/>
            <a:ext cx="12192000" cy="1715530"/>
          </a:xfrm>
          <a:solidFill>
            <a:schemeClr val="bg2">
              <a:lumMod val="90000"/>
            </a:schemeClr>
          </a:solidFill>
        </p:spPr>
        <p:txBody>
          <a:bodyPr vert="horz" lIns="91425" tIns="91425" rIns="91425" bIns="91425" rtlCol="0" anchor="ctr">
            <a:normAutofit/>
          </a:bodyPr>
          <a:lstStyle/>
          <a:p>
            <a:pPr>
              <a:spcBef>
                <a:spcPct val="0"/>
              </a:spcBef>
            </a:pPr>
            <a:r>
              <a:rPr lang="en-US" altLang="en-US" sz="4000" dirty="0">
                <a:ea typeface="MS PGothic" panose="020B0600070205080204" pitchFamily="34" charset="-128"/>
              </a:rPr>
              <a:t>Open Mobile Alliance Device Management (OMA)</a:t>
            </a:r>
            <a:br>
              <a:rPr lang="en-US" altLang="en-US" sz="4000" dirty="0">
                <a:ea typeface="MS PGothic" panose="020B0600070205080204" pitchFamily="34" charset="-128"/>
              </a:rPr>
            </a:br>
            <a:r>
              <a:rPr lang="en-US" altLang="en-US" sz="5400" dirty="0"/>
              <a:t>OMA-DM </a:t>
            </a:r>
            <a:r>
              <a:rPr lang="en-US" altLang="en-US" sz="4000" dirty="0">
                <a:ea typeface="MS PGothic" panose="020B0600070205080204" pitchFamily="34" charset="-128"/>
                <a:sym typeface="Wingdings" pitchFamily="2" charset="2"/>
              </a:rPr>
              <a:t> </a:t>
            </a:r>
            <a:r>
              <a:rPr lang="en-US" sz="5400" dirty="0"/>
              <a:t>LwM2M</a:t>
            </a:r>
            <a:endParaRPr lang="en-US" altLang="en-US" sz="5400" dirty="0">
              <a:ea typeface="MS PGothic" panose="020B0600070205080204" pitchFamily="34" charset="-128"/>
            </a:endParaRPr>
          </a:p>
        </p:txBody>
      </p:sp>
    </p:spTree>
    <p:extLst>
      <p:ext uri="{BB962C8B-B14F-4D97-AF65-F5344CB8AC3E}">
        <p14:creationId xmlns:p14="http://schemas.microsoft.com/office/powerpoint/2010/main" val="3747068972"/>
      </p:ext>
    </p:extLst>
  </p:cSld>
  <p:clrMapOvr>
    <a:masterClrMapping/>
  </p:clrMapOvr>
  <p:transition spd="slow">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11FF6-6C41-3D41-8673-4A88DDF7F416}"/>
              </a:ext>
            </a:extLst>
          </p:cNvPr>
          <p:cNvSpPr>
            <a:spLocks noGrp="1"/>
          </p:cNvSpPr>
          <p:nvPr>
            <p:ph type="title"/>
          </p:nvPr>
        </p:nvSpPr>
        <p:spPr/>
        <p:txBody>
          <a:bodyPr/>
          <a:lstStyle/>
          <a:p>
            <a:r>
              <a:rPr lang="en-US" dirty="0"/>
              <a:t>Role of Device Management</a:t>
            </a:r>
          </a:p>
        </p:txBody>
      </p:sp>
      <p:sp>
        <p:nvSpPr>
          <p:cNvPr id="3" name="Content Placeholder 2">
            <a:extLst>
              <a:ext uri="{FF2B5EF4-FFF2-40B4-BE49-F238E27FC236}">
                <a16:creationId xmlns:a16="http://schemas.microsoft.com/office/drawing/2014/main" id="{23F7A7D9-6688-0145-9946-41AA52C577A5}"/>
              </a:ext>
            </a:extLst>
          </p:cNvPr>
          <p:cNvSpPr>
            <a:spLocks noGrp="1"/>
          </p:cNvSpPr>
          <p:nvPr>
            <p:ph idx="1"/>
          </p:nvPr>
        </p:nvSpPr>
        <p:spPr/>
        <p:txBody>
          <a:bodyPr>
            <a:normAutofit fontScale="92500" lnSpcReduction="20000"/>
          </a:bodyPr>
          <a:lstStyle/>
          <a:p>
            <a:r>
              <a:rPr lang="en-US" altLang="en-US" dirty="0">
                <a:ea typeface="MS PGothic" panose="020B0600070205080204" pitchFamily="34" charset="-128"/>
              </a:rPr>
              <a:t>Flashing IoT things and maintaining firmware updates will be a critical aspect of the IoT</a:t>
            </a:r>
          </a:p>
          <a:p>
            <a:r>
              <a:rPr lang="en-US" altLang="en-US" dirty="0">
                <a:ea typeface="MS PGothic" panose="020B0600070205080204" pitchFamily="34" charset="-128"/>
              </a:rPr>
              <a:t>Device management standards have gained “value” status lately especially to the rise of the smartphone industry. </a:t>
            </a:r>
          </a:p>
          <a:p>
            <a:r>
              <a:rPr lang="en-US" altLang="en-US" dirty="0">
                <a:ea typeface="MS PGothic" panose="020B0600070205080204" pitchFamily="34" charset="-128"/>
              </a:rPr>
              <a:t>OMA-DM (Device Management) standard was launched for mobile devices back in 2008 and 2013. Today, Microsoft extended it to its own enterprise Mobile Device Management (MDM) called MMP-C. And Apple also built its own MDM inspired by OMA-DM. </a:t>
            </a:r>
          </a:p>
          <a:p>
            <a:endParaRPr lang="en-US" dirty="0"/>
          </a:p>
        </p:txBody>
      </p:sp>
    </p:spTree>
    <p:extLst>
      <p:ext uri="{BB962C8B-B14F-4D97-AF65-F5344CB8AC3E}">
        <p14:creationId xmlns:p14="http://schemas.microsoft.com/office/powerpoint/2010/main" val="17886071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a:extLst>
              <a:ext uri="{FF2B5EF4-FFF2-40B4-BE49-F238E27FC236}">
                <a16:creationId xmlns:a16="http://schemas.microsoft.com/office/drawing/2014/main" id="{82327F0D-E1B4-5247-95F9-1D86236C6952}"/>
              </a:ext>
            </a:extLst>
          </p:cNvPr>
          <p:cNvSpPr>
            <a:spLocks noGrp="1"/>
          </p:cNvSpPr>
          <p:nvPr>
            <p:ph type="title"/>
          </p:nvPr>
        </p:nvSpPr>
        <p:spPr/>
        <p:txBody>
          <a:bodyPr/>
          <a:lstStyle/>
          <a:p>
            <a:pPr eaLnBrk="1" hangingPunct="1"/>
            <a:r>
              <a:rPr lang="en-US" altLang="en-US" sz="3600" dirty="0">
                <a:ea typeface="MS PGothic" panose="020B0600070205080204" pitchFamily="34" charset="-128"/>
              </a:rPr>
              <a:t>(OMA-DM) </a:t>
            </a:r>
          </a:p>
        </p:txBody>
      </p:sp>
      <p:sp>
        <p:nvSpPr>
          <p:cNvPr id="61442" name="Content Placeholder 2">
            <a:extLst>
              <a:ext uri="{FF2B5EF4-FFF2-40B4-BE49-F238E27FC236}">
                <a16:creationId xmlns:a16="http://schemas.microsoft.com/office/drawing/2014/main" id="{E9F8E1C2-91F2-0440-BA5C-8886299535C8}"/>
              </a:ext>
            </a:extLst>
          </p:cNvPr>
          <p:cNvSpPr>
            <a:spLocks noGrp="1"/>
          </p:cNvSpPr>
          <p:nvPr>
            <p:ph idx="1"/>
          </p:nvPr>
        </p:nvSpPr>
        <p:spPr/>
        <p:txBody>
          <a:bodyPr/>
          <a:lstStyle/>
          <a:p>
            <a:pPr eaLnBrk="1" hangingPunct="1"/>
            <a:r>
              <a:rPr lang="en-US" altLang="en-US">
                <a:ea typeface="MS PGothic" panose="020B0600070205080204" pitchFamily="34" charset="-128"/>
              </a:rPr>
              <a:t>The OMA DM specifications define the protocols and the mechanisms allowing an OMA DM </a:t>
            </a:r>
            <a:r>
              <a:rPr lang="en-US" altLang="en-US" b="1">
                <a:ea typeface="MS PGothic" panose="020B0600070205080204" pitchFamily="34" charset="-128"/>
              </a:rPr>
              <a:t>Server</a:t>
            </a:r>
            <a:r>
              <a:rPr lang="en-US" altLang="en-US">
                <a:ea typeface="MS PGothic" panose="020B0600070205080204" pitchFamily="34" charset="-128"/>
              </a:rPr>
              <a:t> to deliver configuration parameters to an OMA DM </a:t>
            </a:r>
            <a:r>
              <a:rPr lang="en-US" altLang="en-US" b="1">
                <a:ea typeface="MS PGothic" panose="020B0600070205080204" pitchFamily="34" charset="-128"/>
              </a:rPr>
              <a:t>Client</a:t>
            </a:r>
            <a:r>
              <a:rPr lang="en-US" altLang="en-US">
                <a:ea typeface="MS PGothic" panose="020B0600070205080204" pitchFamily="34" charset="-128"/>
              </a:rPr>
              <a:t>, by using a defined set of “DM Commands” for various management procedures to be executed inside a well-defined and secure environment (the “DM Session”).</a:t>
            </a:r>
          </a:p>
        </p:txBody>
      </p:sp>
    </p:spTree>
    <p:extLst>
      <p:ext uri="{BB962C8B-B14F-4D97-AF65-F5344CB8AC3E}">
        <p14:creationId xmlns:p14="http://schemas.microsoft.com/office/powerpoint/2010/main" val="32188990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a:extLst>
              <a:ext uri="{FF2B5EF4-FFF2-40B4-BE49-F238E27FC236}">
                <a16:creationId xmlns:a16="http://schemas.microsoft.com/office/drawing/2014/main" id="{17369FBE-51E1-CF4F-A07D-9D556587D6E2}"/>
              </a:ext>
            </a:extLst>
          </p:cNvPr>
          <p:cNvSpPr>
            <a:spLocks noGrp="1"/>
          </p:cNvSpPr>
          <p:nvPr>
            <p:ph type="title"/>
          </p:nvPr>
        </p:nvSpPr>
        <p:spPr/>
        <p:txBody>
          <a:bodyPr/>
          <a:lstStyle/>
          <a:p>
            <a:pPr eaLnBrk="1" hangingPunct="1"/>
            <a:r>
              <a:rPr lang="en-US" altLang="en-US" sz="3600" dirty="0">
                <a:ea typeface="MS PGothic" panose="020B0600070205080204" pitchFamily="34" charset="-128"/>
              </a:rPr>
              <a:t>(OMA-DM) </a:t>
            </a:r>
          </a:p>
        </p:txBody>
      </p:sp>
      <p:sp>
        <p:nvSpPr>
          <p:cNvPr id="62466" name="Content Placeholder 2">
            <a:extLst>
              <a:ext uri="{FF2B5EF4-FFF2-40B4-BE49-F238E27FC236}">
                <a16:creationId xmlns:a16="http://schemas.microsoft.com/office/drawing/2014/main" id="{5F401370-1951-5C46-B837-B2080A886A10}"/>
              </a:ext>
            </a:extLst>
          </p:cNvPr>
          <p:cNvSpPr>
            <a:spLocks noGrp="1"/>
          </p:cNvSpPr>
          <p:nvPr>
            <p:ph idx="1"/>
          </p:nvPr>
        </p:nvSpPr>
        <p:spPr/>
        <p:txBody>
          <a:bodyPr/>
          <a:lstStyle/>
          <a:p>
            <a:pPr eaLnBrk="1" hangingPunct="1"/>
            <a:r>
              <a:rPr lang="en-US" altLang="en-US" sz="2400" dirty="0">
                <a:ea typeface="MS PGothic" panose="020B0600070205080204" pitchFamily="34" charset="-128"/>
              </a:rPr>
              <a:t>The OMA DM Client exposes the device internal data to the OMA DM Server in the form of a hierarchic tree known as the “</a:t>
            </a:r>
            <a:r>
              <a:rPr lang="en-US" altLang="ja-JP" sz="2400" b="1" dirty="0">
                <a:ea typeface="MS PGothic" panose="020B0600070205080204" pitchFamily="34" charset="-128"/>
              </a:rPr>
              <a:t>DM Tree</a:t>
            </a:r>
            <a:r>
              <a:rPr lang="en-US" altLang="en-US" sz="2400" dirty="0">
                <a:ea typeface="MS PGothic" panose="020B0600070205080204" pitchFamily="34" charset="-128"/>
              </a:rPr>
              <a:t>”</a:t>
            </a:r>
            <a:r>
              <a:rPr lang="en-US" altLang="ja-JP" sz="2400" dirty="0">
                <a:ea typeface="MS PGothic" panose="020B0600070205080204" pitchFamily="34" charset="-128"/>
              </a:rPr>
              <a:t>: it is made up of different building blocks (or sub-trees) called </a:t>
            </a:r>
            <a:r>
              <a:rPr lang="en-US" altLang="ja-JP" sz="2400" b="1" dirty="0">
                <a:ea typeface="MS PGothic" panose="020B0600070205080204" pitchFamily="34" charset="-128"/>
              </a:rPr>
              <a:t>Management Objects </a:t>
            </a:r>
            <a:r>
              <a:rPr lang="en-US" altLang="ja-JP" sz="2400" dirty="0">
                <a:ea typeface="MS PGothic" panose="020B0600070205080204" pitchFamily="34" charset="-128"/>
              </a:rPr>
              <a:t>providing specific functionality in the management of devices. </a:t>
            </a:r>
          </a:p>
          <a:p>
            <a:pPr eaLnBrk="1" hangingPunct="1"/>
            <a:r>
              <a:rPr lang="en-US" altLang="ja-JP" sz="2400" dirty="0">
                <a:ea typeface="MS PGothic" panose="020B0600070205080204" pitchFamily="34" charset="-128"/>
              </a:rPr>
              <a:t>The management and updates of a device feature amounts to the management of a node in its DM Tree.</a:t>
            </a:r>
            <a:endParaRPr lang="en-US" altLang="en-US" sz="2400" dirty="0">
              <a:ea typeface="MS PGothic" panose="020B0600070205080204" pitchFamily="34" charset="-128"/>
            </a:endParaRPr>
          </a:p>
        </p:txBody>
      </p:sp>
    </p:spTree>
    <p:extLst>
      <p:ext uri="{BB962C8B-B14F-4D97-AF65-F5344CB8AC3E}">
        <p14:creationId xmlns:p14="http://schemas.microsoft.com/office/powerpoint/2010/main" val="29114198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D77DD877-CA85-804F-9E47-210569394751}"/>
              </a:ext>
            </a:extLst>
          </p:cNvPr>
          <p:cNvSpPr>
            <a:spLocks noGrp="1"/>
          </p:cNvSpPr>
          <p:nvPr>
            <p:ph type="title"/>
          </p:nvPr>
        </p:nvSpPr>
        <p:spPr/>
        <p:txBody>
          <a:bodyPr/>
          <a:lstStyle/>
          <a:p>
            <a:pPr eaLnBrk="1" hangingPunct="1"/>
            <a:r>
              <a:rPr lang="en-US" altLang="en-US" sz="3600" dirty="0">
                <a:ea typeface="MS PGothic" panose="020B0600070205080204" pitchFamily="34" charset="-128"/>
              </a:rPr>
              <a:t>(OMA-DM) </a:t>
            </a:r>
          </a:p>
        </p:txBody>
      </p:sp>
      <p:pic>
        <p:nvPicPr>
          <p:cNvPr id="63490" name="image07.gif" descr="Device Management">
            <a:extLst>
              <a:ext uri="{FF2B5EF4-FFF2-40B4-BE49-F238E27FC236}">
                <a16:creationId xmlns:a16="http://schemas.microsoft.com/office/drawing/2014/main" id="{6E52DD3C-0E8E-6F40-93E8-58DE8DC813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567" y="1728216"/>
            <a:ext cx="10234471" cy="4581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78472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a:extLst>
              <a:ext uri="{FF2B5EF4-FFF2-40B4-BE49-F238E27FC236}">
                <a16:creationId xmlns:a16="http://schemas.microsoft.com/office/drawing/2014/main" id="{540D31F2-B66B-BD44-86CE-79A1DCC63535}"/>
              </a:ext>
            </a:extLst>
          </p:cNvPr>
          <p:cNvSpPr>
            <a:spLocks noGrp="1"/>
          </p:cNvSpPr>
          <p:nvPr>
            <p:ph type="title"/>
          </p:nvPr>
        </p:nvSpPr>
        <p:spPr/>
        <p:txBody>
          <a:bodyPr/>
          <a:lstStyle/>
          <a:p>
            <a:pPr eaLnBrk="1" hangingPunct="1"/>
            <a:r>
              <a:rPr lang="en-US" altLang="en-US" sz="3600" dirty="0">
                <a:ea typeface="MS PGothic" panose="020B0600070205080204" pitchFamily="34" charset="-128"/>
              </a:rPr>
              <a:t>OMA-DM Capabilities</a:t>
            </a:r>
          </a:p>
        </p:txBody>
      </p:sp>
      <p:sp>
        <p:nvSpPr>
          <p:cNvPr id="64514" name="Content Placeholder 2">
            <a:extLst>
              <a:ext uri="{FF2B5EF4-FFF2-40B4-BE49-F238E27FC236}">
                <a16:creationId xmlns:a16="http://schemas.microsoft.com/office/drawing/2014/main" id="{AE5A3513-E21A-DF46-A69F-6DADAE4F1AF3}"/>
              </a:ext>
            </a:extLst>
          </p:cNvPr>
          <p:cNvSpPr>
            <a:spLocks noGrp="1"/>
          </p:cNvSpPr>
          <p:nvPr>
            <p:ph idx="1"/>
          </p:nvPr>
        </p:nvSpPr>
        <p:spPr>
          <a:xfrm>
            <a:off x="1011936" y="2144566"/>
            <a:ext cx="10168128" cy="4411662"/>
          </a:xfrm>
        </p:spPr>
        <p:txBody>
          <a:bodyPr>
            <a:normAutofit/>
          </a:bodyPr>
          <a:lstStyle/>
          <a:p>
            <a:pPr eaLnBrk="1" hangingPunct="1"/>
            <a:r>
              <a:rPr lang="en-US" altLang="en-US" sz="2000" b="1" i="1" dirty="0">
                <a:ea typeface="MS PGothic" panose="020B0600070205080204" pitchFamily="34" charset="-128"/>
              </a:rPr>
              <a:t>Software Management</a:t>
            </a:r>
            <a:r>
              <a:rPr lang="en-US" altLang="en-US" sz="2000" b="1" dirty="0">
                <a:ea typeface="MS PGothic" panose="020B0600070205080204" pitchFamily="34" charset="-128"/>
              </a:rPr>
              <a:t> </a:t>
            </a:r>
            <a:r>
              <a:rPr lang="en-US" altLang="en-US" sz="2000" dirty="0">
                <a:ea typeface="MS PGothic" panose="020B0600070205080204" pitchFamily="34" charset="-128"/>
              </a:rPr>
              <a:t>(OMA DM SCOMO) allowing not only the installation and the removal of applications on the mobile, but also the retrieval of the inventory of software components already installed on the device</a:t>
            </a:r>
          </a:p>
          <a:p>
            <a:pPr eaLnBrk="1" hangingPunct="1"/>
            <a:r>
              <a:rPr lang="en-US" altLang="en-US" sz="2000" b="1" i="1" dirty="0">
                <a:ea typeface="MS PGothic" panose="020B0600070205080204" pitchFamily="34" charset="-128"/>
              </a:rPr>
              <a:t>Diagnostics and Monitoring</a:t>
            </a:r>
            <a:r>
              <a:rPr lang="en-US" altLang="en-US" sz="2000" b="1" dirty="0">
                <a:ea typeface="MS PGothic" panose="020B0600070205080204" pitchFamily="34" charset="-128"/>
              </a:rPr>
              <a:t> </a:t>
            </a:r>
            <a:r>
              <a:rPr lang="en-US" altLang="en-US" sz="2000" dirty="0">
                <a:ea typeface="MS PGothic" panose="020B0600070205080204" pitchFamily="34" charset="-128"/>
              </a:rPr>
              <a:t>(OMA DM </a:t>
            </a:r>
            <a:r>
              <a:rPr lang="en-US" altLang="en-US" sz="2000" dirty="0" err="1">
                <a:ea typeface="MS PGothic" panose="020B0600070205080204" pitchFamily="34" charset="-128"/>
              </a:rPr>
              <a:t>DiagMon</a:t>
            </a:r>
            <a:r>
              <a:rPr lang="en-US" altLang="en-US" sz="2000" dirty="0">
                <a:ea typeface="MS PGothic" panose="020B0600070205080204" pitchFamily="34" charset="-128"/>
              </a:rPr>
              <a:t> MO), which enables remote diagnostic, for example to query the device for memory and battery status or to collect radio measures and QoS parameters, and remote monitoring, by defining trap and reports</a:t>
            </a:r>
          </a:p>
          <a:p>
            <a:pPr eaLnBrk="1" hangingPunct="1"/>
            <a:r>
              <a:rPr lang="en-US" altLang="en-US" sz="2000" b="1" i="1" dirty="0">
                <a:ea typeface="MS PGothic" panose="020B0600070205080204" pitchFamily="34" charset="-128"/>
              </a:rPr>
              <a:t>Connectivity</a:t>
            </a:r>
            <a:r>
              <a:rPr lang="en-US" altLang="en-US" sz="2000" dirty="0">
                <a:ea typeface="MS PGothic" panose="020B0600070205080204" pitchFamily="34" charset="-128"/>
              </a:rPr>
              <a:t> (OMA DM </a:t>
            </a:r>
            <a:r>
              <a:rPr lang="en-US" altLang="en-US" sz="2000" dirty="0" err="1">
                <a:ea typeface="MS PGothic" panose="020B0600070205080204" pitchFamily="34" charset="-128"/>
              </a:rPr>
              <a:t>ConnMO</a:t>
            </a:r>
            <a:r>
              <a:rPr lang="en-US" altLang="en-US" sz="2000" dirty="0">
                <a:ea typeface="MS PGothic" panose="020B0600070205080204" pitchFamily="34" charset="-128"/>
              </a:rPr>
              <a:t>), which allows the configuration of bearers and proxies</a:t>
            </a:r>
          </a:p>
          <a:p>
            <a:pPr eaLnBrk="1" hangingPunct="1"/>
            <a:r>
              <a:rPr lang="en-US" altLang="en-US" sz="2000" b="1" i="1" dirty="0">
                <a:ea typeface="MS PGothic" panose="020B0600070205080204" pitchFamily="34" charset="-128"/>
              </a:rPr>
              <a:t>Device Capabilities</a:t>
            </a:r>
            <a:r>
              <a:rPr lang="en-US" altLang="en-US" sz="2000" b="1" dirty="0">
                <a:ea typeface="MS PGothic" panose="020B0600070205080204" pitchFamily="34" charset="-128"/>
              </a:rPr>
              <a:t> </a:t>
            </a:r>
            <a:r>
              <a:rPr lang="en-US" altLang="en-US" sz="2000" dirty="0">
                <a:ea typeface="MS PGothic" panose="020B0600070205080204" pitchFamily="34" charset="-128"/>
              </a:rPr>
              <a:t>(OMA DM DCMO), which allows a Management Authority to remotely enable and disable device peripherals like cameras, Bluetooth, USB, etc.</a:t>
            </a:r>
          </a:p>
        </p:txBody>
      </p:sp>
    </p:spTree>
    <p:extLst>
      <p:ext uri="{BB962C8B-B14F-4D97-AF65-F5344CB8AC3E}">
        <p14:creationId xmlns:p14="http://schemas.microsoft.com/office/powerpoint/2010/main" val="27706712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a:extLst>
              <a:ext uri="{FF2B5EF4-FFF2-40B4-BE49-F238E27FC236}">
                <a16:creationId xmlns:a16="http://schemas.microsoft.com/office/drawing/2014/main" id="{6EB6A80E-B8C9-3840-93D1-759E500222DF}"/>
              </a:ext>
            </a:extLst>
          </p:cNvPr>
          <p:cNvSpPr>
            <a:spLocks noGrp="1"/>
          </p:cNvSpPr>
          <p:nvPr>
            <p:ph type="title"/>
          </p:nvPr>
        </p:nvSpPr>
        <p:spPr/>
        <p:txBody>
          <a:bodyPr/>
          <a:lstStyle/>
          <a:p>
            <a:pPr eaLnBrk="1" hangingPunct="1"/>
            <a:r>
              <a:rPr lang="en-US" altLang="en-US">
                <a:ea typeface="MS PGothic" panose="020B0600070205080204" pitchFamily="34" charset="-128"/>
              </a:rPr>
              <a:t>OMA-DM Capabilities, Cont’d</a:t>
            </a:r>
          </a:p>
        </p:txBody>
      </p:sp>
      <p:sp>
        <p:nvSpPr>
          <p:cNvPr id="65538" name="Content Placeholder 2">
            <a:extLst>
              <a:ext uri="{FF2B5EF4-FFF2-40B4-BE49-F238E27FC236}">
                <a16:creationId xmlns:a16="http://schemas.microsoft.com/office/drawing/2014/main" id="{D398983E-FD7F-D34A-9E71-F0A89EB85CDB}"/>
              </a:ext>
            </a:extLst>
          </p:cNvPr>
          <p:cNvSpPr>
            <a:spLocks noGrp="1"/>
          </p:cNvSpPr>
          <p:nvPr>
            <p:ph idx="1"/>
          </p:nvPr>
        </p:nvSpPr>
        <p:spPr>
          <a:xfrm>
            <a:off x="908304" y="2018909"/>
            <a:ext cx="10410125" cy="4411662"/>
          </a:xfrm>
        </p:spPr>
        <p:txBody>
          <a:bodyPr/>
          <a:lstStyle/>
          <a:p>
            <a:pPr eaLnBrk="1" hangingPunct="1"/>
            <a:r>
              <a:rPr lang="en-US" altLang="en-US" sz="2000" b="1" i="1" dirty="0">
                <a:ea typeface="MS PGothic" panose="020B0600070205080204" pitchFamily="34" charset="-128"/>
              </a:rPr>
              <a:t>Lock and Wipe</a:t>
            </a:r>
            <a:r>
              <a:rPr lang="en-US" altLang="en-US" sz="2000" b="1" dirty="0">
                <a:ea typeface="MS PGothic" panose="020B0600070205080204" pitchFamily="34" charset="-128"/>
              </a:rPr>
              <a:t> </a:t>
            </a:r>
            <a:r>
              <a:rPr lang="en-US" altLang="en-US" sz="2000" dirty="0">
                <a:ea typeface="MS PGothic" panose="020B0600070205080204" pitchFamily="34" charset="-128"/>
              </a:rPr>
              <a:t>(OMA DM LAWMO), which allows to remotely lock and/or wipe the device, for instance when the device is stolen or sold, or when personal or enterprise data are compromised</a:t>
            </a:r>
          </a:p>
          <a:p>
            <a:pPr eaLnBrk="1" hangingPunct="1"/>
            <a:r>
              <a:rPr lang="en-US" altLang="en-US" sz="2000" b="1" i="1" dirty="0">
                <a:ea typeface="MS PGothic" panose="020B0600070205080204" pitchFamily="34" charset="-128"/>
              </a:rPr>
              <a:t>Browser</a:t>
            </a:r>
            <a:r>
              <a:rPr lang="en-US" altLang="en-US" sz="2000" dirty="0">
                <a:ea typeface="MS PGothic" panose="020B0600070205080204" pitchFamily="34" charset="-128"/>
              </a:rPr>
              <a:t> (OMA DM BMO), which allows remote management of browser favorites and settings</a:t>
            </a:r>
          </a:p>
          <a:p>
            <a:pPr eaLnBrk="1" hangingPunct="1"/>
            <a:r>
              <a:rPr lang="en-US" altLang="en-US" sz="2000" b="1" i="1" dirty="0">
                <a:ea typeface="MS PGothic" panose="020B0600070205080204" pitchFamily="34" charset="-128"/>
              </a:rPr>
              <a:t>Virtualization</a:t>
            </a:r>
            <a:r>
              <a:rPr lang="en-US" altLang="en-US" sz="2000" dirty="0">
                <a:ea typeface="MS PGothic" panose="020B0600070205080204" pitchFamily="34" charset="-128"/>
              </a:rPr>
              <a:t> (OMA DM </a:t>
            </a:r>
            <a:r>
              <a:rPr lang="en-US" altLang="en-US" sz="2000" dirty="0" err="1">
                <a:ea typeface="MS PGothic" panose="020B0600070205080204" pitchFamily="34" charset="-128"/>
              </a:rPr>
              <a:t>VirMO</a:t>
            </a:r>
            <a:r>
              <a:rPr lang="en-US" altLang="en-US" sz="2000" dirty="0">
                <a:ea typeface="MS PGothic" panose="020B0600070205080204" pitchFamily="34" charset="-128"/>
              </a:rPr>
              <a:t>), which enables remote management of virtual machines running on the device (expected for 3Q 2013)</a:t>
            </a:r>
          </a:p>
          <a:p>
            <a:pPr eaLnBrk="1" hangingPunct="1"/>
            <a:r>
              <a:rPr lang="en-US" altLang="en-US" sz="2000" b="1" i="1" dirty="0">
                <a:ea typeface="MS PGothic" panose="020B0600070205080204" pitchFamily="34" charset="-128"/>
              </a:rPr>
              <a:t>Management Policy</a:t>
            </a:r>
            <a:r>
              <a:rPr lang="en-US" altLang="en-US" sz="2000" b="1" dirty="0">
                <a:ea typeface="MS PGothic" panose="020B0600070205080204" pitchFamily="34" charset="-128"/>
              </a:rPr>
              <a:t> </a:t>
            </a:r>
            <a:r>
              <a:rPr lang="en-US" altLang="en-US" sz="2000" dirty="0">
                <a:ea typeface="MS PGothic" panose="020B0600070205080204" pitchFamily="34" charset="-128"/>
              </a:rPr>
              <a:t>(OMA DM Management Policy MO), which allows the deployment on the device of policies which the DM Client can execute and enforce independently: if some events happen, then perform some operations (expected for 2Q 2014)</a:t>
            </a:r>
          </a:p>
          <a:p>
            <a:pPr eaLnBrk="1" hangingPunct="1">
              <a:buFont typeface="Wingdings" pitchFamily="2" charset="2"/>
              <a:buNone/>
            </a:pPr>
            <a:endParaRPr lang="en-US" altLang="en-US" dirty="0">
              <a:ea typeface="MS PGothic" panose="020B0600070205080204" pitchFamily="34" charset="-128"/>
            </a:endParaRPr>
          </a:p>
        </p:txBody>
      </p:sp>
    </p:spTree>
    <p:extLst>
      <p:ext uri="{BB962C8B-B14F-4D97-AF65-F5344CB8AC3E}">
        <p14:creationId xmlns:p14="http://schemas.microsoft.com/office/powerpoint/2010/main" val="30831764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84234-C3F2-E103-8184-50FF7FE181C3}"/>
              </a:ext>
            </a:extLst>
          </p:cNvPr>
          <p:cNvSpPr>
            <a:spLocks noGrp="1"/>
          </p:cNvSpPr>
          <p:nvPr>
            <p:ph type="title"/>
          </p:nvPr>
        </p:nvSpPr>
        <p:spPr/>
        <p:txBody>
          <a:bodyPr>
            <a:normAutofit fontScale="90000"/>
          </a:bodyPr>
          <a:lstStyle/>
          <a:p>
            <a:r>
              <a:rPr lang="en-US" b="1" dirty="0"/>
              <a:t>LwM2M</a:t>
            </a:r>
            <a:r>
              <a:rPr lang="en-US" dirty="0"/>
              <a:t>: Light Weight Machine To Machine</a:t>
            </a:r>
          </a:p>
        </p:txBody>
      </p:sp>
      <p:sp>
        <p:nvSpPr>
          <p:cNvPr id="3" name="Content Placeholder 2">
            <a:extLst>
              <a:ext uri="{FF2B5EF4-FFF2-40B4-BE49-F238E27FC236}">
                <a16:creationId xmlns:a16="http://schemas.microsoft.com/office/drawing/2014/main" id="{E7AA2100-4C7B-267D-DAB7-091CD0526343}"/>
              </a:ext>
            </a:extLst>
          </p:cNvPr>
          <p:cNvSpPr>
            <a:spLocks noGrp="1"/>
          </p:cNvSpPr>
          <p:nvPr>
            <p:ph idx="1"/>
          </p:nvPr>
        </p:nvSpPr>
        <p:spPr>
          <a:xfrm>
            <a:off x="1115567" y="1728215"/>
            <a:ext cx="10633087" cy="5226767"/>
          </a:xfrm>
        </p:spPr>
        <p:txBody>
          <a:bodyPr>
            <a:normAutofit fontScale="92500" lnSpcReduction="20000"/>
          </a:bodyPr>
          <a:lstStyle/>
          <a:p>
            <a:r>
              <a:rPr lang="en-US" dirty="0"/>
              <a:t>OMA-DM solved device management for smartphones — but smartphones have processors, memory, and always-on power. IoT devices do not.</a:t>
            </a:r>
          </a:p>
          <a:p>
            <a:r>
              <a:rPr lang="en-US" dirty="0"/>
              <a:t>LwM2M is OMA's IoT-native answer: same problem domain (remote device management, configuration, firmware update), redesigned from scratch for constrained devices.</a:t>
            </a:r>
          </a:p>
          <a:p>
            <a:r>
              <a:rPr lang="en-US" dirty="0"/>
              <a:t>Runs over CoAP + DTLS over UDP — the same stack we just learned. This is not a coincidence: CoAP's binary encoding and UDP's low overhead are what makes LwM2M viable on a microcontroller.</a:t>
            </a:r>
          </a:p>
          <a:p>
            <a:r>
              <a:rPr lang="en-US" dirty="0"/>
              <a:t>Current version (actively maintained): LwM2M 1.2 (2023). </a:t>
            </a:r>
          </a:p>
          <a:p>
            <a:r>
              <a:rPr lang="en-US" dirty="0"/>
              <a:t>Notice, LwM2M is not a replacement for MQTT or CoAP — it sits on top of CoAP. MQTT/CoAP to manage the IoT devices, or their edges</a:t>
            </a:r>
          </a:p>
        </p:txBody>
      </p:sp>
    </p:spTree>
    <p:extLst>
      <p:ext uri="{BB962C8B-B14F-4D97-AF65-F5344CB8AC3E}">
        <p14:creationId xmlns:p14="http://schemas.microsoft.com/office/powerpoint/2010/main" val="2301263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BFAB7-E231-A26A-87B4-5F32BDE4A7DB}"/>
              </a:ext>
            </a:extLst>
          </p:cNvPr>
          <p:cNvSpPr>
            <a:spLocks noGrp="1"/>
          </p:cNvSpPr>
          <p:nvPr>
            <p:ph type="title"/>
          </p:nvPr>
        </p:nvSpPr>
        <p:spPr/>
        <p:txBody>
          <a:bodyPr>
            <a:normAutofit fontScale="90000"/>
          </a:bodyPr>
          <a:lstStyle/>
          <a:p>
            <a:r>
              <a:rPr lang="en-US" dirty="0"/>
              <a:t>How </a:t>
            </a:r>
            <a:r>
              <a:rPr lang="en-US" b="1" dirty="0"/>
              <a:t>LwM2M</a:t>
            </a:r>
            <a:r>
              <a:rPr lang="en-US" dirty="0"/>
              <a:t> structures device information</a:t>
            </a:r>
          </a:p>
        </p:txBody>
      </p:sp>
      <p:sp>
        <p:nvSpPr>
          <p:cNvPr id="3" name="Content Placeholder 2">
            <a:extLst>
              <a:ext uri="{FF2B5EF4-FFF2-40B4-BE49-F238E27FC236}">
                <a16:creationId xmlns:a16="http://schemas.microsoft.com/office/drawing/2014/main" id="{A4E67AB8-C369-EDBA-4A5D-AEF870A5BE14}"/>
              </a:ext>
            </a:extLst>
          </p:cNvPr>
          <p:cNvSpPr>
            <a:spLocks noGrp="1"/>
          </p:cNvSpPr>
          <p:nvPr>
            <p:ph idx="1"/>
          </p:nvPr>
        </p:nvSpPr>
        <p:spPr>
          <a:xfrm>
            <a:off x="998082" y="1994361"/>
            <a:ext cx="4841887" cy="4529051"/>
          </a:xfrm>
          <a:solidFill>
            <a:schemeClr val="bg2"/>
          </a:solidFill>
          <a:ln>
            <a:solidFill>
              <a:schemeClr val="tx1"/>
            </a:solidFill>
          </a:ln>
        </p:spPr>
        <p:txBody>
          <a:bodyPr>
            <a:normAutofit fontScale="85000" lnSpcReduction="20000"/>
          </a:bodyPr>
          <a:lstStyle/>
          <a:p>
            <a:r>
              <a:rPr lang="en-US" dirty="0"/>
              <a:t>The entire state of a device is expressed as a tree of numbered </a:t>
            </a:r>
            <a:r>
              <a:rPr lang="en-US" b="1" dirty="0"/>
              <a:t>Objects</a:t>
            </a:r>
            <a:r>
              <a:rPr lang="en-US" dirty="0"/>
              <a:t>, each containing numbered </a:t>
            </a:r>
            <a:r>
              <a:rPr lang="en-US" b="1" dirty="0"/>
              <a:t>Resources</a:t>
            </a:r>
            <a:r>
              <a:rPr lang="en-US" dirty="0"/>
              <a:t>. This is the spiritual successor to the OMA-DM Tree — but binary and compact instead of XML.</a:t>
            </a:r>
          </a:p>
          <a:p>
            <a:r>
              <a:rPr lang="en-US" dirty="0"/>
              <a:t>Every object has </a:t>
            </a:r>
            <a:r>
              <a:rPr lang="en-US"/>
              <a:t>a standardized </a:t>
            </a:r>
            <a:r>
              <a:rPr lang="en-US" dirty="0"/>
              <a:t>ID registered with OMNA (OMA's registry). Key ones are shown in the table. </a:t>
            </a:r>
          </a:p>
          <a:p>
            <a:endParaRPr lang="en-US" dirty="0"/>
          </a:p>
        </p:txBody>
      </p:sp>
      <p:graphicFrame>
        <p:nvGraphicFramePr>
          <p:cNvPr id="4" name="Table 3">
            <a:extLst>
              <a:ext uri="{FF2B5EF4-FFF2-40B4-BE49-F238E27FC236}">
                <a16:creationId xmlns:a16="http://schemas.microsoft.com/office/drawing/2014/main" id="{4928BAD9-751B-3DAB-395A-8469245FF973}"/>
              </a:ext>
            </a:extLst>
          </p:cNvPr>
          <p:cNvGraphicFramePr>
            <a:graphicFrameLocks noGrp="1"/>
          </p:cNvGraphicFramePr>
          <p:nvPr>
            <p:extLst>
              <p:ext uri="{D42A27DB-BD31-4B8C-83A1-F6EECF244321}">
                <p14:modId xmlns:p14="http://schemas.microsoft.com/office/powerpoint/2010/main" val="567089708"/>
              </p:ext>
            </p:extLst>
          </p:nvPr>
        </p:nvGraphicFramePr>
        <p:xfrm>
          <a:off x="6352032" y="2445327"/>
          <a:ext cx="5257800" cy="3627120"/>
        </p:xfrm>
        <a:graphic>
          <a:graphicData uri="http://schemas.openxmlformats.org/drawingml/2006/table">
            <a:tbl>
              <a:tblPr>
                <a:tableStyleId>{5940675A-B579-460E-94D1-54222C63F5DA}</a:tableStyleId>
              </a:tblPr>
              <a:tblGrid>
                <a:gridCol w="1101713">
                  <a:extLst>
                    <a:ext uri="{9D8B030D-6E8A-4147-A177-3AD203B41FA5}">
                      <a16:colId xmlns:a16="http://schemas.microsoft.com/office/drawing/2014/main" val="3947505037"/>
                    </a:ext>
                  </a:extLst>
                </a:gridCol>
                <a:gridCol w="1634837">
                  <a:extLst>
                    <a:ext uri="{9D8B030D-6E8A-4147-A177-3AD203B41FA5}">
                      <a16:colId xmlns:a16="http://schemas.microsoft.com/office/drawing/2014/main" val="3520130633"/>
                    </a:ext>
                  </a:extLst>
                </a:gridCol>
                <a:gridCol w="2521250">
                  <a:extLst>
                    <a:ext uri="{9D8B030D-6E8A-4147-A177-3AD203B41FA5}">
                      <a16:colId xmlns:a16="http://schemas.microsoft.com/office/drawing/2014/main" val="1757255128"/>
                    </a:ext>
                  </a:extLst>
                </a:gridCol>
              </a:tblGrid>
              <a:tr h="0">
                <a:tc>
                  <a:txBody>
                    <a:bodyPr/>
                    <a:lstStyle/>
                    <a:p>
                      <a:pPr>
                        <a:buNone/>
                      </a:pPr>
                      <a:r>
                        <a:rPr lang="en-US" sz="1400" b="1" dirty="0"/>
                        <a:t>Object ID</a:t>
                      </a:r>
                    </a:p>
                  </a:txBody>
                  <a:tcPr anchor="ctr"/>
                </a:tc>
                <a:tc>
                  <a:txBody>
                    <a:bodyPr/>
                    <a:lstStyle/>
                    <a:p>
                      <a:pPr>
                        <a:buNone/>
                      </a:pPr>
                      <a:r>
                        <a:rPr lang="en-US" sz="1400" b="1" dirty="0"/>
                        <a:t>Name</a:t>
                      </a:r>
                    </a:p>
                  </a:txBody>
                  <a:tcPr anchor="ctr"/>
                </a:tc>
                <a:tc>
                  <a:txBody>
                    <a:bodyPr/>
                    <a:lstStyle/>
                    <a:p>
                      <a:pPr>
                        <a:buNone/>
                      </a:pPr>
                      <a:r>
                        <a:rPr lang="en-US" sz="1400" b="1" dirty="0"/>
                        <a:t>What it does</a:t>
                      </a:r>
                    </a:p>
                  </a:txBody>
                  <a:tcPr anchor="ctr"/>
                </a:tc>
                <a:extLst>
                  <a:ext uri="{0D108BD9-81ED-4DB2-BD59-A6C34878D82A}">
                    <a16:rowId xmlns:a16="http://schemas.microsoft.com/office/drawing/2014/main" val="779641918"/>
                  </a:ext>
                </a:extLst>
              </a:tr>
              <a:tr h="0">
                <a:tc>
                  <a:txBody>
                    <a:bodyPr/>
                    <a:lstStyle/>
                    <a:p>
                      <a:pPr>
                        <a:buNone/>
                      </a:pPr>
                      <a:r>
                        <a:rPr lang="en-US" sz="1400"/>
                        <a:t>/1</a:t>
                      </a:r>
                    </a:p>
                  </a:txBody>
                  <a:tcPr anchor="ctr"/>
                </a:tc>
                <a:tc>
                  <a:txBody>
                    <a:bodyPr/>
                    <a:lstStyle/>
                    <a:p>
                      <a:pPr>
                        <a:buNone/>
                      </a:pPr>
                      <a:r>
                        <a:rPr lang="en-US" sz="1400"/>
                        <a:t>LwM2M Server</a:t>
                      </a:r>
                    </a:p>
                  </a:txBody>
                  <a:tcPr anchor="ctr"/>
                </a:tc>
                <a:tc>
                  <a:txBody>
                    <a:bodyPr/>
                    <a:lstStyle/>
                    <a:p>
                      <a:pPr>
                        <a:buNone/>
                      </a:pPr>
                      <a:r>
                        <a:rPr lang="en-US" sz="1400"/>
                        <a:t>Broker address, lifetime, binding mode</a:t>
                      </a:r>
                    </a:p>
                  </a:txBody>
                  <a:tcPr anchor="ctr"/>
                </a:tc>
                <a:extLst>
                  <a:ext uri="{0D108BD9-81ED-4DB2-BD59-A6C34878D82A}">
                    <a16:rowId xmlns:a16="http://schemas.microsoft.com/office/drawing/2014/main" val="393632798"/>
                  </a:ext>
                </a:extLst>
              </a:tr>
              <a:tr h="0">
                <a:tc>
                  <a:txBody>
                    <a:bodyPr/>
                    <a:lstStyle/>
                    <a:p>
                      <a:pPr>
                        <a:buNone/>
                      </a:pPr>
                      <a:r>
                        <a:rPr lang="en-US" sz="1400" dirty="0"/>
                        <a:t>/3</a:t>
                      </a:r>
                    </a:p>
                  </a:txBody>
                  <a:tcPr anchor="ctr"/>
                </a:tc>
                <a:tc>
                  <a:txBody>
                    <a:bodyPr/>
                    <a:lstStyle/>
                    <a:p>
                      <a:pPr>
                        <a:buNone/>
                      </a:pPr>
                      <a:r>
                        <a:rPr lang="en-US" sz="1400"/>
                        <a:t>Device</a:t>
                      </a:r>
                    </a:p>
                  </a:txBody>
                  <a:tcPr anchor="ctr"/>
                </a:tc>
                <a:tc>
                  <a:txBody>
                    <a:bodyPr/>
                    <a:lstStyle/>
                    <a:p>
                      <a:pPr>
                        <a:buNone/>
                      </a:pPr>
                      <a:r>
                        <a:rPr lang="en-US" sz="1400" dirty="0"/>
                        <a:t>Manufacturer, model, serial number, reboot</a:t>
                      </a:r>
                    </a:p>
                  </a:txBody>
                  <a:tcPr anchor="ctr"/>
                </a:tc>
                <a:extLst>
                  <a:ext uri="{0D108BD9-81ED-4DB2-BD59-A6C34878D82A}">
                    <a16:rowId xmlns:a16="http://schemas.microsoft.com/office/drawing/2014/main" val="556117612"/>
                  </a:ext>
                </a:extLst>
              </a:tr>
              <a:tr h="0">
                <a:tc>
                  <a:txBody>
                    <a:bodyPr/>
                    <a:lstStyle/>
                    <a:p>
                      <a:pPr>
                        <a:buNone/>
                      </a:pPr>
                      <a:r>
                        <a:rPr lang="en-US" sz="1400"/>
                        <a:t>/4</a:t>
                      </a:r>
                    </a:p>
                  </a:txBody>
                  <a:tcPr anchor="ctr"/>
                </a:tc>
                <a:tc>
                  <a:txBody>
                    <a:bodyPr/>
                    <a:lstStyle/>
                    <a:p>
                      <a:pPr>
                        <a:buNone/>
                      </a:pPr>
                      <a:r>
                        <a:rPr lang="en-US" sz="1400"/>
                        <a:t>Connectivity Monitoring</a:t>
                      </a:r>
                    </a:p>
                  </a:txBody>
                  <a:tcPr anchor="ctr"/>
                </a:tc>
                <a:tc>
                  <a:txBody>
                    <a:bodyPr/>
                    <a:lstStyle/>
                    <a:p>
                      <a:pPr>
                        <a:buNone/>
                      </a:pPr>
                      <a:r>
                        <a:rPr lang="en-US" sz="1400"/>
                        <a:t>Signal strength, IP address, network bearer</a:t>
                      </a:r>
                    </a:p>
                  </a:txBody>
                  <a:tcPr anchor="ctr"/>
                </a:tc>
                <a:extLst>
                  <a:ext uri="{0D108BD9-81ED-4DB2-BD59-A6C34878D82A}">
                    <a16:rowId xmlns:a16="http://schemas.microsoft.com/office/drawing/2014/main" val="4148540725"/>
                  </a:ext>
                </a:extLst>
              </a:tr>
              <a:tr h="0">
                <a:tc>
                  <a:txBody>
                    <a:bodyPr/>
                    <a:lstStyle/>
                    <a:p>
                      <a:pPr>
                        <a:buNone/>
                      </a:pPr>
                      <a:r>
                        <a:rPr lang="en-US" sz="1400"/>
                        <a:t>/5</a:t>
                      </a:r>
                    </a:p>
                  </a:txBody>
                  <a:tcPr anchor="ctr"/>
                </a:tc>
                <a:tc>
                  <a:txBody>
                    <a:bodyPr/>
                    <a:lstStyle/>
                    <a:p>
                      <a:pPr>
                        <a:buNone/>
                      </a:pPr>
                      <a:r>
                        <a:rPr lang="en-US" sz="1400"/>
                        <a:t>Firmware Update</a:t>
                      </a:r>
                    </a:p>
                  </a:txBody>
                  <a:tcPr anchor="ctr"/>
                </a:tc>
                <a:tc>
                  <a:txBody>
                    <a:bodyPr/>
                    <a:lstStyle/>
                    <a:p>
                      <a:pPr>
                        <a:buNone/>
                      </a:pPr>
                      <a:r>
                        <a:rPr lang="en-US" sz="1400"/>
                        <a:t>The OTA object — download URI, update trigger, state machine</a:t>
                      </a:r>
                    </a:p>
                  </a:txBody>
                  <a:tcPr anchor="ctr"/>
                </a:tc>
                <a:extLst>
                  <a:ext uri="{0D108BD9-81ED-4DB2-BD59-A6C34878D82A}">
                    <a16:rowId xmlns:a16="http://schemas.microsoft.com/office/drawing/2014/main" val="3975859362"/>
                  </a:ext>
                </a:extLst>
              </a:tr>
              <a:tr h="0">
                <a:tc>
                  <a:txBody>
                    <a:bodyPr/>
                    <a:lstStyle/>
                    <a:p>
                      <a:pPr>
                        <a:buNone/>
                      </a:pPr>
                      <a:r>
                        <a:rPr lang="en-US" sz="1400"/>
                        <a:t>/6</a:t>
                      </a:r>
                    </a:p>
                  </a:txBody>
                  <a:tcPr anchor="ctr"/>
                </a:tc>
                <a:tc>
                  <a:txBody>
                    <a:bodyPr/>
                    <a:lstStyle/>
                    <a:p>
                      <a:pPr>
                        <a:buNone/>
                      </a:pPr>
                      <a:r>
                        <a:rPr lang="en-US" sz="1400"/>
                        <a:t>Location</a:t>
                      </a:r>
                    </a:p>
                  </a:txBody>
                  <a:tcPr anchor="ctr"/>
                </a:tc>
                <a:tc>
                  <a:txBody>
                    <a:bodyPr/>
                    <a:lstStyle/>
                    <a:p>
                      <a:pPr>
                        <a:buNone/>
                      </a:pPr>
                      <a:r>
                        <a:rPr lang="en-US" sz="1400"/>
                        <a:t>GPS latitude, longitude, altitude</a:t>
                      </a:r>
                    </a:p>
                  </a:txBody>
                  <a:tcPr anchor="ctr"/>
                </a:tc>
                <a:extLst>
                  <a:ext uri="{0D108BD9-81ED-4DB2-BD59-A6C34878D82A}">
                    <a16:rowId xmlns:a16="http://schemas.microsoft.com/office/drawing/2014/main" val="2825371842"/>
                  </a:ext>
                </a:extLst>
              </a:tr>
              <a:tr h="397626">
                <a:tc>
                  <a:txBody>
                    <a:bodyPr/>
                    <a:lstStyle/>
                    <a:p>
                      <a:pPr>
                        <a:buNone/>
                      </a:pPr>
                      <a:r>
                        <a:rPr lang="en-US" sz="1400" dirty="0"/>
                        <a:t>/3303</a:t>
                      </a:r>
                    </a:p>
                  </a:txBody>
                  <a:tcPr anchor="ctr"/>
                </a:tc>
                <a:tc>
                  <a:txBody>
                    <a:bodyPr/>
                    <a:lstStyle/>
                    <a:p>
                      <a:pPr>
                        <a:buNone/>
                      </a:pPr>
                      <a:r>
                        <a:rPr lang="en-US" sz="1400"/>
                        <a:t>Temperature</a:t>
                      </a:r>
                    </a:p>
                  </a:txBody>
                  <a:tcPr anchor="ctr"/>
                </a:tc>
                <a:tc>
                  <a:txBody>
                    <a:bodyPr/>
                    <a:lstStyle/>
                    <a:p>
                      <a:pPr>
                        <a:buNone/>
                      </a:pPr>
                      <a:r>
                        <a:rPr lang="en-US" sz="1400" dirty="0"/>
                        <a:t>Sensor value, units, min/max measured</a:t>
                      </a:r>
                    </a:p>
                  </a:txBody>
                  <a:tcPr anchor="ctr"/>
                </a:tc>
                <a:extLst>
                  <a:ext uri="{0D108BD9-81ED-4DB2-BD59-A6C34878D82A}">
                    <a16:rowId xmlns:a16="http://schemas.microsoft.com/office/drawing/2014/main" val="1922389432"/>
                  </a:ext>
                </a:extLst>
              </a:tr>
            </a:tbl>
          </a:graphicData>
        </a:graphic>
      </p:graphicFrame>
    </p:spTree>
    <p:extLst>
      <p:ext uri="{BB962C8B-B14F-4D97-AF65-F5344CB8AC3E}">
        <p14:creationId xmlns:p14="http://schemas.microsoft.com/office/powerpoint/2010/main" val="5120742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61B4-A105-5DCD-EE38-34C78EEE5C61}"/>
              </a:ext>
            </a:extLst>
          </p:cNvPr>
          <p:cNvSpPr>
            <a:spLocks noGrp="1"/>
          </p:cNvSpPr>
          <p:nvPr>
            <p:ph type="title"/>
          </p:nvPr>
        </p:nvSpPr>
        <p:spPr/>
        <p:txBody>
          <a:bodyPr>
            <a:normAutofit fontScale="90000"/>
          </a:bodyPr>
          <a:lstStyle/>
          <a:p>
            <a:r>
              <a:rPr lang="en-US" b="1" dirty="0"/>
              <a:t>Example</a:t>
            </a:r>
            <a:r>
              <a:rPr lang="en-US" dirty="0"/>
              <a:t>: Reading a device's serial number</a:t>
            </a:r>
          </a:p>
        </p:txBody>
      </p:sp>
      <p:sp>
        <p:nvSpPr>
          <p:cNvPr id="5" name="TextBox 4">
            <a:extLst>
              <a:ext uri="{FF2B5EF4-FFF2-40B4-BE49-F238E27FC236}">
                <a16:creationId xmlns:a16="http://schemas.microsoft.com/office/drawing/2014/main" id="{A4AD02C1-4870-5401-BEAA-48C4D1B26232}"/>
              </a:ext>
            </a:extLst>
          </p:cNvPr>
          <p:cNvSpPr txBox="1"/>
          <p:nvPr/>
        </p:nvSpPr>
        <p:spPr>
          <a:xfrm>
            <a:off x="1925780" y="3278787"/>
            <a:ext cx="8035637" cy="1200329"/>
          </a:xfrm>
          <a:prstGeom prst="rect">
            <a:avLst/>
          </a:prstGeom>
          <a:solidFill>
            <a:schemeClr val="accent6">
              <a:lumMod val="20000"/>
              <a:lumOff val="80000"/>
            </a:schemeClr>
          </a:solidFill>
          <a:ln>
            <a:solidFill>
              <a:schemeClr val="tx2"/>
            </a:solidFill>
          </a:ln>
        </p:spPr>
        <p:txBody>
          <a:bodyPr wrap="square">
            <a:spAutoFit/>
          </a:bodyPr>
          <a:lstStyle/>
          <a:p>
            <a:r>
              <a:rPr lang="en-US" b="1" dirty="0" err="1"/>
              <a:t>coap</a:t>
            </a:r>
            <a:r>
              <a:rPr lang="en-US" b="1" dirty="0"/>
              <a:t>://</a:t>
            </a:r>
            <a:r>
              <a:rPr lang="en-US" b="1" dirty="0" err="1"/>
              <a:t>device.example.com</a:t>
            </a:r>
            <a:r>
              <a:rPr lang="en-US" b="1" dirty="0"/>
              <a:t>/3/0/2</a:t>
            </a:r>
          </a:p>
          <a:p>
            <a:r>
              <a:rPr lang="en-US" dirty="0"/>
              <a:t>         			        └── Object 3 (Device)</a:t>
            </a:r>
          </a:p>
          <a:p>
            <a:r>
              <a:rPr lang="en-US" dirty="0"/>
              <a:t>                		            └── Instance 0</a:t>
            </a:r>
          </a:p>
          <a:p>
            <a:r>
              <a:rPr lang="en-US" dirty="0"/>
              <a:t>                      		                 └── Resource 2 (Serial Number)</a:t>
            </a:r>
          </a:p>
        </p:txBody>
      </p:sp>
      <p:sp>
        <p:nvSpPr>
          <p:cNvPr id="6" name="TextBox 5">
            <a:extLst>
              <a:ext uri="{FF2B5EF4-FFF2-40B4-BE49-F238E27FC236}">
                <a16:creationId xmlns:a16="http://schemas.microsoft.com/office/drawing/2014/main" id="{728AD0BD-C365-FFA4-8A29-A374C43C97CC}"/>
              </a:ext>
            </a:extLst>
          </p:cNvPr>
          <p:cNvSpPr txBox="1"/>
          <p:nvPr/>
        </p:nvSpPr>
        <p:spPr>
          <a:xfrm>
            <a:off x="1925781" y="2909455"/>
            <a:ext cx="7052252" cy="369332"/>
          </a:xfrm>
          <a:prstGeom prst="rect">
            <a:avLst/>
          </a:prstGeom>
          <a:noFill/>
        </p:spPr>
        <p:txBody>
          <a:bodyPr wrap="none" rtlCol="0">
            <a:spAutoFit/>
          </a:bodyPr>
          <a:lstStyle/>
          <a:p>
            <a:r>
              <a:rPr lang="en-US" dirty="0"/>
              <a:t>To read a device's serial number, the server issues a CoAP GET to:</a:t>
            </a:r>
          </a:p>
        </p:txBody>
      </p:sp>
    </p:spTree>
    <p:extLst>
      <p:ext uri="{BB962C8B-B14F-4D97-AF65-F5344CB8AC3E}">
        <p14:creationId xmlns:p14="http://schemas.microsoft.com/office/powerpoint/2010/main" val="16435667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6D245-B273-5F6B-3DA5-1575DA3F5066}"/>
              </a:ext>
            </a:extLst>
          </p:cNvPr>
          <p:cNvSpPr>
            <a:spLocks noGrp="1"/>
          </p:cNvSpPr>
          <p:nvPr>
            <p:ph type="title"/>
          </p:nvPr>
        </p:nvSpPr>
        <p:spPr/>
        <p:txBody>
          <a:bodyPr/>
          <a:lstStyle/>
          <a:p>
            <a:r>
              <a:rPr lang="en-US" dirty="0"/>
              <a:t>OTA firmware update: the /5 state machine</a:t>
            </a:r>
          </a:p>
        </p:txBody>
      </p:sp>
      <p:sp>
        <p:nvSpPr>
          <p:cNvPr id="3" name="Content Placeholder 2">
            <a:extLst>
              <a:ext uri="{FF2B5EF4-FFF2-40B4-BE49-F238E27FC236}">
                <a16:creationId xmlns:a16="http://schemas.microsoft.com/office/drawing/2014/main" id="{3E9E1A98-E8DD-0415-7912-A2EA5F51930D}"/>
              </a:ext>
            </a:extLst>
          </p:cNvPr>
          <p:cNvSpPr>
            <a:spLocks noGrp="1"/>
          </p:cNvSpPr>
          <p:nvPr>
            <p:ph idx="1"/>
          </p:nvPr>
        </p:nvSpPr>
        <p:spPr/>
        <p:txBody>
          <a:bodyPr>
            <a:normAutofit fontScale="62500" lnSpcReduction="20000"/>
          </a:bodyPr>
          <a:lstStyle/>
          <a:p>
            <a:pPr marL="0" indent="0">
              <a:buNone/>
            </a:pPr>
            <a:r>
              <a:rPr lang="en-US" dirty="0"/>
              <a:t>The Firmware Update Object </a:t>
            </a:r>
            <a:r>
              <a:rPr lang="en-US" b="1" dirty="0"/>
              <a:t>(/5</a:t>
            </a:r>
            <a:r>
              <a:rPr lang="en-US" dirty="0"/>
              <a:t>) defines a standardized four-step state machine.</a:t>
            </a:r>
          </a:p>
          <a:p>
            <a:pPr marL="514350" lvl="0" indent="-514350">
              <a:buFont typeface="+mj-lt"/>
              <a:buAutoNum type="arabicPeriod"/>
            </a:pPr>
            <a:r>
              <a:rPr lang="en-US" b="1" dirty="0"/>
              <a:t>Server writes firmware URI</a:t>
            </a:r>
            <a:r>
              <a:rPr lang="en-US" dirty="0"/>
              <a:t> to Resource /5/0/1 — the device fetches the binary via CoAP block transfer (or HTTPS pull). </a:t>
            </a:r>
          </a:p>
          <a:p>
            <a:pPr marL="514350" lvl="0" indent="-514350">
              <a:buFont typeface="+mj-lt"/>
              <a:buAutoNum type="arabicPeriod"/>
            </a:pPr>
            <a:r>
              <a:rPr lang="en-US" b="1" dirty="0"/>
              <a:t>Device reports state = Downloaded</a:t>
            </a:r>
            <a:r>
              <a:rPr lang="en-US" dirty="0"/>
              <a:t> and validates integrity (hash check). If it fails, state returns to Idle with an error code. </a:t>
            </a:r>
          </a:p>
          <a:p>
            <a:pPr marL="514350" lvl="0" indent="-514350">
              <a:buFont typeface="+mj-lt"/>
              <a:buAutoNum type="arabicPeriod"/>
            </a:pPr>
            <a:r>
              <a:rPr lang="en-US" b="1" dirty="0"/>
              <a:t>Server executes</a:t>
            </a:r>
            <a:r>
              <a:rPr lang="en-US" dirty="0"/>
              <a:t> Resource /5/0/2 (</a:t>
            </a:r>
            <a:r>
              <a:rPr lang="en-US" b="1" dirty="0"/>
              <a:t>Update trigger</a:t>
            </a:r>
            <a:r>
              <a:rPr lang="en-US" dirty="0"/>
              <a:t>) — the device writes the new firmware to flash and reboots. </a:t>
            </a:r>
          </a:p>
          <a:p>
            <a:pPr marL="514350" lvl="0" indent="-514350">
              <a:buFont typeface="+mj-lt"/>
              <a:buAutoNum type="arabicPeriod"/>
            </a:pPr>
            <a:r>
              <a:rPr lang="en-US" b="1" dirty="0"/>
              <a:t>Device reports result</a:t>
            </a:r>
            <a:r>
              <a:rPr lang="en-US" dirty="0"/>
              <a:t> on reconnect: 1 = success, 2 = insufficient flash, 3 = out of RAM, 4 = connection lost, 5 = CRC failure, 6 = unsupported package type, 7 = invalid URI. Server can rollback if needed.</a:t>
            </a:r>
          </a:p>
          <a:p>
            <a:pPr marL="0" lvl="0" indent="0">
              <a:buNone/>
            </a:pPr>
            <a:r>
              <a:rPr lang="en-US" dirty="0">
                <a:solidFill>
                  <a:srgbClr val="C00000"/>
                </a:solidFill>
              </a:rPr>
              <a:t>What happens if power is lost mid-flash? How should a well-designed IoT bootloader handle this — and what role does LwM2M's state machine play in recovery?</a:t>
            </a:r>
          </a:p>
          <a:p>
            <a:pPr marL="457200" lvl="1" indent="0">
              <a:buNone/>
            </a:pPr>
            <a:endParaRPr lang="en-US" dirty="0"/>
          </a:p>
        </p:txBody>
      </p:sp>
    </p:spTree>
    <p:extLst>
      <p:ext uri="{BB962C8B-B14F-4D97-AF65-F5344CB8AC3E}">
        <p14:creationId xmlns:p14="http://schemas.microsoft.com/office/powerpoint/2010/main" val="647409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ccentBoxVTI">
  <a:themeElements>
    <a:clrScheme name="AnalogousFromDarkSeedLeftStep">
      <a:dk1>
        <a:srgbClr val="000000"/>
      </a:dk1>
      <a:lt1>
        <a:srgbClr val="FFFFFF"/>
      </a:lt1>
      <a:dk2>
        <a:srgbClr val="242541"/>
      </a:dk2>
      <a:lt2>
        <a:srgbClr val="E2E8E3"/>
      </a:lt2>
      <a:accent1>
        <a:srgbClr val="E729BA"/>
      </a:accent1>
      <a:accent2>
        <a:srgbClr val="B217D5"/>
      </a:accent2>
      <a:accent3>
        <a:srgbClr val="7529E7"/>
      </a:accent3>
      <a:accent4>
        <a:srgbClr val="393CDB"/>
      </a:accent4>
      <a:accent5>
        <a:srgbClr val="297BE7"/>
      </a:accent5>
      <a:accent6>
        <a:srgbClr val="16B3CE"/>
      </a:accent6>
      <a:hlink>
        <a:srgbClr val="4E6EC4"/>
      </a:hlink>
      <a:folHlink>
        <a:srgbClr val="7F7F7F"/>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8995</TotalTime>
  <Words>3721</Words>
  <Application>Microsoft Macintosh PowerPoint</Application>
  <PresentationFormat>Widescreen</PresentationFormat>
  <Paragraphs>361</Paragraphs>
  <Slides>45</Slides>
  <Notes>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45</vt:i4>
      </vt:variant>
    </vt:vector>
  </HeadingPairs>
  <TitlesOfParts>
    <vt:vector size="57" baseType="lpstr">
      <vt:lpstr>MS PGothic</vt:lpstr>
      <vt:lpstr>MS PGothic</vt:lpstr>
      <vt:lpstr>SourceSans</vt:lpstr>
      <vt:lpstr>Aptos</vt:lpstr>
      <vt:lpstr>Arial</vt:lpstr>
      <vt:lpstr>Avenir Next LT Pro</vt:lpstr>
      <vt:lpstr>Calibri</vt:lpstr>
      <vt:lpstr>Merriweather</vt:lpstr>
      <vt:lpstr>Perpetua</vt:lpstr>
      <vt:lpstr>Wingdings</vt:lpstr>
      <vt:lpstr>Wingdings 2</vt:lpstr>
      <vt:lpstr>AccentBoxVTI</vt:lpstr>
      <vt:lpstr>Module 7.5  IoT Interaction Protocols Part I </vt:lpstr>
      <vt:lpstr>Lecture Overview</vt:lpstr>
      <vt:lpstr>The Value of any Network</vt:lpstr>
      <vt:lpstr>The Value of an IoT</vt:lpstr>
      <vt:lpstr>IoT Meaningful Interactions</vt:lpstr>
      <vt:lpstr>RESTful Representational State Transfer</vt:lpstr>
      <vt:lpstr>REpresentational State Transfer*</vt:lpstr>
      <vt:lpstr>REpresentational State Transfer</vt:lpstr>
      <vt:lpstr>A Simple Web Service as an Example</vt:lpstr>
      <vt:lpstr>REST Request/Response</vt:lpstr>
      <vt:lpstr>RESTful IoT</vt:lpstr>
      <vt:lpstr>RESTful IoT</vt:lpstr>
      <vt:lpstr>CoAP Constrained Application Protocol</vt:lpstr>
      <vt:lpstr>Constrained Application Protocol</vt:lpstr>
      <vt:lpstr>Constrained Application Protocol</vt:lpstr>
      <vt:lpstr>End-to-End REST Operation in CoAP</vt:lpstr>
      <vt:lpstr>More Features of the CoAP Protocol</vt:lpstr>
      <vt:lpstr>MQTT Message Queuing Telemetry Transport</vt:lpstr>
      <vt:lpstr>Message Queuing Telemetry  Transport (MQTT)</vt:lpstr>
      <vt:lpstr>MQTT - Message Queuing Telemetry Transport </vt:lpstr>
      <vt:lpstr>MQTT Topic Address Space</vt:lpstr>
      <vt:lpstr>A More Detailed Smart House Example</vt:lpstr>
      <vt:lpstr>PowerPoint Presentation</vt:lpstr>
      <vt:lpstr>Caching in MQTT</vt:lpstr>
      <vt:lpstr>MQTT Messaging Performance Advantage</vt:lpstr>
      <vt:lpstr>Simple Client Example MQTT is event-driven. Instead of polling for messages, the application registers callbacks that MQTT invokes when events occur.</vt:lpstr>
      <vt:lpstr>MQTT-SN Variant</vt:lpstr>
      <vt:lpstr>At a Glance Comparison</vt:lpstr>
      <vt:lpstr>Detailed Comparison!</vt:lpstr>
      <vt:lpstr>6LoWPAN IPv6 based Low Power Wireless Personal Area Network  </vt:lpstr>
      <vt:lpstr>IPv6 over Low-power Wireless Personal Area Networks</vt:lpstr>
      <vt:lpstr>But What is IEEE 802.15.4? </vt:lpstr>
      <vt:lpstr>6LoWPAN over Thread for Matter</vt:lpstr>
      <vt:lpstr>Technically, What does 6LoWPAN really do?</vt:lpstr>
      <vt:lpstr>Open Mobile Alliance Device Management (OMA) OMA-DM  LwM2M</vt:lpstr>
      <vt:lpstr>Role of Device Management</vt:lpstr>
      <vt:lpstr>(OMA-DM) </vt:lpstr>
      <vt:lpstr>(OMA-DM) </vt:lpstr>
      <vt:lpstr>(OMA-DM) </vt:lpstr>
      <vt:lpstr>OMA-DM Capabilities</vt:lpstr>
      <vt:lpstr>OMA-DM Capabilities, Cont’d</vt:lpstr>
      <vt:lpstr>LwM2M: Light Weight Machine To Machine</vt:lpstr>
      <vt:lpstr>How LwM2M structures device information</vt:lpstr>
      <vt:lpstr>Example: Reading a device's serial number</vt:lpstr>
      <vt:lpstr>OTA firmware update: the /5 state machine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From the Newton to the iPhone</dc:title>
  <dc:creator>Sumi Helal</dc:creator>
  <cp:lastModifiedBy>Helal, Sumi</cp:lastModifiedBy>
  <cp:revision>51</cp:revision>
  <dcterms:created xsi:type="dcterms:W3CDTF">2020-09-01T03:03:29Z</dcterms:created>
  <dcterms:modified xsi:type="dcterms:W3CDTF">2026-10-20T14:02:20Z</dcterms:modified>
</cp:coreProperties>
</file>