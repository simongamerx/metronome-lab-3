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19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7AB69-3D02-4B69-92C4-A8AA45E69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0B856-C741-4F94-AACB-E08703969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86E2B-C6DD-4B00-8BCD-B094B9DCAA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773FA-F38D-46A4-B9FF-CD23E27ABC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55243-60B3-4650-A7F9-711F23FFA7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5080-D22D-4BBE-A1A1-9B6F6BEE7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CE114-3DE4-46B5-9C14-B64391640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8204C-39FA-48BE-9434-908281F7A1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30EC5-A3A4-42FD-A364-FBE6CE8342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486F9-F30C-42CD-93CF-2838D6E64D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EDF6-179F-45BB-A21A-01950BD7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AE441-CDC3-45DC-8F7F-985732CB3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1014-444C-4F7A-9C0B-F5197A0626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FCCAE-C4F9-431E-9996-2FC434BC16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77324-0E98-4851-A856-31E882DC67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56E7-312B-4CD8-991E-65BE4A6A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A9210-C11C-4360-8B16-BC30F2203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EE77D-539E-4D85-A9DA-75D6FEB182C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BA6BD-FCD7-44C8-82C4-B8919E287D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292DA-BEF2-4F7D-8CE5-AB4F3323CB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2F455-4FF2-4D1F-84D3-01FA9A0E76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5EF9B-BD20-4B5C-8695-36178087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511ED-7D1E-4636-B516-5FB691541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569A0-9241-4133-9935-FB34DAA16FA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632C02-F15F-4AC7-B33B-8114CC8CB28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E9FAF-B11E-473B-8E3E-DEED250C7F9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CA60BE-FE17-4508-B6D8-64702A3962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CEDB42-AB92-4CC0-82F0-8E9D80DD43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E2E2F5-CCC5-4F3A-8FB4-364EC4B828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EB24F-DB18-49E5-B1A6-6E605B45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92592-7C24-40D1-B3A6-76D1986856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CB4853-17B2-4FF9-ADAE-586A9BEE1B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6B832-62AF-410C-817F-720D1DCC95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1CF11-EA7E-46BC-867E-13002ED276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EA7E29-1AC5-4CF6-B833-A43FC6F907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7233E-87A5-4261-A303-97223220CD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FEDF-6BC6-4424-B897-0B38C352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BB890-375C-4C3F-9857-91EC0CC97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CF312-9568-4259-B361-19CB2835FE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E8337-7A71-4DAA-BFC2-83B296EC40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0F877-9F20-4A12-AAA9-02E339900E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76CD9-FB4D-4884-97CF-A70593DB84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0768-73E5-45AA-9F74-19426982F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73DDED-B26A-48A6-AF95-1052B952C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43812-CA4B-40E1-B1B5-F9FA7A2C33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18C2F-CB13-4114-AD36-AF95E4F81C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BAEAC-C7A7-4899-B6B0-B8271822D0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B4FC6-21A4-4EFF-95BD-F74952B9B6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E3F9-540B-408F-9FFC-A94F59C3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9778C-F81D-4003-A4C0-01FD9AEDA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2834-E134-4714-89F8-FAE5D08B61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66CC4-5D18-42C4-AA8B-C0F4427F1C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02ED3-7FE1-496D-B901-04C7B97B8D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F05BEB-2EDE-4960-BDAE-3DE600BD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67705-3465-4976-819D-207670BA3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63526-9AA4-4AB6-B566-DF5F487EC5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6A97C-97E4-4A6D-BF46-E2CAB1D6A5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54A4-7896-4B27-90C2-160A367D1F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38D3C-9E7A-48CE-9507-2A128D54F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17D3C-196B-4B40-AC46-61B40CC80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818E-66A6-423B-AEA2-E767A6C96C0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10/22/26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9382C-48FC-4EF4-97B7-5125E1F8F1B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A26E0-85C6-438A-A5BC-7DF090536B2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D41B-64E4-47BB-903C-F0D5A9747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1143000"/>
          </a:xfrm>
        </p:spPr>
        <p:txBody>
          <a:bodyPr/>
          <a:lstStyle/>
          <a:p>
            <a:r>
              <a:t>Lab 3: MQTT Metronome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A6E73-A8B6-4534-90C3-3DCF61D3B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/>
          </a:p>
          <a:p>
            <a:pPr marL="0" indent="0" algn="ctr">
              <a:buNone/>
            </a:pPr>
            <a:endParaRPr/>
          </a:p>
          <a:p>
            <a:pPr marL="0" indent="0" algn="ctr">
              <a:buNone/>
            </a:pPr>
            <a:r>
              <a:t>Programming the Internet of Things</a:t>
            </a:r>
          </a:p>
          <a:p>
            <a:pPr marL="0" indent="0" algn="ctr">
              <a:buNone/>
            </a:pPr>
            <a:r>
              <a:t>Prof. Sumi Helal</a:t>
            </a:r>
          </a:p>
          <a:p>
            <a:pPr marL="0" indent="0" algn="ctr">
              <a:buNone/>
            </a:pPr>
            <a:r>
              <a:t>Fall 2026</a:t>
            </a:r>
          </a:p>
        </p:txBody>
      </p:sp>
      <p:sp>
        <p:nvSpPr>
          <p:cNvPr id="4" name="Assignment deadline">
            <a:extLst>
              <a:ext uri="{FF2B5EF4-FFF2-40B4-BE49-F238E27FC236}">
                <a16:creationId xmlns:a16="http://schemas.microsoft.com/office/drawing/2014/main" id="{8BA97B0C-CA1D-44B0-B1B3-9BCBD6B93525}"/>
              </a:ext>
            </a:extLst>
          </p:cNvPr>
          <p:cNvSpPr>
            <a:spLocks noGrp="1"/>
          </p:cNvSpPr>
          <p:nvPr/>
        </p:nvSpPr>
        <p:spPr>
          <a:xfrm>
            <a:off x="457200" y="4953000"/>
            <a:ext cx="8229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>
            <a:def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Deadline: 1 November 2026</a:t>
            </a:r>
          </a:p>
        </p:txBody>
      </p:sp>
    </p:spTree>
    <p:extLst>
      <p:ext uri="{BB962C8B-B14F-4D97-AF65-F5344CB8AC3E}">
        <p14:creationId xmlns:p14="http://schemas.microsoft.com/office/powerpoint/2010/main" val="13861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0B66-3F0B-48EE-8F9D-8F013F45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Lab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6D7D0-1AE1-439E-9D8E-510105020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device, different communication model</a:t>
            </a:r>
          </a:p>
          <a:p>
            <a:r>
              <a:t>From REST → Event-driven MQTT</a:t>
            </a:r>
          </a:p>
          <a:p>
            <a:r>
              <a:t>Real-world IoT architecture</a:t>
            </a:r>
          </a:p>
        </p:txBody>
      </p:sp>
    </p:spTree>
    <p:extLst>
      <p:ext uri="{BB962C8B-B14F-4D97-AF65-F5344CB8AC3E}">
        <p14:creationId xmlns:p14="http://schemas.microsoft.com/office/powerpoint/2010/main" val="93399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C44C-3941-4523-87D7-9BAC542C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vs MQTT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D9768-C110-447A-B111-317A1EBD8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REST: Request/Response, client-driven</a:t>
            </a:r>
          </a:p>
          <a:p>
            <a:r>
              <a:t>MQTT: Publish/Subscribe, event-driven</a:t>
            </a:r>
          </a:p>
          <a:p>
            <a:r>
              <a:t>MQTT enables decoupled systems</a:t>
            </a:r>
          </a:p>
        </p:txBody>
      </p:sp>
    </p:spTree>
    <p:extLst>
      <p:ext uri="{BB962C8B-B14F-4D97-AF65-F5344CB8AC3E}">
        <p14:creationId xmlns:p14="http://schemas.microsoft.com/office/powerpoint/2010/main" val="1888959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850C4-B06E-4901-91AB-24E4E93E6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4AE40-436C-4FD7-A162-B44287744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 (Raspberry Pi)</a:t>
            </a:r>
          </a:p>
          <a:p>
            <a:r>
              <a:t>MQTT Broker (Mosquitto)</a:t>
            </a:r>
          </a:p>
          <a:p>
            <a:r>
              <a:t>Controller + Monitor clients (the Dashboard)</a:t>
            </a:r>
          </a:p>
        </p:txBody>
      </p:sp>
    </p:spTree>
    <p:extLst>
      <p:ext uri="{BB962C8B-B14F-4D97-AF65-F5344CB8AC3E}">
        <p14:creationId xmlns:p14="http://schemas.microsoft.com/office/powerpoint/2010/main" val="624092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44A1-9A71-43D9-917D-A14DC6AC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MQTT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63A97-6307-4F81-AAEF-DA3012271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Broker routes messages</a:t>
            </a:r>
          </a:p>
          <a:p>
            <a:r>
              <a:t>Topics &amp; Topic Space organize communication</a:t>
            </a:r>
          </a:p>
          <a:p>
            <a:r>
              <a:t>Clients publish &amp; subscribe</a:t>
            </a:r>
          </a:p>
        </p:txBody>
      </p:sp>
    </p:spTree>
    <p:extLst>
      <p:ext uri="{BB962C8B-B14F-4D97-AF65-F5344CB8AC3E}">
        <p14:creationId xmlns:p14="http://schemas.microsoft.com/office/powerpoint/2010/main" val="128695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3A18-239C-4500-A6FB-252A45B0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Topic </a:t>
            </a:r>
            <a:r>
              <a:rPr lang="en-US" dirty="0"/>
              <a:t>Space </a:t>
            </a:r>
            <a:r>
              <a:rPr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11A80-91DA-4F89-887B-6E8DCACC5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4572000" cy="4267200"/>
          </a:xfrm>
        </p:spPr>
        <p:txBody>
          <a:bodyPr wrap="square" lIns="91440" tIns="45720" rIns="91440" bIns="45720">
            <a:noAutofit/>
          </a:bodyPr>
          <a:lstStyle>
            <a:defPPr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Design topics by separating intent: commands, state, events, and status</a:t>
            </a:r>
          </a:p>
          <a:p>
            <a:pPr marL="190500" indent="-127000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metronome/&lt;group&gt;/cmd/...</a:t>
            </a:r>
          </a:p>
          <a:p>
            <a:pPr marL="190500" indent="-127000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metronome/&lt;group&gt;/state/...</a:t>
            </a:r>
          </a:p>
          <a:p>
            <a:pPr marL="190500" indent="-127000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metronome/&lt;group&gt;/event/...</a:t>
            </a:r>
          </a:p>
          <a:p>
            <a:pPr marL="190500" indent="-127000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metronome/&lt;group&gt;/status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BFAD66-537D-4187-6C77-9D877E39A948}"/>
              </a:ext>
            </a:extLst>
          </p:cNvPr>
          <p:cNvSpPr>
            <a:spLocks noGrp="1"/>
          </p:cNvSpPr>
          <p:nvPr/>
        </p:nvSpPr>
        <p:spPr>
          <a:xfrm>
            <a:off x="5257800" y="1676400"/>
            <a:ext cx="3429000" cy="426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wrap="square" lIns="91440" tIns="45720" rIns="91440" bIns="45720" anchor="t">
            <a:noAutofit/>
          </a:bodyPr>
          <a:lstStyle>
            <a:defPPr algn="l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marL="342900" indent="-342900" algn="l" defTabSz="4572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4572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4572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4572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4572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4572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4572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4572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4572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metronome/&lt;group&gt;/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cmd/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 set_bpm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 set_mode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state/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 bpm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 mode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 min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 max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event/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    beat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status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B089EC-5856-3CCF-14EC-875FBB5C5D16}"/>
              </a:ext>
            </a:extLst>
          </p:cNvPr>
          <p:cNvSpPr>
            <a:spLocks noGrp="1"/>
          </p:cNvSpPr>
          <p:nvPr/>
        </p:nvSpPr>
        <p:spPr>
          <a:xfrm>
            <a:off x="457200" y="6134100"/>
            <a:ext cx="8148955" cy="3429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 algn="l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Topics are your API in MQTT—design them as carefully as you would design REST endpoints.</a:t>
            </a:r>
          </a:p>
        </p:txBody>
      </p:sp>
    </p:spTree>
    <p:extLst>
      <p:ext uri="{BB962C8B-B14F-4D97-AF65-F5344CB8AC3E}">
        <p14:creationId xmlns:p14="http://schemas.microsoft.com/office/powerpoint/2010/main" val="334424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8282-80CB-4166-AD39-B8D553F6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JSON Message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BAF01-A7EE-49BD-B63E-F6398E370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 "bpm": 120 }</a:t>
            </a:r>
          </a:p>
          <a:p>
            <a:r>
              <a:t>{ "mode": "play" }</a:t>
            </a:r>
          </a:p>
          <a:p>
            <a:r>
              <a:t>{ "reset": true }</a:t>
            </a:r>
          </a:p>
          <a:p>
            <a:r>
              <a:t>Always structured + consistent</a:t>
            </a:r>
          </a:p>
        </p:txBody>
      </p:sp>
    </p:spTree>
    <p:extLst>
      <p:ext uri="{BB962C8B-B14F-4D97-AF65-F5344CB8AC3E}">
        <p14:creationId xmlns:p14="http://schemas.microsoft.com/office/powerpoint/2010/main" val="1460551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16D3-2894-48CD-ACB1-A0470E6D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Broker Setup (Mosquitto)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71B1F-1119-4ED4-9D86-F449FCCA7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2100"/>
            <a:ext cx="8229600" cy="1009650"/>
          </a:xfrm>
        </p:spPr>
        <p:txBody>
          <a:bodyPr wrap="square" lIns="91440" tIns="45720" rIns="91440" bIns="45720" anchor="t">
            <a:noAutofit/>
          </a:bodyPr>
          <a:lstStyle>
            <a:defPPr algn="l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Before anything works in MQTT, we need a broker. Think of the broker as the central hub that all devices connect to. Without it, nothing communicates.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58806-35EF-945D-BB26-8C0A33B92B31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7543800" cy="7278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 algn="l"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sudo apt update</a:t>
            </a:r>
          </a:p>
          <a:p>
            <a:pPr mar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sudo apt install -y mosquitto mosquitto-clients python3-pip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4482C-A301-90EA-684D-C365899253D5}"/>
              </a:ext>
            </a:extLst>
          </p:cNvPr>
          <p:cNvSpPr>
            <a:spLocks noGrp="1"/>
          </p:cNvSpPr>
          <p:nvPr/>
        </p:nvSpPr>
        <p:spPr>
          <a:xfrm>
            <a:off x="914400" y="4381500"/>
            <a:ext cx="7543800" cy="4096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 algn="l"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python3 -m pip install --break-system-packages paho-mqtt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EB50A-E832-C2E5-A53F-4747949EF391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7543800" cy="10460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 algn="l"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sudo systemctl enable mosquitto</a:t>
            </a:r>
          </a:p>
          <a:p>
            <a:pPr mar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sudo systemctl start mosquitto</a:t>
            </a:r>
          </a:p>
          <a:p>
            <a:pPr mar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sudo systemctl status mosquitto</a:t>
            </a:r>
          </a:p>
        </p:txBody>
      </p:sp>
      <p:sp>
        <p:nvSpPr>
          <p:cNvPr id="10" name="Setup section label">
            <a:extLst>
              <a:ext uri="{FF2B5EF4-FFF2-40B4-BE49-F238E27FC236}">
                <a16:creationId xmlns:a16="http://schemas.microsoft.com/office/drawing/2014/main" id="{A38CEBC1-D3E1-4A61-B301-B48B8C59F6AB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7772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>
            <a:defPPr algn="l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Install the Mosquitto Client in your RPi: </a:t>
            </a:r>
          </a:p>
        </p:txBody>
      </p:sp>
      <p:sp>
        <p:nvSpPr>
          <p:cNvPr id="11" name="Setup section label">
            <a:extLst>
              <a:ext uri="{FF2B5EF4-FFF2-40B4-BE49-F238E27FC236}">
                <a16:creationId xmlns:a16="http://schemas.microsoft.com/office/drawing/2014/main" id="{4BB3AD2E-E033-4F79-9DDE-389A896BF995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7772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>
            <a:defPPr algn="l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Install the Python MQTT Library: </a:t>
            </a:r>
          </a:p>
        </p:txBody>
      </p:sp>
      <p:sp>
        <p:nvSpPr>
          <p:cNvPr id="12" name="Setup section label">
            <a:extLst>
              <a:ext uri="{FF2B5EF4-FFF2-40B4-BE49-F238E27FC236}">
                <a16:creationId xmlns:a16="http://schemas.microsoft.com/office/drawing/2014/main" id="{10159248-9B4D-4E93-BA73-E50C7154FC18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7772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>
            <a:defPPr algn="l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Enable and Start the Broker as BG Service</a:t>
            </a:r>
          </a:p>
        </p:txBody>
      </p:sp>
    </p:spTree>
    <p:extLst>
      <p:ext uri="{BB962C8B-B14F-4D97-AF65-F5344CB8AC3E}">
        <p14:creationId xmlns:p14="http://schemas.microsoft.com/office/powerpoint/2010/main" val="189177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FEE8-4380-445D-8FA3-4D367B73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the Broker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0FCA1-C829-449C-8C3F-B6D6C081F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Terminal 1:</a:t>
            </a:r>
          </a:p>
          <a:p>
            <a:r>
              <a:t>mosquitto_sub -t test/lab3</a:t>
            </a:r>
          </a:p>
          <a:p>
            <a:endParaRPr/>
          </a:p>
          <a:p>
            <a:r>
              <a:t>Terminal 2:</a:t>
            </a:r>
          </a:p>
          <a:p>
            <a:r>
              <a:t>mosquitto_pub -t test/lab3 -m 'hello'</a:t>
            </a:r>
          </a:p>
        </p:txBody>
      </p:sp>
    </p:spTree>
    <p:extLst>
      <p:ext uri="{BB962C8B-B14F-4D97-AF65-F5344CB8AC3E}">
        <p14:creationId xmlns:p14="http://schemas.microsoft.com/office/powerpoint/2010/main" val="1340633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4F7E-9687-4460-9D6C-9D5A2C8F7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Publish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0C057-DB4F-46CA-848D-E01D6D17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52600"/>
            <a:ext cx="7924800" cy="4229100"/>
          </a:xfrm>
        </p:spPr>
        <p:txBody>
          <a:bodyPr wrap="square" lIns="91440" tIns="45720" rIns="91440" bIns="45720" anchor="t">
            <a:noAutofit/>
          </a:bodyPr>
          <a:lstStyle>
            <a:defPPr algn="l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import paho.mqtt.client as mqtt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client = mqtt.Client()</a:t>
            </a: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client.connect('localhost',1883)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client.publish('metronome/group/cmd/set_bpm','{"bpm":120}', qos=1)</a:t>
            </a:r>
          </a:p>
        </p:txBody>
      </p:sp>
    </p:spTree>
    <p:extLst>
      <p:ext uri="{BB962C8B-B14F-4D97-AF65-F5344CB8AC3E}">
        <p14:creationId xmlns:p14="http://schemas.microsoft.com/office/powerpoint/2010/main" val="1925514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6A991-C1A1-4E2B-B711-A42B0BEA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Subscribe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16BC-22B9-460E-870B-6AB201BED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76400"/>
            <a:ext cx="7924800" cy="4457700"/>
          </a:xfrm>
        </p:spPr>
        <p:txBody>
          <a:bodyPr wrap="square" lIns="91440" tIns="45720" rIns="91440" bIns="45720" anchor="t">
            <a:noAutofit/>
          </a:bodyPr>
          <a:lstStyle>
            <a:defPPr algn="l"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def on_message(client, userdata, msg):</a:t>
            </a:r>
          </a:p>
          <a:p>
            <a:pPr marL="0" indent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print(msg.topic, msg.payload.decode())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2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client = mqtt.Client()</a:t>
            </a:r>
          </a:p>
          <a:p>
            <a:pPr marL="0" indent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client.on_message = on_message</a:t>
            </a:r>
          </a:p>
          <a:p>
            <a:pPr marL="0" indent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client.connect('localhost',1883)</a:t>
            </a:r>
          </a:p>
          <a:p>
            <a:pPr marL="0" indent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client.subscribe('metronome/group/state/#')</a:t>
            </a:r>
          </a:p>
          <a:p>
            <a:pPr marL="0" indent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  <a:defRPr sz="22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client.loop_forever()</a:t>
            </a:r>
          </a:p>
        </p:txBody>
      </p:sp>
    </p:spTree>
    <p:extLst>
      <p:ext uri="{BB962C8B-B14F-4D97-AF65-F5344CB8AC3E}">
        <p14:creationId xmlns:p14="http://schemas.microsoft.com/office/powerpoint/2010/main" val="911977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D6D7-8063-4AC4-ADF0-1F848F311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Integration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6A23F-AB5C-44BB-89BD-FAC54F44B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Lab 2 logic unchanged</a:t>
            </a:r>
          </a:p>
          <a:p>
            <a:r>
              <a:t>Replace REST with MQTT</a:t>
            </a:r>
          </a:p>
          <a:p>
            <a:r>
              <a:t>Sync local + remote changes</a:t>
            </a:r>
          </a:p>
        </p:txBody>
      </p:sp>
    </p:spTree>
    <p:extLst>
      <p:ext uri="{BB962C8B-B14F-4D97-AF65-F5344CB8AC3E}">
        <p14:creationId xmlns:p14="http://schemas.microsoft.com/office/powerpoint/2010/main" val="925195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709F-5C4D-476E-BFA4-AF78C71C5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Handling (Pseudo-code)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5F472-B7ED-496B-85C8-94643C72E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52600"/>
            <a:ext cx="7924800" cy="4229100"/>
          </a:xfrm>
        </p:spPr>
        <p:txBody>
          <a:bodyPr wrap="square" lIns="91440" tIns="45720" rIns="91440" bIns="45720" anchor="t">
            <a:noAutofit/>
          </a:bodyPr>
          <a:lstStyle>
            <a:defPPr algn="l"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topic == 'set_bpm':</a:t>
            </a: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bpm = payload['bpm']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25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topic == 'set_mode':</a:t>
            </a:r>
          </a:p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mode = payload['mode']</a:t>
            </a:r>
          </a:p>
        </p:txBody>
      </p:sp>
    </p:spTree>
    <p:extLst>
      <p:ext uri="{BB962C8B-B14F-4D97-AF65-F5344CB8AC3E}">
        <p14:creationId xmlns:p14="http://schemas.microsoft.com/office/powerpoint/2010/main" val="52889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B17-680D-47F1-ABC1-1E5F9116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Publishing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502FD-4147-4A2C-AE99-CC2F8898D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client.publish('state/bpm', json_data, retain=True)</a:t>
            </a:r>
          </a:p>
          <a:p>
            <a:r>
              <a:t>Publish after any change</a:t>
            </a:r>
          </a:p>
          <a:p>
            <a:r>
              <a:t>Keep monitor updated</a:t>
            </a:r>
          </a:p>
        </p:txBody>
      </p:sp>
    </p:spTree>
    <p:extLst>
      <p:ext uri="{BB962C8B-B14F-4D97-AF65-F5344CB8AC3E}">
        <p14:creationId xmlns:p14="http://schemas.microsoft.com/office/powerpoint/2010/main" val="376400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B2EC2-47F7-436A-9214-A19807A6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Retained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722E1-4F61-4828-9E2C-0A16A470A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Ensure new subscribers get latest state</a:t>
            </a:r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 err="1"/>
              <a:t>client.publish</a:t>
            </a:r>
            <a:r>
              <a:rPr dirty="0"/>
              <a:t>(topic, payload, retain=True)</a:t>
            </a:r>
          </a:p>
        </p:txBody>
      </p:sp>
    </p:spTree>
    <p:extLst>
      <p:ext uri="{BB962C8B-B14F-4D97-AF65-F5344CB8AC3E}">
        <p14:creationId xmlns:p14="http://schemas.microsoft.com/office/powerpoint/2010/main" val="440805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1E13-EEA2-492B-9423-5E81AE1E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of Service (QoS)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22B21-9316-4F61-91B5-561008413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QoS 0: Best effort</a:t>
            </a:r>
          </a:p>
          <a:p>
            <a:r>
              <a:rPr b="1" dirty="0"/>
              <a:t>QoS 1: At least once (USE THIS)</a:t>
            </a:r>
          </a:p>
          <a:p>
            <a:r>
              <a:rPr dirty="0"/>
              <a:t>QoS 2: Exactly once (rare)</a:t>
            </a:r>
          </a:p>
        </p:txBody>
      </p:sp>
    </p:spTree>
    <p:extLst>
      <p:ext uri="{BB962C8B-B14F-4D97-AF65-F5344CB8AC3E}">
        <p14:creationId xmlns:p14="http://schemas.microsoft.com/office/powerpoint/2010/main" val="426531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7F77-0099-4E9D-9EFB-5834AFAA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Will &amp; Testament (LWT)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5A585-7D9D-4D06-A486-5E55EF894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81200"/>
          </a:xfrm>
        </p:spPr>
        <p:txBody>
          <a:bodyPr wrap="square" lIns="91440" tIns="45720" rIns="91440" bIns="45720" anchor="t">
            <a:noAutofit/>
          </a:bodyPr>
          <a:lstStyle>
            <a:defPPr algn="l"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342900" indent="-342900" algn="l">
              <a:spcAft>
                <a:spcPts val="800"/>
              </a:spcAft>
              <a:buChar char="•"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client.will_set('status','offline')</a:t>
            </a:r>
          </a:p>
          <a:p>
            <a:pPr marL="342900" indent="-342900" algn="l">
              <a:spcAft>
                <a:spcPts val="800"/>
              </a:spcAft>
              <a:buChar char="•"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Publish 'online' on connect</a:t>
            </a:r>
          </a:p>
          <a:p>
            <a:pPr marL="342900" indent="-342900" algn="l">
              <a:spcAft>
                <a:spcPts val="800"/>
              </a:spcAft>
              <a:buChar char="•"/>
              <a:defRPr sz="2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When Broker detects crash, it Publishes the LWT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C0147-93A8-150E-A931-BA5104D5E1CE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6096000" cy="23957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lIns="91440" tIns="45720" rIns="91440" bIns="45720" anchor="t">
            <a:noAutofit/>
          </a:bodyPr>
          <a:lstStyle>
            <a:defPPr algn="l"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client.will_set(</a:t>
            </a: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"metronome/group12/status",</a:t>
            </a: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'{"status": "offline"}',</a:t>
            </a: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qos=1,</a:t>
            </a: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  retain=True</a:t>
            </a:r>
          </a:p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5379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5FE5B-945B-4F71-9B19-78B34EA5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</a:t>
            </a:r>
            <a:r>
              <a:rPr dirty="0"/>
              <a:t>Monitor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67C31-1676-4DFB-A22A-D6617035A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Subscribe to:</a:t>
            </a:r>
          </a:p>
          <a:p>
            <a:r>
              <a:t>state/#</a:t>
            </a:r>
          </a:p>
          <a:p>
            <a:r>
              <a:t>event/#</a:t>
            </a:r>
          </a:p>
          <a:p>
            <a:r>
              <a:t>status</a:t>
            </a:r>
          </a:p>
          <a:p>
            <a:r>
              <a:t>Display clearly</a:t>
            </a:r>
          </a:p>
        </p:txBody>
      </p:sp>
    </p:spTree>
    <p:extLst>
      <p:ext uri="{BB962C8B-B14F-4D97-AF65-F5344CB8AC3E}">
        <p14:creationId xmlns:p14="http://schemas.microsoft.com/office/powerpoint/2010/main" val="856160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1CFC7-C453-4CD4-B791-94A84D6C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Controller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5AB6B-4478-4CBA-AF5A-60CAB4BA9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Send commands:</a:t>
            </a:r>
          </a:p>
          <a:p>
            <a:pPr lvl="1"/>
            <a:r>
              <a:rPr dirty="0" err="1"/>
              <a:t>set_bpm</a:t>
            </a:r>
            <a:endParaRPr dirty="0"/>
          </a:p>
          <a:p>
            <a:pPr lvl="1"/>
            <a:r>
              <a:rPr dirty="0" err="1"/>
              <a:t>set_mode</a:t>
            </a:r>
            <a:endParaRPr dirty="0"/>
          </a:p>
          <a:p>
            <a:pPr lvl="1"/>
            <a:r>
              <a:rPr dirty="0" err="1"/>
              <a:t>reset_min</a:t>
            </a:r>
            <a:r>
              <a:rPr dirty="0"/>
              <a:t>/max</a:t>
            </a:r>
          </a:p>
        </p:txBody>
      </p:sp>
    </p:spTree>
    <p:extLst>
      <p:ext uri="{BB962C8B-B14F-4D97-AF65-F5344CB8AC3E}">
        <p14:creationId xmlns:p14="http://schemas.microsoft.com/office/powerpoint/2010/main" val="606424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035F-F2FD-48C8-BAAA-0A4571BC3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19D76-9DDB-434B-B346-62FC9B969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</a:t>
            </a:r>
            <a:r>
              <a:rPr dirty="0" err="1"/>
              <a:t>mosquitto</a:t>
            </a:r>
            <a:r>
              <a:rPr dirty="0"/>
              <a:t> tools first</a:t>
            </a:r>
          </a:p>
          <a:p>
            <a:pPr lvl="1"/>
            <a:r>
              <a:rPr dirty="0"/>
              <a:t>Print all messages</a:t>
            </a:r>
          </a:p>
          <a:p>
            <a:pPr lvl="1"/>
            <a:r>
              <a:rPr dirty="0"/>
              <a:t>Check topic spelling</a:t>
            </a:r>
          </a:p>
          <a:p>
            <a:pPr lvl="1"/>
            <a:r>
              <a:rPr dirty="0"/>
              <a:t>Test incrementally</a:t>
            </a:r>
          </a:p>
        </p:txBody>
      </p:sp>
    </p:spTree>
    <p:extLst>
      <p:ext uri="{BB962C8B-B14F-4D97-AF65-F5344CB8AC3E}">
        <p14:creationId xmlns:p14="http://schemas.microsoft.com/office/powerpoint/2010/main" val="814992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BB8F-80AF-4765-B446-C815B33C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7E035-78E4-4692-9BFC-3A74293A0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retained messages</a:t>
            </a:r>
          </a:p>
          <a:p>
            <a:r>
              <a:t>Wrong topics</a:t>
            </a:r>
          </a:p>
          <a:p>
            <a:r>
              <a:t>No QoS</a:t>
            </a:r>
          </a:p>
          <a:p>
            <a:r>
              <a:t>Device not syncing local/remote</a:t>
            </a:r>
          </a:p>
        </p:txBody>
      </p:sp>
    </p:spTree>
    <p:extLst>
      <p:ext uri="{BB962C8B-B14F-4D97-AF65-F5344CB8AC3E}">
        <p14:creationId xmlns:p14="http://schemas.microsoft.com/office/powerpoint/2010/main" val="1841275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E49A-974C-484C-BA8C-231B0E6A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Recommended Workflow </a:t>
            </a:r>
            <a:br/>
            <a:r>
              <a:t>(and Order of 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26807-7165-4559-B66C-36BDA3821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Verify Lab 2</a:t>
            </a:r>
          </a:p>
          <a:p>
            <a:r>
              <a:t>2. Test broker</a:t>
            </a:r>
          </a:p>
          <a:p>
            <a:r>
              <a:t>3. Build monitor</a:t>
            </a:r>
          </a:p>
          <a:p>
            <a:r>
              <a:t>4. Build controller</a:t>
            </a:r>
          </a:p>
          <a:p>
            <a:r>
              <a:t>5. Integrate device</a:t>
            </a:r>
          </a:p>
        </p:txBody>
      </p:sp>
    </p:spTree>
    <p:extLst>
      <p:ext uri="{BB962C8B-B14F-4D97-AF65-F5344CB8AC3E}">
        <p14:creationId xmlns:p14="http://schemas.microsoft.com/office/powerpoint/2010/main" val="787194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A97F-D41B-47E8-9C04-7E32A326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9B6D6-44F9-499F-ABA7-D52FFF531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>
            <a:noAutofit/>
          </a:bodyPr>
          <a:lstStyle>
            <a:defPPr algn="l"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342900" indent="-342900" algn="l">
              <a:spcAft>
                <a:spcPts val="800"/>
              </a:spcAft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device/</a:t>
            </a:r>
          </a:p>
          <a:p>
            <a:pPr marL="342900" indent="-342900" algn="l">
              <a:spcAft>
                <a:spcPts val="800"/>
              </a:spcAft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remote/</a:t>
            </a:r>
          </a:p>
          <a:p>
            <a:pPr marL="342900" indent="-342900" algn="l">
              <a:spcAft>
                <a:spcPts val="800"/>
              </a:spcAft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README.md</a:t>
            </a:r>
          </a:p>
          <a:p>
            <a:pPr marL="342900" indent="-342900" algn="l">
              <a:spcAft>
                <a:spcPts val="800"/>
              </a:spcAft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report.pdf</a:t>
            </a:r>
          </a:p>
          <a:p>
            <a:pPr marL="342900" indent="-342900" algn="l">
              <a:spcAft>
                <a:spcPts val="800"/>
              </a:spcAft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YouTube demo link in report.pdf</a:t>
            </a:r>
          </a:p>
        </p:txBody>
      </p:sp>
    </p:spTree>
    <p:extLst>
      <p:ext uri="{BB962C8B-B14F-4D97-AF65-F5344CB8AC3E}">
        <p14:creationId xmlns:p14="http://schemas.microsoft.com/office/powerpoint/2010/main" val="2144932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mo Video title">
            <a:extLst>
              <a:ext uri="{FF2B5EF4-FFF2-40B4-BE49-F238E27FC236}">
                <a16:creationId xmlns:a16="http://schemas.microsoft.com/office/drawing/2014/main" id="{D450303C-7C56-4CFF-9A7D-F4C773B10F97}"/>
              </a:ext>
            </a:extLst>
          </p:cNvPr>
          <p:cNvSpPr>
            <a:spLocks noGrp="1"/>
          </p:cNvSpPr>
          <p:nvPr/>
        </p:nvSpPr>
        <p:spPr>
          <a:xfrm>
            <a:off x="457200" y="274606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>
            <a:noAutofit/>
          </a:bodyPr>
          <a:lstStyle>
            <a:defPPr algn="ctr">
              <a:defRPr sz="4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4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4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4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4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4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4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4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4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4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4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4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 Video</a:t>
            </a:r>
          </a:p>
        </p:txBody>
      </p:sp>
      <p:sp>
        <p:nvSpPr>
          <p:cNvPr id="2" name="Demo Video guidance">
            <a:extLst>
              <a:ext uri="{FF2B5EF4-FFF2-40B4-BE49-F238E27FC236}">
                <a16:creationId xmlns:a16="http://schemas.microsoft.com/office/drawing/2014/main" id="{AAE55DBD-74A6-4127-94F3-9AC5D2097801}"/>
              </a:ext>
            </a:extLst>
          </p:cNvPr>
          <p:cNvSpPr>
            <a:spLocks noGrp="1"/>
          </p:cNvSpPr>
          <p:nvPr/>
        </p:nvSpPr>
        <p:spPr>
          <a:xfrm>
            <a:off x="457200" y="1600200"/>
            <a:ext cx="822960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noAutofit/>
          </a:bodyPr>
          <a:lstStyle>
            <a:defPPr algn="l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  <a:lvl1pPr algn="l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342900" indent="-342900" algn="l">
              <a:spcAft>
                <a:spcPts val="1200"/>
              </a:spcAft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Upload your demo video to YouTube; include the link in report.pdf.</a:t>
            </a:r>
          </a:p>
          <a:p>
            <a:pPr marL="342900" indent="-342900" algn="l">
              <a:spcAft>
                <a:spcPts val="1200"/>
              </a:spcAft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Begin with your group name, member names, and hardware/software setup.</a:t>
            </a:r>
          </a:p>
          <a:p>
            <a:pPr marL="342900" indent="-342900" algn="l">
              <a:spcAft>
                <a:spcPts val="1200"/>
              </a:spcAft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Show MQTT communication between the device and remote clients, with the resulting system behavior.</a:t>
            </a:r>
          </a:p>
          <a:p>
            <a:pPr marL="342900" indent="-342900" algn="l">
              <a:spcAft>
                <a:spcPts val="1200"/>
              </a:spcAft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Choose your own demo scenario, order, presentation style, and video length.</a:t>
            </a:r>
          </a:p>
          <a:p>
            <a:pPr marL="342900" indent="-342900" algn="l">
              <a:spcAft>
                <a:spcPts val="1200"/>
              </a:spcAft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t>The existing rubric applies; video production quality is not graded.</a:t>
            </a:r>
          </a:p>
        </p:txBody>
      </p:sp>
    </p:spTree>
    <p:extLst>
      <p:ext uri="{BB962C8B-B14F-4D97-AF65-F5344CB8AC3E}">
        <p14:creationId xmlns:p14="http://schemas.microsoft.com/office/powerpoint/2010/main" val="166018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816</Words>
  <Application>Microsoft Macintosh PowerPoint</Application>
  <DocSecurity>0</DocSecurity>
  <PresentationFormat>On-screen Show (4:3)</PresentationFormat>
  <Paragraphs>151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Lab 3: MQTT Metronome </vt:lpstr>
      <vt:lpstr>Why This Lab Matters</vt:lpstr>
      <vt:lpstr>REST vs MQTT</vt:lpstr>
      <vt:lpstr>System Architecture</vt:lpstr>
      <vt:lpstr>Core MQTT Concepts</vt:lpstr>
      <vt:lpstr>Topic Space Design</vt:lpstr>
      <vt:lpstr>JSON Message Format</vt:lpstr>
      <vt:lpstr>Broker Setup (Mosquitto)</vt:lpstr>
      <vt:lpstr>Test the Broker</vt:lpstr>
      <vt:lpstr>Python Publish Example</vt:lpstr>
      <vt:lpstr>Python Subscribe Example</vt:lpstr>
      <vt:lpstr>Device Integration Strategy</vt:lpstr>
      <vt:lpstr>Command Handling (Pseudo-code)</vt:lpstr>
      <vt:lpstr>State Publishing Example</vt:lpstr>
      <vt:lpstr>Retained Messages</vt:lpstr>
      <vt:lpstr>Quality of Service (QoS)</vt:lpstr>
      <vt:lpstr>Last Will &amp; Testament (LWT)</vt:lpstr>
      <vt:lpstr>Dashboard Monitor Client</vt:lpstr>
      <vt:lpstr>Controller Client</vt:lpstr>
      <vt:lpstr>Debugging Tips</vt:lpstr>
      <vt:lpstr>Common Mistakes</vt:lpstr>
      <vt:lpstr>Recommended Workflow  (and Order of Work)</vt:lpstr>
      <vt:lpstr>Deliverables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Helal, Sumi</cp:lastModifiedBy>
  <cp:revision>2</cp:revision>
  <dcterms:created xsi:type="dcterms:W3CDTF">2026-10-21T12:51:27Z</dcterms:created>
  <dcterms:modified xsi:type="dcterms:W3CDTF">2026-10-22T15:11:12Z</dcterms:modified>
</cp:coreProperties>
</file>